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SM-U1-5　土壤強度｜觀念講義・拼圖一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真參數只有一組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水不承剪，所以抗剪強度只聽有效應力；φ</a:t>
            </a:r>
            <a:pPr indent="0" marL="0">
              <a:buNone/>
            </a:pPr>
            <a:r>
              <a:rPr lang="en-US" sz="2000" baseline="-400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20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、φ</a:t>
            </a:r>
            <a:pPr indent="0" marL="0">
              <a:buNone/>
            </a:pPr>
            <a:r>
              <a:rPr lang="en-US" sz="2000" baseline="-400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pPr indent="0" marL="0">
              <a:buNone/>
            </a:pPr>
            <a:r>
              <a:rPr lang="en-US" sz="20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是試驗條件的產物，(c′, φ′) 才是土的性質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97764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243044"/>
          </a:solidFill>
          <a:ln w="25400">
            <a:solidFill>
              <a:srgbClr val="F08A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39776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8A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機制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3977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有效應力控制一切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9120" y="397764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243044"/>
          </a:solidFill>
          <a:ln w="25400">
            <a:solidFill>
              <a:srgbClr val="8FA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39776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A8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路徑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349240" y="3977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</a:t>
            </a:r>
            <a:pPr indent="0" marL="0">
              <a:buNone/>
            </a:pPr>
            <a:r>
              <a:rPr lang="en-US" sz="1600" b="1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線與 φ</a:t>
            </a:r>
            <a:pPr indent="0" marL="0">
              <a:buNone/>
            </a:pPr>
            <a:r>
              <a:rPr lang="en-US" sz="1600" b="1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的真面目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46720" y="397764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243044"/>
          </a:solidFill>
          <a:ln w="25400">
            <a:solidFill>
              <a:srgbClr val="7CC4A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39776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C4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解題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006840" y="3977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三條破壞式＋相減法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760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兩個示範案例貫穿全篇：黏土 A（NC，φ′ = 30°，p′</a:t>
            </a:r>
            <a:pPr indent="0" marL="0">
              <a:buNone/>
            </a:pPr>
            <a:r>
              <a:rPr lang="en-US" sz="1400" baseline="-400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100 kPa，A</a:t>
            </a:r>
            <a:pPr indent="0" marL="0">
              <a:buNone/>
            </a:pPr>
            <a:r>
              <a:rPr lang="en-US" sz="1400" baseline="-400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0.75）、黏土 B（OC，兩組 CD 試驗）；圖上數字全部可對帳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OVERVIEW · 一句話講完拼圖一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同一塊土做四種試驗，得到四個角度——扣掉孔隙水壓後只剩一組</a:t>
            </a:r>
            <a:endParaRPr lang="en-US" sz="2600" dirty="0"/>
          </a:p>
        </p:txBody>
      </p:sp>
      <p:pic>
        <p:nvPicPr>
          <p:cNvPr id="4" name="Image 0" descr="fig01_map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1092" y="1280160"/>
            <a:ext cx="10739336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57784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65099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為什麼這件事重要？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考卷會同時給你 φ</a:t>
            </a:r>
            <a:pPr indent="0" marL="0">
              <a:spcAft>
                <a:spcPts val="3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、u</a:t>
            </a:r>
            <a:pPr indent="0" marL="0">
              <a:spcAft>
                <a:spcPts val="3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、Δσ</a:t>
            </a:r>
            <a:pPr indent="0" marL="0">
              <a:spcAft>
                <a:spcPts val="3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，陷阱就在「拿錯角度去算」：破壞面、長期穩定、K</a:t>
            </a:r>
            <a:pPr indent="0" marL="0">
              <a:spcAft>
                <a:spcPts val="3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換算，一律要回到 φ′。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機制 ① · 微觀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剪力只能靠顆粒接觸點的摩擦傳遞，水一點也幫不上忙</a:t>
            </a:r>
            <a:endParaRPr lang="en-US" sz="2600" dirty="0"/>
          </a:p>
        </p:txBody>
      </p:sp>
      <p:pic>
        <p:nvPicPr>
          <p:cNvPr id="4" name="Image 0" descr="fig02_micro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62456" y="1234440"/>
            <a:ext cx="9436608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303520"/>
            <a:ext cx="5440680" cy="1143000"/>
          </a:xfrm>
          <a:prstGeom prst="roundRect">
            <a:avLst>
              <a:gd name="adj" fmla="val 96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394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有效應力原理</a:t>
            </a:r>
            <a:endParaRPr lang="en-US" sz="1300" dirty="0"/>
          </a:p>
        </p:txBody>
      </p:sp>
      <p:pic>
        <p:nvPicPr>
          <p:cNvPr id="7" name="Image 1" descr="m_eff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5865876"/>
            <a:ext cx="1011966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017520" y="5715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 是各向同性的壓力，只把顆粒「撐開」，不提供摩擦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172200" y="5303520"/>
            <a:ext cx="5440680" cy="1143000"/>
          </a:xfrm>
          <a:prstGeom prst="roundRect">
            <a:avLst>
              <a:gd name="adj" fmla="val 9600"/>
            </a:avLst>
          </a:prstGeom>
          <a:solidFill>
            <a:srgbClr val="FDEDE8"/>
          </a:solidFill>
          <a:ln w="12700">
            <a:solidFill>
              <a:srgbClr val="F2B8A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00800" y="5394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唯一的真破壞準則</a:t>
            </a:r>
            <a:endParaRPr lang="en-US" sz="1300" dirty="0"/>
          </a:p>
        </p:txBody>
      </p:sp>
      <p:pic>
        <p:nvPicPr>
          <p:cNvPr id="11" name="Image 2" descr="m_mc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0800" y="5847451"/>
            <a:ext cx="1666768" cy="32031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961120" y="5715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c′、φ′ 由骨架決定，與怎麼試驗無關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機制 ② · 巨觀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示範黏土 A：一條實線是土的性質，兩條虛線是試驗的產物</a:t>
            </a:r>
            <a:endParaRPr lang="en-US" sz="2600" dirty="0"/>
          </a:p>
        </p:txBody>
      </p:sp>
      <p:pic>
        <p:nvPicPr>
          <p:cNvPr id="4" name="Image 0" descr="fig03_envelope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9145" y="1234440"/>
            <a:ext cx="10023231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669280"/>
            <a:ext cx="3566160" cy="822960"/>
          </a:xfrm>
          <a:prstGeom prst="roundRect">
            <a:avLst>
              <a:gd name="adj" fmla="val 13333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715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CD：σ′</a:t>
            </a:r>
            <a:pPr indent="0" marL="0">
              <a:buNone/>
            </a:pPr>
            <a:r>
              <a:rPr lang="en-US" sz="1300" b="1" baseline="-4000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不變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943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σ′</a:t>
            </a:r>
            <a:pPr indent="0" marL="0">
              <a:buNone/>
            </a:pPr>
            <a:r>
              <a:rPr lang="en-US" sz="13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3 × 100 = 300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1996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圓切在 φ′ = 30° 上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5669280"/>
            <a:ext cx="3566160" cy="822960"/>
          </a:xfrm>
          <a:prstGeom prst="roundRect">
            <a:avLst>
              <a:gd name="adj" fmla="val 13333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80560" y="5715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CU：u</a:t>
            </a:r>
            <a:pPr indent="0" marL="0">
              <a:buNone/>
            </a:pPr>
            <a:r>
              <a:rPr lang="en-US" sz="13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buNone/>
            </a:pPr>
            <a:r>
              <a:rPr lang="en-US" sz="13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讓圓左移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480560" y="5943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總應力 100～180 → 有效 40～120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61996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總應力連線只有 16.6°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46720" y="5669280"/>
            <a:ext cx="3566160" cy="822960"/>
          </a:xfrm>
          <a:prstGeom prst="roundRect">
            <a:avLst>
              <a:gd name="adj" fmla="val 13333"/>
            </a:avLst>
          </a:prstGeom>
          <a:solidFill>
            <a:srgbClr val="F1F3F6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0" y="5715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5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UU：圓一樣大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5943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13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Δσ</a:t>
            </a:r>
            <a:pPr indent="0" marL="0">
              <a:buNone/>
            </a:pPr>
            <a:r>
              <a:rPr lang="en-US" sz="13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/ 2 = 40 kPa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0" y="61996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換圍壓只是 u 等量上升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機制 ③ · 孔隙水壓的角色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 只會把莫爾圓左右平移，永遠不會改變圓的大小</a:t>
            </a:r>
            <a:endParaRPr lang="en-US" sz="2600" dirty="0"/>
          </a:p>
        </p:txBody>
      </p:sp>
      <p:pic>
        <p:nvPicPr>
          <p:cNvPr id="4" name="Image 0" descr="fig04_shift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62456" y="1234440"/>
            <a:ext cx="9436608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303520"/>
            <a:ext cx="3840480" cy="1143000"/>
          </a:xfrm>
          <a:prstGeom prst="roundRect">
            <a:avLst>
              <a:gd name="adj" fmla="val 96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3766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Skempton 孔壓式（飽和 B = 1）</a:t>
            </a:r>
            <a:endParaRPr lang="en-US" sz="1300" dirty="0"/>
          </a:p>
        </p:txBody>
      </p:sp>
      <p:pic>
        <p:nvPicPr>
          <p:cNvPr id="7" name="Image 1" descr="m_skp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868162"/>
            <a:ext cx="2466594" cy="24231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26280" y="5303520"/>
            <a:ext cx="3474720" cy="1143000"/>
          </a:xfrm>
          <a:prstGeom prst="roundRect">
            <a:avLst>
              <a:gd name="adj" fmla="val 9600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709160" y="5376672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AC：σ</a:t>
            </a:r>
            <a:pPr indent="0" marL="0">
              <a:spcAft>
                <a:spcPts val="200"/>
              </a:spcAft>
              <a:buNone/>
            </a:pPr>
            <a:r>
              <a:rPr lang="en-US" sz="14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固定、σ</a:t>
            </a:r>
            <a:pPr indent="0" marL="0">
              <a:spcAft>
                <a:spcPts val="200"/>
              </a:spcAft>
              <a:buNone/>
            </a:pPr>
            <a:r>
              <a:rPr lang="en-US" sz="14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加大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2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A</a:t>
            </a:r>
            <a:pPr indent="0" marL="0">
              <a:spcAft>
                <a:spcPts val="2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Δσ</a:t>
            </a:r>
            <a:pPr indent="0" marL="0">
              <a:spcAft>
                <a:spcPts val="2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0.75 × 80 = +60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正孔壓 → 圓往左推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8138160" y="5303520"/>
            <a:ext cx="3474720" cy="1143000"/>
          </a:xfrm>
          <a:prstGeom prst="roundRect">
            <a:avLst>
              <a:gd name="adj" fmla="val 9600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321040" y="5376672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LE：σ</a:t>
            </a:r>
            <a:pPr indent="0" marL="0">
              <a:spcAft>
                <a:spcPts val="200"/>
              </a:spcAft>
              <a:buNone/>
            </a:pPr>
            <a:r>
              <a:rPr lang="en-US" sz="1400" b="1" baseline="-4000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固定、σ</a:t>
            </a:r>
            <a:pPr indent="0" marL="0">
              <a:spcAft>
                <a:spcPts val="200"/>
              </a:spcAft>
              <a:buNone/>
            </a:pPr>
            <a:r>
              <a:rPr lang="en-US" sz="1400" b="1" baseline="-4000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減小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2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−(1 − A)Δσ</a:t>
            </a:r>
            <a:pPr indent="0" marL="0">
              <a:spcAft>
                <a:spcPts val="2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−0.25 × 80 = −20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負孔壓 → 圓往右拉（假設 A 相同）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路徑 ① · p–q 圖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CD、CU 走不同的路，終點卻停在同一條有效 K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線上</a:t>
            </a:r>
            <a:endParaRPr lang="en-US" sz="2600" dirty="0"/>
          </a:p>
        </p:txBody>
      </p:sp>
      <p:pic>
        <p:nvPicPr>
          <p:cNvPr id="4" name="Image 0" descr="fig05_path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9960" y="1234440"/>
            <a:ext cx="10261600" cy="4617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19355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8978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</a:t>
            </a:r>
            <a:pPr indent="0" marL="0">
              <a:buNone/>
            </a:pPr>
            <a:r>
              <a:rPr lang="en-US" sz="14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只是「總應力路徑終點」和原點的連線角度：終點隨 u</a:t>
            </a:r>
            <a:pPr indent="0" marL="0">
              <a:buNone/>
            </a:pPr>
            <a:r>
              <a:rPr lang="en-US" sz="14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左右移動，角度就跟著跳（AC 16.6°、LE 41.8°）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路徑 ② · 鐵證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同一塊土只改加載方式：φ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差了兩倍多，φ′ 一動也不動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7665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23774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示範黏土 A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CU 軸壓 AC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CU 側向伸張 LE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BC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加載方式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σ</a:t>
                      </a:r>
                      <a:pPr algn="ctr"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3</a:t>
                      </a:r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固定，σ</a:t>
                      </a:r>
                      <a:pPr algn="ctr"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</a:t>
                      </a:r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往上加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σ</a:t>
                      </a:r>
                      <a:pPr algn="ctr"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</a:t>
                      </a:r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固定，σ</a:t>
                      </a:r>
                      <a:pPr algn="ctr"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3</a:t>
                      </a:r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往下減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破壞時總應力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σ</a:t>
                      </a:r>
                      <a:pPr algn="ctr"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3</a:t>
                      </a:r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100、σ</a:t>
                      </a:r>
                      <a:pPr algn="ctr"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</a:t>
                      </a:r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180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σ</a:t>
                      </a:r>
                      <a:pPr algn="ctr"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3</a:t>
                      </a:r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20、σ</a:t>
                      </a:r>
                      <a:pPr algn="ctr"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</a:t>
                      </a:r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100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u</a:t>
                      </a:r>
                      <a:pPr algn="ctr" indent="0" marL="0">
                        <a:buNone/>
                      </a:pPr>
                      <a:r>
                        <a:rPr lang="en-US" sz="1400" b="1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f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+60 kPa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−20 kPa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破壞時有效應力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σ′</a:t>
                      </a:r>
                      <a:pPr algn="ctr"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3</a:t>
                      </a:r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40、σ′</a:t>
                      </a:r>
                      <a:pPr algn="ctr"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</a:t>
                      </a:r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120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σ′</a:t>
                      </a:r>
                      <a:pPr algn="ctr"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3</a:t>
                      </a:r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40、σ′</a:t>
                      </a:r>
                      <a:pPr algn="ctr"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</a:t>
                      </a:r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120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φ</a:t>
                      </a:r>
                      <a:pPr algn="ctr" indent="0" marL="0">
                        <a:buNone/>
                      </a:pPr>
                      <a:r>
                        <a:rPr lang="en-US" sz="1400" b="1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cu</a:t>
                      </a:r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（總應力）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16.6°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6D4BC2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41.8°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φ′（有效應力）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E4572E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30.0°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E4572E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30.0°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371600"/>
            <a:ext cx="4023360" cy="3611880"/>
          </a:xfrm>
          <a:prstGeom prst="roundRect">
            <a:avLst>
              <a:gd name="adj" fmla="val 3038"/>
            </a:avLst>
          </a:prstGeom>
          <a:solidFill>
            <a:srgbClr val="FBF3E4"/>
          </a:solidFill>
          <a:ln w="12700">
            <a:solidFill>
              <a:srgbClr val="E3C4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18120" y="1508760"/>
            <a:ext cx="3611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考古題對照：SM-2013-3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同一土樣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AC 試驗：φ</a:t>
            </a:r>
            <a:pPr indent="0" marL="0">
              <a:spcAft>
                <a:spcPts val="600"/>
              </a:spcAft>
              <a:buNone/>
            </a:pPr>
            <a:r>
              <a:rPr lang="en-US" sz="16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19.23°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LE 試驗：φ</a:t>
            </a:r>
            <a:pPr indent="0" marL="0">
              <a:spcAft>
                <a:spcPts val="600"/>
              </a:spcAft>
              <a:buNone/>
            </a:pPr>
            <a:r>
              <a:rPr lang="en-US" sz="1600" b="1" baseline="-4000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31.59°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兩者的 φ′ = 28.04°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數字不同、結構完全一樣：總應力角度跟著路徑跑，有效角度不變。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521208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53035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為什麼兩條路回到同一個有效圓？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AC 把總應力圓往右推、正孔壓把它拉回來；LE 把總應力圓往左推、負孔壓把它拉回來。骨架「感受到」的永遠是 40～120 kPa 這個圓。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本頁示範數字假設兩種試驗的 A</a:t>
            </a:r>
            <a:pPr indent="0" marL="0">
              <a:spcAft>
                <a:spcPts val="300"/>
              </a:spcAft>
              <a:buNone/>
            </a:pPr>
            <a:r>
              <a:rPr lang="en-US" sz="12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相同；實際 A</a:t>
            </a:r>
            <a:pPr indent="0" marL="0">
              <a:spcAft>
                <a:spcPts val="300"/>
              </a:spcAft>
              <a:buNone/>
            </a:pPr>
            <a:r>
              <a:rPr lang="en-US" sz="12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會隨路徑略變，但「φ′ 不變」的結論不受影響。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路徑 ③ · K</a:t>
            </a:r>
            <a:pPr indent="0" marL="0">
              <a:buNone/>
            </a:pPr>
            <a:r>
              <a:rPr lang="en-US" sz="1200" b="1" baseline="-40000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線換算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線過圓頂、M–C 線切圓邊：斜率和截距都要換算</a:t>
            </a:r>
            <a:endParaRPr lang="en-US" sz="2600" dirty="0"/>
          </a:p>
        </p:txBody>
      </p:sp>
      <p:pic>
        <p:nvPicPr>
          <p:cNvPr id="4" name="Image 0" descr="fig06_kf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9458" y="1234440"/>
            <a:ext cx="10622604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8640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pic>
        <p:nvPicPr>
          <p:cNvPr id="6" name="Image 1" descr="m_kf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5847588"/>
            <a:ext cx="2372868" cy="237744"/>
          </a:xfrm>
          <a:prstGeom prst="rect">
            <a:avLst/>
          </a:prstGeom>
        </p:spPr>
      </p:pic>
      <p:pic>
        <p:nvPicPr>
          <p:cNvPr id="7" name="Image 2" descr="m_qf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77840" y="5837301"/>
            <a:ext cx="1837944" cy="25831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144000" y="55778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NC 時 c′ = 0 直接退化；考題常給 K</a:t>
            </a:r>
            <a:pPr indent="0" marL="0">
              <a:buNone/>
            </a:pPr>
            <a:r>
              <a:rPr lang="en-US" sz="12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buNone/>
            </a:pPr>
            <a:r>
              <a:rPr lang="en-US" sz="12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線要你反推 c′、φ′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機制 ④ · 砂土的補充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密砂的尖峰是「咬合」多出來的強度，大變形後一律回到 φ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cv</a:t>
            </a:r>
            <a:endParaRPr lang="en-US" sz="2600" dirty="0"/>
          </a:p>
        </p:txBody>
      </p:sp>
      <p:pic>
        <p:nvPicPr>
          <p:cNvPr id="4" name="Image 0" descr="fig07_sand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1288" y="1234440"/>
            <a:ext cx="10038945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25780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FBECEA"/>
          </a:solidFill>
          <a:ln w="12700">
            <a:solidFill>
              <a:srgbClr val="E6B0A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330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尖峰來自咬合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6235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密砂要剪動就得讓顆粒互相「翻越」，額外的功表現成 φ</a:t>
            </a:r>
            <a:pPr indent="0" marL="0">
              <a:buNone/>
            </a:pPr>
            <a:r>
              <a:rPr lang="en-US" sz="12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97680" y="525780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80560" y="5330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臨界狀態是共同終點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480560" y="56235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大變形時密砂鬆開、鬆砂壓實，孔隙比收斂到 e</a:t>
            </a:r>
            <a:pPr indent="0" marL="0">
              <a:buNone/>
            </a:pPr>
            <a:r>
              <a:rPr lang="en-US" sz="12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cv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，強度同為 φ</a:t>
            </a:r>
            <a:pPr indent="0" marL="0">
              <a:buNone/>
            </a:pPr>
            <a:r>
              <a:rPr lang="en-US" sz="12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cv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46720" y="525780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0" y="5330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與黏土的對應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56235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密砂 ≈ OC 黏土（剪脹、負孔壓）；鬆砂 ≈ NC 黏土（壓縮、正孔壓）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機制 ④ · 砂土的考點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同一種砂在不同密度量到不同 φ：材料常數是 φ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cv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BF3E4"/>
          </a:solidFill>
          <a:ln w="12700">
            <a:solidFill>
              <a:srgbClr val="E3C4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考試常問：為什麼同一種砂在不同相對密度下量到不同 φ？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答：φ</a:t>
            </a:r>
            <a:pPr indent="0" marL="0">
              <a:spcAft>
                <a:spcPts val="500"/>
              </a:spcAft>
              <a:buNone/>
            </a:pPr>
            <a:r>
              <a:rPr lang="en-US" sz="16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cv</a:t>
            </a:r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才是材料常數；φ</a:t>
            </a:r>
            <a:pPr indent="0" marL="0">
              <a:spcAft>
                <a:spcPts val="500"/>
              </a:spcAft>
              <a:buNone/>
            </a:pPr>
            <a:r>
              <a:rPr lang="en-US" sz="16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φ</a:t>
            </a:r>
            <a:pPr indent="0" marL="0">
              <a:spcAft>
                <a:spcPts val="500"/>
              </a:spcAft>
              <a:buNone/>
            </a:pPr>
            <a:r>
              <a:rPr lang="en-US" sz="16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cv</a:t>
            </a:r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+ 剪脹貢獻，剪脹貢獻由相對密度與圍壓共同決定。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講義常簡寫為 φ</a:t>
            </a:r>
            <a:pPr indent="0" marL="0">
              <a:spcAft>
                <a:spcPts val="500"/>
              </a:spcAft>
              <a:buNone/>
            </a:pPr>
            <a:r>
              <a:rPr lang="en-US" sz="13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φ</a:t>
            </a:r>
            <a:pPr indent="0" marL="0">
              <a:spcAft>
                <a:spcPts val="500"/>
              </a:spcAft>
              <a:buNone/>
            </a:pPr>
            <a:r>
              <a:rPr lang="en-US" sz="13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cv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+ ψ（ψ 為剪脹角）；Bolton 的經驗式在平面應變下取約 0.8ψ——作答時寫「剪脹貢獻」最安全。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200400"/>
            <a:ext cx="73152" cy="1463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密度越高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5760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咬合越緊 → 要翻越的高度越大 → 剪脹越明顯 → φ</a:t>
            </a:r>
            <a:pPr indent="0" marL="0"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越高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306324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3200400"/>
            <a:ext cx="73152" cy="1463040"/>
          </a:xfrm>
          <a:prstGeom prst="rect">
            <a:avLst/>
          </a:prstGeom>
          <a:solidFill>
            <a:srgbClr val="2F54C8"/>
          </a:solidFill>
          <a:ln w="12700">
            <a:solidFill>
              <a:srgbClr val="2F54C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圍壓越高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65760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顆粒被壓住、翻越受抑制 → 剪脹變小 → φ</a:t>
            </a:r>
            <a:pPr indent="0" marL="0"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往 φ</a:t>
            </a:r>
            <a:pPr indent="0" marL="0"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cv</a:t>
            </a:r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靠近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306324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3200400"/>
            <a:ext cx="73152" cy="1463040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設計取值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65760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長期或大變形問題（既有滑動面、擋土牆後的鬆動區）用 φ</a:t>
            </a:r>
            <a:pPr indent="0" marL="0"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cv</a:t>
            </a:r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較安全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5138928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和「真參數只有一組」怎麼連起來？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砂的 φ</a:t>
            </a:r>
            <a:pPr indent="0" marL="0">
              <a:spcAft>
                <a:spcPts val="4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看起來也「隨試驗變」，但變的是土的狀態（密度、圍壓），不是排水條件造成的總應力假象。狀態固定，有效應力參數仍只有一組；剪到臨界狀態時，連狀態的差別都消失，只剩 φ</a:t>
            </a:r>
            <a:pPr indent="0" marL="0">
              <a:spcAft>
                <a:spcPts val="4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cv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機制 ⑤ · 直剪試驗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快，但破壞面是你指定的：只能得到包絡線上的點</a:t>
            </a:r>
            <a:endParaRPr lang="en-US" sz="2600" dirty="0"/>
          </a:p>
        </p:txBody>
      </p:sp>
      <p:pic>
        <p:nvPicPr>
          <p:cNvPr id="4" name="Image 0" descr="fig08_direct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8660" y="1234440"/>
            <a:ext cx="1074420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62356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669280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示範砂：σ′</a:t>
            </a:r>
            <a:pPr indent="0" marL="0">
              <a:spcAft>
                <a:spcPts val="300"/>
              </a:spcAft>
              <a:buNone/>
            </a:pPr>
            <a:r>
              <a:rPr lang="en-US" sz="14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</a:t>
            </a:r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50、100、200 kPa → τ</a:t>
            </a:r>
            <a:pPr indent="0" marL="0">
              <a:spcAft>
                <a:spcPts val="300"/>
              </a:spcAft>
              <a:buNone/>
            </a:pPr>
            <a:r>
              <a:rPr lang="en-US" sz="14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31.2、62.5、125.0（φ</a:t>
            </a:r>
            <a:pPr indent="0" marL="0">
              <a:spcAft>
                <a:spcPts val="300"/>
              </a:spcAft>
              <a:buNone/>
            </a:pPr>
            <a:r>
              <a:rPr lang="en-US" sz="14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cv</a:t>
            </a:r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32°）；密砂尖峰 42.0、83.9、167.8（φ</a:t>
            </a:r>
            <a:pPr indent="0" marL="0">
              <a:spcAft>
                <a:spcPts val="300"/>
              </a:spcAft>
              <a:buNone/>
            </a:pPr>
            <a:r>
              <a:rPr lang="en-US" sz="14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40°）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直剪不能量孔壓，所以量到的一定要是排水強度（慢剪），才能直接當 c′、φ′ 用。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機制 ⑤ · 怎麼選試驗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直剪 vs 三軸：差在破壞面、排水與孔壓三件事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023360"/>
                <a:gridCol w="49377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比較項目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直剪試驗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三軸試驗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C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破壞面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強制水平面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自然弱面 θ = 45° + φ′/2（示範砂 61°）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排水控制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靠加載速率，難嚴格控制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閥門＋反壓，可精確控制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量測孔隙水壓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不能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可以（CU 的關鍵）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應力狀態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只知破壞面上的 σ</a:t>
                      </a:r>
                      <a:pPr algn="l"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n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、τ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σ</a:t>
                      </a:r>
                      <a:pPr algn="l"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、σ</a:t>
                      </a:r>
                      <a:pPr algn="l"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3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完整已知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莫爾圓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只得到包絡線上的一個點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每組都能畫出完整的圓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常見用途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砂土 φ′、殘餘強度 φ</a:t>
                      </a:r>
                      <a:pPr algn="l"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r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黏土 UU／CU／CD 全系列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754880"/>
            <a:ext cx="11064240" cy="1691640"/>
          </a:xfrm>
          <a:prstGeom prst="roundRect">
            <a:avLst>
              <a:gd name="adj" fmla="val 6486"/>
            </a:avLst>
          </a:prstGeom>
          <a:solidFill>
            <a:srgbClr val="1B2432"/>
          </a:solidFill>
          <a:ln w="12700">
            <a:solidFill>
              <a:srgbClr val="1B243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4846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三個容易被問倒的點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52303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破壞面不自由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55955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3D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結果偏向那個水平面的強度；土若有明顯異向性，φ′ 會偏高或偏低。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407408" y="52303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殘餘強度的利器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407408" y="555955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3D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反覆剪（reversal）可量到殘餘摩擦角 φ</a:t>
            </a:r>
            <a:pPr indent="0" marL="0">
              <a:buNone/>
            </a:pPr>
            <a:r>
              <a:rPr lang="en-US" sz="1200" baseline="-40000" dirty="0">
                <a:solidFill>
                  <a:srgbClr val="C9D3D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</a:t>
            </a:r>
            <a:pPr indent="0" marL="0">
              <a:buNone/>
            </a:pPr>
            <a:r>
              <a:rPr lang="en-US" sz="1200" dirty="0">
                <a:solidFill>
                  <a:srgbClr val="C9D3D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，是既有滑動面分析的必要參數。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037576" y="52303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不能做 UU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037576" y="555955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3D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無法封閉排水、也量不到 u；飽和黏土的不排水強度要靠三軸或現地試驗。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解題 ① · 幾何基礎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所有破壞條件式都來自同一個直角三角形</a:t>
            </a:r>
            <a:endParaRPr lang="en-US" sz="2600" dirty="0"/>
          </a:p>
        </p:txBody>
      </p:sp>
      <p:pic>
        <p:nvPicPr>
          <p:cNvPr id="4" name="Image 0" descr="fig09_geo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234440"/>
            <a:ext cx="1097280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62356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pic>
        <p:nvPicPr>
          <p:cNvPr id="6" name="Image 1" descr="m_cr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5822259"/>
            <a:ext cx="3166750" cy="42556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675120" y="56235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示範黏土 B 試驗 A：σ′</a:t>
            </a:r>
            <a:pPr indent="0" marL="0">
              <a:buNone/>
            </a:pPr>
            <a:r>
              <a:rPr lang="en-US" sz="1400" b="1" baseline="-4000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50、σ′</a:t>
            </a:r>
            <a:pPr indent="0" marL="0">
              <a:buNone/>
            </a:pPr>
            <a:r>
              <a:rPr lang="en-US" sz="1400" b="1" baseline="-4000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170 → C = 110、R = 60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解題 ② · 三條破壞條件式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同一件事的三種寫法：看題目給什麼，挑最短的那條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356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 萬能式（最常用）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給 σ′</a:t>
            </a:r>
            <a:pPr indent="0" marL="0">
              <a:buNone/>
            </a:pPr>
            <a:r>
              <a:rPr lang="en-US" sz="13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求 σ′</a:t>
            </a:r>
            <a:pPr indent="0" marL="0">
              <a:buNone/>
            </a:pPr>
            <a:r>
              <a:rPr lang="en-US" sz="13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、或兩組試驗聯立</a:t>
            </a:r>
            <a:endParaRPr lang="en-US" sz="1300" dirty="0"/>
          </a:p>
        </p:txBody>
      </p:sp>
      <p:pic>
        <p:nvPicPr>
          <p:cNvPr id="7" name="Image 0" descr="m_f1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800" y="1750024"/>
            <a:ext cx="2324405" cy="37700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092440" y="1435608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黏土 B：50 × 2.50 + 2 × 14.23 × 1.5811 = 170 ✓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8072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 幾何式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200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已知圓心 C、半徑 R 時最快</a:t>
            </a:r>
            <a:endParaRPr lang="en-US" sz="1300" dirty="0"/>
          </a:p>
        </p:txBody>
      </p:sp>
      <p:pic>
        <p:nvPicPr>
          <p:cNvPr id="12" name="Image 1" descr="m_f2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4800" y="3162727"/>
            <a:ext cx="2134484" cy="29480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92440" y="2807208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黏土 B：110 sin φ′ + 14.23 cos φ′ = 60.00 = R ✓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FDEDE8"/>
          </a:solidFill>
          <a:ln w="12700">
            <a:solidFill>
              <a:srgbClr val="F2B8A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77240" y="41788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 NC 專用（c′ = 0）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4572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包絡線過原點 → 直角三角形斜邊就是 C</a:t>
            </a:r>
            <a:endParaRPr lang="en-US" sz="1300" dirty="0"/>
          </a:p>
        </p:txBody>
      </p:sp>
      <p:pic>
        <p:nvPicPr>
          <p:cNvPr id="17" name="Image 2" descr="m_f3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14800" y="4396847"/>
            <a:ext cx="2123145" cy="56976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092440" y="4178808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黏土 A：sin φ′ = 40 / 80 = 0.5 → φ′ = 30° ✓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544068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77240" y="5513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被動土壓係數</a:t>
            </a:r>
            <a:endParaRPr lang="en-US" sz="1300" dirty="0"/>
          </a:p>
        </p:txBody>
      </p:sp>
      <p:pic>
        <p:nvPicPr>
          <p:cNvPr id="21" name="Image 3" descr="m_kp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7240" y="5864733"/>
            <a:ext cx="2656332" cy="46863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83680" y="55321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①式就是把「σ′</a:t>
            </a:r>
            <a:pPr indent="0" marL="0"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與 σ′</a:t>
            </a:r>
            <a:pPr indent="0" marL="0"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的比例」寫成 K</a:t>
            </a:r>
            <a:pPr indent="0" marL="0"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；③式是 ①式在 c′ = 0 時的特例。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解題 ③ · 考場選式流程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先換有效應力，再問兩個問題：c′ 是不是 0？有幾組試驗？</a:t>
            </a:r>
            <a:endParaRPr lang="en-US" sz="2600" dirty="0"/>
          </a:p>
        </p:txBody>
      </p:sp>
      <p:pic>
        <p:nvPicPr>
          <p:cNvPr id="4" name="Image 0" descr="fig10_flow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06830"/>
            <a:ext cx="11064240" cy="46101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所有路徑的起點都是「扣 u」：題目給的是總應力時，先算 σ′ = σ − u</a:t>
            </a:r>
            <a:pPr indent="0" marL="0">
              <a:buNone/>
            </a:pPr>
            <a:r>
              <a:rPr lang="en-US" sz="14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再進流程。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解題 ④ · 破壞面角度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黃金鐵律：θ = 45° + φ′/2，絕對不能代 φ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或 φ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endParaRPr lang="en-US" sz="2600" dirty="0"/>
          </a:p>
        </p:txBody>
      </p:sp>
      <p:pic>
        <p:nvPicPr>
          <p:cNvPr id="4" name="Image 0" descr="fig11_plan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234440"/>
            <a:ext cx="1097280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62356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BECEA"/>
          </a:solidFill>
          <a:ln w="12700">
            <a:solidFill>
              <a:srgbClr val="E6B0A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623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圓心到切點的連線與 σ′ 軸夾 2θ；示範黏土 A 若誤代 φ</a:t>
            </a:r>
            <a:pPr indent="0" marL="0">
              <a:buNone/>
            </a:pPr>
            <a:r>
              <a:rPr lang="en-US" sz="14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16.6°，會把 60° 的破壞面算成 53.3°。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解題 ⑤ · 技巧 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保留 K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、√K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當主線，不要先轉成角度再轉回來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3566160"/>
          </a:xfrm>
          <a:prstGeom prst="roundRect">
            <a:avLst>
              <a:gd name="adj" fmla="val 3077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50292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主線保留 K</a:t>
            </a:r>
            <a:pPr indent="0" marL="0">
              <a:spcAft>
                <a:spcPts val="800"/>
              </a:spcAft>
              <a:buNone/>
            </a:pPr>
            <a:r>
              <a:rPr lang="en-US" sz="1800" b="1" baseline="-4000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2.50，√K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1.5811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c′ = (170 − 50 × 2.50) / (2 × 1.5811) = 14.23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預測試驗 B：σ′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150 × 2.50 + 2 × 14.23 × 1.5811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420.0 kPa（與實測 420 完全吻合）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440680" cy="3566160"/>
          </a:xfrm>
          <a:prstGeom prst="roundRect">
            <a:avLst>
              <a:gd name="adj" fmla="val 3077"/>
            </a:avLst>
          </a:prstGeom>
          <a:solidFill>
            <a:srgbClr val="FBECEA"/>
          </a:solidFill>
          <a:ln w="12700">
            <a:solidFill>
              <a:srgbClr val="E6B0A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508760"/>
            <a:ext cx="50292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 先轉角度、四捨五入再轉回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φ′ = 25.38° → 取 25° → K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2.4639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c′ = (170 − 50 × 2.4639) / (2√K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) = 14.91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預測試驗 B：σ′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416.4 kPa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少了 3.6 kPa（0.9%），c′ 也偏了 4.8%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5120640"/>
            <a:ext cx="11064240" cy="1325880"/>
          </a:xfrm>
          <a:prstGeom prst="roundRect">
            <a:avLst>
              <a:gd name="adj" fmla="val 8276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52120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為什麼有效？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</a:t>
            </a:r>
            <a:pPr indent="0" marL="0">
              <a:spcAft>
                <a:spcPts val="4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是從試驗數據直接相除得到的「精確值」；轉成角度要經過反三角函數，再四捨五入一次，誤差就被 K</a:t>
            </a:r>
            <a:pPr indent="0" marL="0">
              <a:spcAft>
                <a:spcPts val="4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放大回來。題目最後才問 φ′ 時，再從 sin φ′ = (K</a:t>
            </a:r>
            <a:pPr indent="0" marL="0">
              <a:spcAft>
                <a:spcPts val="4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− 1)/(K</a:t>
            </a:r>
            <a:pPr indent="0" marL="0">
              <a:spcAft>
                <a:spcPts val="4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+ 1) 一次算出即可。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解題 ⑥ · 技巧 B：相減法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兩組試驗的 ①式直接相減，c′ 項整個消失，一步得到 K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endParaRPr lang="en-US" sz="2600" dirty="0"/>
          </a:p>
        </p:txBody>
      </p:sp>
      <p:pic>
        <p:nvPicPr>
          <p:cNvPr id="4" name="Image 0" descr="fig12_subtract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0070" y="1234440"/>
            <a:ext cx="1104138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5321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pic>
        <p:nvPicPr>
          <p:cNvPr id="6" name="Image 1" descr="m_sub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5736603"/>
            <a:ext cx="1410691" cy="50543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931920" y="55321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示範黏土 B：K</a:t>
            </a:r>
            <a:pPr indent="0" marL="0">
              <a:buNone/>
            </a:pPr>
            <a:r>
              <a:rPr lang="en-US" sz="1400" b="1" baseline="-4000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(420 − 170) / (150 − 50) = 2.50；破壞面 θ = 45° + 25.38°/2 = 57.7°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MISTAKES · 四大高頻陷阱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每一個都用示範土量化給你看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237744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2011680"/>
          </a:xfrm>
          <a:prstGeom prst="rect">
            <a:avLst/>
          </a:prstGeom>
          <a:solidFill>
            <a:srgbClr val="2F54C8"/>
          </a:solidFill>
          <a:ln w="12700">
            <a:solidFill>
              <a:srgbClr val="2F54C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陷阱 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Δσ</a:t>
            </a:r>
            <a:pPr indent="0" marL="0">
              <a:buNone/>
            </a:pPr>
            <a:r>
              <a:rPr lang="en-US" sz="22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buNone/>
            </a:pPr>
            <a:r>
              <a:rPr lang="en-US" sz="22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當成 σ</a:t>
            </a:r>
            <a:pPr indent="0" marL="0">
              <a:buNone/>
            </a:pPr>
            <a:r>
              <a:rPr lang="en-US" sz="22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6888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示範黏土 A 的 CU：Δσ</a:t>
            </a:r>
            <a:pPr indent="0" marL="0">
              <a:buNone/>
            </a:pPr>
            <a:r>
              <a:rPr lang="en-US" sz="14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80，σ</a:t>
            </a:r>
            <a:pPr indent="0" marL="0">
              <a:buNone/>
            </a:pPr>
            <a:r>
              <a:rPr lang="en-US" sz="14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100 + 80 = 180；把 80 當 σ</a:t>
            </a:r>
            <a:pPr indent="0" marL="0">
              <a:buNone/>
            </a:pPr>
            <a:r>
              <a:rPr lang="en-US" sz="14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會連圓都畫錯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371600"/>
            <a:ext cx="5440680" cy="237744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554480"/>
            <a:ext cx="73152" cy="2011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陷阱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破壞面代錯角度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46888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給了 φ</a:t>
            </a:r>
            <a:pPr indent="0" marL="0">
              <a:buNone/>
            </a:pPr>
            <a:r>
              <a:rPr lang="en-US" sz="14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16.6° 要先扣 u</a:t>
            </a:r>
            <a:pPr indent="0" marL="0">
              <a:buNone/>
            </a:pPr>
            <a:r>
              <a:rPr lang="en-US" sz="14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求 φ′ = 30°；θ 應為 60°，不是 53.3°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440680" cy="237744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114800"/>
            <a:ext cx="73152" cy="2011680"/>
          </a:xfrm>
          <a:prstGeom prst="rect">
            <a:avLst/>
          </a:prstGeom>
          <a:solidFill>
            <a:srgbClr val="6D4BC2"/>
          </a:solidFill>
          <a:ln w="12700">
            <a:solidFill>
              <a:srgbClr val="6D4BC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陷阱 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434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OC 土用比例法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黏土 B 各組單算 sin φ = R/C：33.1°、28.3°，真值 25.38°——c′ ≠ 0 圓不相似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3931920"/>
            <a:ext cx="5440680" cy="237744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4114800"/>
            <a:ext cx="73152" cy="201168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陷阱 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434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</a:t>
            </a:r>
            <a:pPr indent="0" marL="0">
              <a:buNone/>
            </a:pPr>
            <a:r>
              <a:rPr lang="en-US" sz="22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buNone/>
            </a:pPr>
            <a:r>
              <a:rPr lang="en-US" sz="22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線斜率當 φ′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502920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α′ = 26.6° 不是 φ′；要用 sin φ′ = tan α′ 換回 30°，截距 a 也要除以 cos φ′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陷阱 3 · 圖解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只有包絡線過原點，莫爾圓才互為相似形</a:t>
            </a:r>
            <a:endParaRPr lang="en-US" sz="2600" dirty="0"/>
          </a:p>
        </p:txBody>
      </p:sp>
      <p:pic>
        <p:nvPicPr>
          <p:cNvPr id="4" name="Image 0" descr="fig13_ncoc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08354"/>
            <a:ext cx="11064240" cy="42412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66928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6692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NC 黏土：σ′</a:t>
            </a:r>
            <a:pPr indent="0" marL="0">
              <a:buNone/>
            </a:pPr>
            <a:r>
              <a:rPr lang="en-US" sz="1400" b="1" baseline="-4000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加倍，σ′</a:t>
            </a:r>
            <a:pPr indent="0" marL="0">
              <a:buNone/>
            </a:pPr>
            <a:r>
              <a:rPr lang="en-US" sz="1400" b="1" baseline="-4000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就加倍（比值固定 = K</a:t>
            </a:r>
            <a:pPr indent="0" marL="0">
              <a:buNone/>
            </a:pPr>
            <a:r>
              <a:rPr lang="en-US" sz="1400" b="1" baseline="-4000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）。OC 黏土多了 2c′√K</a:t>
            </a:r>
            <a:pPr indent="0" marL="0">
              <a:buNone/>
            </a:pPr>
            <a:r>
              <a:rPr lang="en-US" sz="1400" b="1" baseline="-4000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這個常數項，比值隨圍壓改變，只能用兩組聯立。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CHECK · 算完 30 秒自我檢查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兩個驗算：切點要落在包絡線上、A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要落在合理區間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3840480"/>
          </a:xfrm>
          <a:prstGeom prst="roundRect">
            <a:avLst>
              <a:gd name="adj" fmla="val 2857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檢查 1：切點應力</a:t>
            </a:r>
            <a:endParaRPr lang="en-US" sz="1700" dirty="0"/>
          </a:p>
        </p:txBody>
      </p:sp>
      <p:pic>
        <p:nvPicPr>
          <p:cNvPr id="6" name="Image 0" descr="m_tff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7240" y="2133981"/>
            <a:ext cx="2798064" cy="2583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74320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黏土 B 試驗 A：σ′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ff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110 − 60 × 0.4286 = 84.29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τ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ff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60 × 0.9035 = 54.21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c′ + σ′</a:t>
            </a:r>
            <a:pPr indent="0" marL="0">
              <a:spcAft>
                <a:spcPts val="800"/>
              </a:spcAft>
              <a:buNone/>
            </a:pPr>
            <a:r>
              <a:rPr lang="en-US" sz="1400" b="1" baseline="-4000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ff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tan φ′ = 14.23 + 84.29 × 0.4743 = 54.21 ✓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兩邊不相等 → c′ 或 φ′ 算錯了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172200" y="1371600"/>
            <a:ext cx="5440680" cy="3840480"/>
          </a:xfrm>
          <a:prstGeom prst="roundRect">
            <a:avLst>
              <a:gd name="adj" fmla="val 2857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0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檢查 2：回推孔壓參數</a:t>
            </a:r>
            <a:endParaRPr lang="en-US" sz="1700" dirty="0"/>
          </a:p>
        </p:txBody>
      </p:sp>
      <p:pic>
        <p:nvPicPr>
          <p:cNvPr id="10" name="Image 1" descr="m_af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0800" y="2077974"/>
            <a:ext cx="790956" cy="41605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00800" y="274320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黏土 A：A</a:t>
            </a:r>
            <a:pPr indent="0" marL="0">
              <a:spcAft>
                <a:spcPts val="800"/>
              </a:spcAft>
              <a:buNone/>
            </a:pPr>
            <a:r>
              <a:rPr lang="en-US" sz="15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60 / 80 = 0.75 ✓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NC 黏土：A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≈ 0.5～1.0（剪縮、正孔壓）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OC 黏土：A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小，重壓密可為負（剪脹、負孔壓）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NC 題目算出負的 A</a:t>
            </a:r>
            <a:pPr indent="0" marL="0">
              <a:spcAft>
                <a:spcPts val="800"/>
              </a:spcAft>
              <a:buNone/>
            </a:pPr>
            <a:r>
              <a:rPr lang="en-US" sz="13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→ 多半是 u</a:t>
            </a:r>
            <a:pPr indent="0" marL="0">
              <a:spcAft>
                <a:spcPts val="800"/>
              </a:spcAft>
              <a:buNone/>
            </a:pPr>
            <a:r>
              <a:rPr lang="en-US" sz="13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正負號或 Δσ</a:t>
            </a:r>
            <a:pPr indent="0" marL="0">
              <a:spcAft>
                <a:spcPts val="800"/>
              </a:spcAft>
              <a:buNone/>
            </a:pPr>
            <a:r>
              <a:rPr lang="en-US" sz="13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用錯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53949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77240" y="54864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順手再驗第三件事：破壞面角度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θ 一定大於 45°、而且用 φ′ 算：黏土 A 60°、黏土 B 57.7°、示範砂 61°。算出小於 45° 或和 φ</a:t>
            </a:r>
            <a:pPr indent="0" marL="0">
              <a:spcAft>
                <a:spcPts val="3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有關，就是代錯了。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530352" cy="530352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916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691640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水不承剪 → 抗剪強度只由 σ′ 控制，一種土只有一組 (c′, φ′)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514600"/>
            <a:ext cx="530352" cy="530352"/>
          </a:xfrm>
          <a:prstGeom prst="ellipse">
            <a:avLst/>
          </a:prstGeom>
          <a:solidFill>
            <a:srgbClr val="2F54C8"/>
          </a:solidFill>
          <a:ln w="12700">
            <a:solidFill>
              <a:srgbClr val="2F54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514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514600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 只平移莫爾圓：φ</a:t>
            </a:r>
            <a:pPr indent="0" marL="0">
              <a:buNone/>
            </a:pPr>
            <a:r>
              <a:rPr lang="en-US" sz="18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隨路徑跳動（AC 16.6°、LE 41.8°），φ′ 固定 30°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3337560"/>
            <a:ext cx="530352" cy="530352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3375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337560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</a:t>
            </a:r>
            <a:pPr indent="0" marL="0">
              <a:buNone/>
            </a:pPr>
            <a:r>
              <a:rPr lang="en-US" sz="18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線 ≠ M–C 線：tan α′ = sin φ′、a = c′ cos φ′；砂的材料常數是 φ</a:t>
            </a:r>
            <a:pPr indent="0" marL="0">
              <a:buNone/>
            </a:pPr>
            <a:r>
              <a:rPr lang="en-US" sz="18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cv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530352" cy="53035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1605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160520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三條破壞式挑最短；兩組試驗用相減法；K</a:t>
            </a:r>
            <a:pPr indent="0" marL="0">
              <a:buNone/>
            </a:pPr>
            <a:r>
              <a:rPr lang="en-US" sz="18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保留到最後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1520" y="4983480"/>
            <a:ext cx="530352" cy="5303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983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983480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θ = 45° + φ′/2；OC 不可用比例法；算完驗切點與 A</a:t>
            </a:r>
            <a:pPr indent="0" marL="0">
              <a:buNone/>
            </a:pPr>
            <a:r>
              <a:rPr lang="en-US" sz="18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9436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下一步：拿「相減法」實際解一題 OC 黏土的兩組 CD 試驗考題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SM-U1-5 拼圖一：真參數只有一組</dc:title>
  <dc:subject>PptxGenJS Presentation</dc:subject>
  <dc:creator>PptxGenJS</dc:creator>
  <cp:lastModifiedBy>PptxGenJS</cp:lastModifiedBy>
  <cp:revision>1</cp:revision>
  <dcterms:created xsi:type="dcterms:W3CDTF">2026-09-25T08:20:31Z</dcterms:created>
  <dcterms:modified xsi:type="dcterms:W3CDTF">2026-09-25T08:20:31Z</dcterms:modified>
</cp:coreProperties>
</file>