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image" Target="../media/image-17-5.png"/><Relationship Id="rId6" Type="http://schemas.openxmlformats.org/officeDocument/2006/relationships/image" Target="../media/image-1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2A41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-1188720"/>
            <a:ext cx="2926080" cy="2926080"/>
          </a:xfrm>
          <a:prstGeom prst="ellipse">
            <a:avLst/>
          </a:prstGeom>
          <a:solidFill>
            <a:srgbClr val="4C6B8A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064240" y="-457200"/>
            <a:ext cx="1463040" cy="1463040"/>
          </a:xfrm>
          <a:prstGeom prst="ellipse">
            <a:avLst/>
          </a:prstGeom>
          <a:solidFill>
            <a:srgbClr val="E8734A">
              <a:alpha val="8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058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SM-U1-3　土壤力學｜觀念講義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1463040"/>
            <a:ext cx="10332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夯實曲線與夯實能量</a:t>
            </a:r>
            <a:endParaRPr lang="en-US" sz="4200" dirty="0"/>
          </a:p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為什麼是鐘形、為什麼往左上移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640080" y="3703320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用一組五點 Proctor 試驗數據貫穿全篇：從顆粒尺度的兩個機制，一路推到 ZAVC 檢核與能量換算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40080" y="4617720"/>
            <a:ext cx="2596896" cy="457200"/>
          </a:xfrm>
          <a:prstGeom prst="roundRect">
            <a:avLst>
              <a:gd name="adj" fmla="val 16000"/>
            </a:avLst>
          </a:prstGeom>
          <a:solidFill>
            <a:srgbClr val="E8734A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4617720"/>
            <a:ext cx="2596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示範案例：Gs = 2.70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63093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結構技師考試「土壤力學」觀念講義｜圖解全部為 SVG 向量圖，數字可對帳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TOPIC MAP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本單元四個問題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85816" cy="2194560"/>
          </a:xfrm>
          <a:prstGeom prst="roundRect">
            <a:avLst>
              <a:gd name="adj" fmla="val 3750"/>
            </a:avLst>
          </a:prstGeom>
          <a:solidFill>
            <a:srgbClr val="F4F6F9"/>
          </a:solidFill>
          <a:ln/>
          <a:effectLst>
            <a:outerShdw sx="100000" sy="100000" kx="0" ky="0" algn="bl" rotWithShape="0" blurRad="76200" dist="25400" dir="5400000">
              <a:srgbClr val="1B2A41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947672"/>
            <a:ext cx="457200" cy="457200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19476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2560320"/>
            <a:ext cx="4837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曲線為什麼是鐘形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2971800"/>
            <a:ext cx="48371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乾側水是潤滑劑、濕側水是阻擋物；兩個相反機制交會出峰值。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54496" y="1691640"/>
            <a:ext cx="5385816" cy="2194560"/>
          </a:xfrm>
          <a:prstGeom prst="roundRect">
            <a:avLst>
              <a:gd name="adj" fmla="val 3750"/>
            </a:avLst>
          </a:prstGeom>
          <a:solidFill>
            <a:srgbClr val="F4F6F9"/>
          </a:solidFill>
          <a:ln/>
          <a:effectLst>
            <a:outerShdw sx="100000" sy="100000" kx="0" ky="0" algn="bl" rotWithShape="0" blurRad="76200" dist="25400" dir="5400000">
              <a:srgbClr val="1B2A41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10528" y="1947672"/>
            <a:ext cx="457200" cy="457200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11" name="Text 9"/>
          <p:cNvSpPr/>
          <p:nvPr/>
        </p:nvSpPr>
        <p:spPr>
          <a:xfrm>
            <a:off x="6510528" y="19476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528816" y="2560320"/>
            <a:ext cx="4837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上限在哪裡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528816" y="2971800"/>
            <a:ext cx="48371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夯實只排氣、不排水。空氣排光（S = 100%）就是 ZAVC，曲線永遠碰不到。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4206240"/>
            <a:ext cx="5385816" cy="2194560"/>
          </a:xfrm>
          <a:prstGeom prst="roundRect">
            <a:avLst>
              <a:gd name="adj" fmla="val 3750"/>
            </a:avLst>
          </a:prstGeom>
          <a:solidFill>
            <a:srgbClr val="F4F6F9"/>
          </a:solidFill>
          <a:ln/>
          <a:effectLst>
            <a:outerShdw sx="100000" sy="100000" kx="0" ky="0" algn="bl" rotWithShape="0" blurRad="76200" dist="25400" dir="5400000">
              <a:srgbClr val="1B2A41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04672" y="4462272"/>
            <a:ext cx="457200" cy="457200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16" name="Text 14"/>
          <p:cNvSpPr/>
          <p:nvPr/>
        </p:nvSpPr>
        <p:spPr>
          <a:xfrm>
            <a:off x="804672" y="44622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22960" y="5074920"/>
            <a:ext cx="4837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能量怎麼算、怎麼比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22960" y="5486400"/>
            <a:ext cx="48371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E = WhNL/V；修正 Proctor 約為標準的 4.5 倍，W、h、L 三個因子連乘。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254496" y="4206240"/>
            <a:ext cx="5385816" cy="2194560"/>
          </a:xfrm>
          <a:prstGeom prst="roundRect">
            <a:avLst>
              <a:gd name="adj" fmla="val 3750"/>
            </a:avLst>
          </a:prstGeom>
          <a:solidFill>
            <a:srgbClr val="F4F6F9"/>
          </a:solidFill>
          <a:ln/>
          <a:effectLst>
            <a:outerShdw sx="100000" sy="100000" kx="0" ky="0" algn="bl" rotWithShape="0" blurRad="76200" dist="25400" dir="5400000">
              <a:srgbClr val="1B2A41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510528" y="4462272"/>
            <a:ext cx="457200" cy="457200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21" name="Text 19"/>
          <p:cNvSpPr/>
          <p:nvPr/>
        </p:nvSpPr>
        <p:spPr>
          <a:xfrm>
            <a:off x="6510528" y="44622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528816" y="5074920"/>
            <a:ext cx="4837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能量變大會怎樣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528816" y="5486400"/>
            <a:ext cx="48371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γd,max 上升、wopt 下降，峰值沿 S ≈ 85% 往左上移，仍在 ZAVC 左下方。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DIAGRAM 1 · 夯實曲線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同一能量下，γd 對 w 為什麼先升後降？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903720" cy="4846320"/>
          </a:xfrm>
          <a:prstGeom prst="roundRect">
            <a:avLst>
              <a:gd name="adj" fmla="val 1509"/>
            </a:avLst>
          </a:prstGeom>
          <a:solidFill>
            <a:srgbClr val="F4F6F9"/>
          </a:solidFill>
          <a:ln/>
        </p:spPr>
      </p:sp>
      <p:pic>
        <p:nvPicPr>
          <p:cNvPr id="5" name="Image 0" descr="figs/SM-U1-3c-fig-1-be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6226" y="1892808"/>
            <a:ext cx="6348549" cy="444398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26680" y="1691640"/>
            <a:ext cx="3913632" cy="4846320"/>
          </a:xfrm>
          <a:prstGeom prst="roundRect">
            <a:avLst>
              <a:gd name="adj" fmla="val 1869"/>
            </a:avLst>
          </a:prstGeom>
          <a:solidFill>
            <a:srgbClr val="1B2A41"/>
          </a:solidFill>
          <a:ln/>
        </p:spPr>
      </p:sp>
      <p:sp>
        <p:nvSpPr>
          <p:cNvPr id="7" name="Text 4"/>
          <p:cNvSpPr/>
          <p:nvPr/>
        </p:nvSpPr>
        <p:spPr>
          <a:xfrm>
            <a:off x="7982712" y="1892808"/>
            <a:ext cx="3401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觀念解讀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982712" y="2313432"/>
            <a:ext cx="3401568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圖上五個點是示範案例的試驗結果，曲線以單調保形內插連起來，峰值直接讀出。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峰值 wopt = 16.0%、γd,max = 17.50 kN/m³，這是「這個能量」下的最佳點，不是土的固定性質。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左半段加水幫顆粒滑動，右半段加水把顆粒撐開。鐘形是兩個機制的交會，不是經驗曲線。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DIAGRAM 2 · 顆粒尺度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同樣加水，兩側的角色完全相反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903720" cy="4846320"/>
          </a:xfrm>
          <a:prstGeom prst="roundRect">
            <a:avLst>
              <a:gd name="adj" fmla="val 1509"/>
            </a:avLst>
          </a:prstGeom>
          <a:solidFill>
            <a:srgbClr val="F4F6F9"/>
          </a:solidFill>
          <a:ln/>
        </p:spPr>
      </p:sp>
      <p:pic>
        <p:nvPicPr>
          <p:cNvPr id="5" name="Image 0" descr="figs/SM-U1-3c-fig-2-particl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90754" y="1892808"/>
            <a:ext cx="5419493" cy="444398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26680" y="1691640"/>
            <a:ext cx="3913632" cy="4846320"/>
          </a:xfrm>
          <a:prstGeom prst="roundRect">
            <a:avLst>
              <a:gd name="adj" fmla="val 1869"/>
            </a:avLst>
          </a:prstGeom>
          <a:solidFill>
            <a:srgbClr val="1B2A41"/>
          </a:solidFill>
          <a:ln/>
        </p:spPr>
      </p:sp>
      <p:sp>
        <p:nvSpPr>
          <p:cNvPr id="7" name="Text 4"/>
          <p:cNvSpPr/>
          <p:nvPr/>
        </p:nvSpPr>
        <p:spPr>
          <a:xfrm>
            <a:off x="7982712" y="1892808"/>
            <a:ext cx="3401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觀念解讀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982712" y="2313432"/>
            <a:ext cx="3401568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三相長條由示範數據算出：Vs = γd/(Gsγw)、Vw = wγd/γw，其餘是空氣。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由乾到濕，空氣一路從 0.22 降到 0.03；固體卻在最佳點 0.66 最多，之後反而變少。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濕側的空氣已經幾乎排光，多加的水只能佔掉原本屬於固體的位置，γd 必然下降。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DIAGRAM 3 · 三相圖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夯實只排得掉空氣，排不掉水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903720" cy="4846320"/>
          </a:xfrm>
          <a:prstGeom prst="roundRect">
            <a:avLst>
              <a:gd name="adj" fmla="val 1509"/>
            </a:avLst>
          </a:prstGeom>
          <a:solidFill>
            <a:srgbClr val="F4F6F9"/>
          </a:solidFill>
          <a:ln/>
        </p:spPr>
      </p:sp>
      <p:pic>
        <p:nvPicPr>
          <p:cNvPr id="5" name="Image 0" descr="figs/SM-U1-3c-fig-3-pha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6226" y="1892808"/>
            <a:ext cx="6348549" cy="444398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26680" y="1691640"/>
            <a:ext cx="3913632" cy="4846320"/>
          </a:xfrm>
          <a:prstGeom prst="roundRect">
            <a:avLst>
              <a:gd name="adj" fmla="val 1869"/>
            </a:avLst>
          </a:prstGeom>
          <a:solidFill>
            <a:srgbClr val="1B2A41"/>
          </a:solidFill>
          <a:ln/>
        </p:spPr>
      </p:sp>
      <p:sp>
        <p:nvSpPr>
          <p:cNvPr id="7" name="Text 4"/>
          <p:cNvSpPr/>
          <p:nvPr/>
        </p:nvSpPr>
        <p:spPr>
          <a:xfrm>
            <a:off x="7982712" y="1892808"/>
            <a:ext cx="3401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觀念解讀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982712" y="2313432"/>
            <a:ext cx="3401568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夯擊只有幾秒鐘，水來不及滲流排出（那是壓密的事），所以 Vw = wGs 在夯實前後不變。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能被壓掉的只有空氣：e 從 0.892 → 0.514，最多壓到 Va = 0，此時 e = wGs = 0.432。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把 e = wGs 代入 γd = Gsγw/(1+e)，就得到 ZAVC 公式。它是幾何上限，不是試驗曲線。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FORMULA · 三條基本關係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從試驗數據到 ZAVC，只需要這三條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1231392"/>
          </a:xfrm>
          <a:prstGeom prst="roundRect">
            <a:avLst>
              <a:gd name="adj" fmla="val 5941"/>
            </a:avLst>
          </a:prstGeom>
          <a:solidFill>
            <a:srgbClr val="DCE6F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91640"/>
            <a:ext cx="82296" cy="12313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64792"/>
            <a:ext cx="2743200" cy="1085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由秤重算乾單位重</a:t>
            </a:r>
            <a:endParaRPr lang="en-US" sz="1300" dirty="0"/>
          </a:p>
        </p:txBody>
      </p:sp>
      <p:pic>
        <p:nvPicPr>
          <p:cNvPr id="7" name="Image 0" descr="formula_imgs/g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08836" y="1847088"/>
            <a:ext cx="4487048" cy="920496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3179064"/>
            <a:ext cx="11064240" cy="1231392"/>
          </a:xfrm>
          <a:prstGeom prst="roundRect">
            <a:avLst>
              <a:gd name="adj" fmla="val 5941"/>
            </a:avLst>
          </a:prstGeom>
          <a:solidFill>
            <a:srgbClr val="DCE6F0"/>
          </a:solidFill>
          <a:ln/>
        </p:spPr>
      </p:sp>
      <p:sp>
        <p:nvSpPr>
          <p:cNvPr id="9" name="Shape 6"/>
          <p:cNvSpPr/>
          <p:nvPr/>
        </p:nvSpPr>
        <p:spPr>
          <a:xfrm>
            <a:off x="548640" y="3179064"/>
            <a:ext cx="82296" cy="12313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3252216"/>
            <a:ext cx="2743200" cy="1085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零空氣孔隙線 ZAVC</a:t>
            </a:r>
            <a:endParaRPr lang="en-US" sz="1300" dirty="0"/>
          </a:p>
        </p:txBody>
      </p:sp>
      <p:pic>
        <p:nvPicPr>
          <p:cNvPr id="11" name="Image 1" descr="formula_imgs/zav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5843" y="3334512"/>
            <a:ext cx="6973034" cy="920496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548640" y="4666488"/>
            <a:ext cx="11064240" cy="1231392"/>
          </a:xfrm>
          <a:prstGeom prst="roundRect">
            <a:avLst>
              <a:gd name="adj" fmla="val 5941"/>
            </a:avLst>
          </a:prstGeom>
          <a:solidFill>
            <a:srgbClr val="DCE6F0"/>
          </a:solidFill>
          <a:ln/>
        </p:spPr>
      </p:sp>
      <p:sp>
        <p:nvSpPr>
          <p:cNvPr id="13" name="Shape 9"/>
          <p:cNvSpPr/>
          <p:nvPr/>
        </p:nvSpPr>
        <p:spPr>
          <a:xfrm>
            <a:off x="548640" y="4666488"/>
            <a:ext cx="82296" cy="12313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4" name="Text 10"/>
          <p:cNvSpPr/>
          <p:nvPr/>
        </p:nvSpPr>
        <p:spPr>
          <a:xfrm>
            <a:off x="868680" y="4739640"/>
            <a:ext cx="2743200" cy="1085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任意飽和度 S 的等值線</a:t>
            </a:r>
            <a:endParaRPr lang="en-US" sz="1300" dirty="0"/>
          </a:p>
        </p:txBody>
      </p:sp>
      <p:pic>
        <p:nvPicPr>
          <p:cNvPr id="15" name="Image 2" descr="formula_imgs/slin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3267" y="4821936"/>
            <a:ext cx="4018185" cy="92049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48640" y="5989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三條都由 Se = wGs 與 γd = Gsγw/(1+e) 推出；S = 1 時第三式退化為 ZAVC。w 一律用小數代入（16% → 0.16）。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DIAGRAM 4 · 飽和度等值線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峰值落在 S ≈ 85%，而不是 100%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903720" cy="4846320"/>
          </a:xfrm>
          <a:prstGeom prst="roundRect">
            <a:avLst>
              <a:gd name="adj" fmla="val 1509"/>
            </a:avLst>
          </a:prstGeom>
          <a:solidFill>
            <a:srgbClr val="F4F6F9"/>
          </a:solidFill>
          <a:ln/>
        </p:spPr>
      </p:sp>
      <p:pic>
        <p:nvPicPr>
          <p:cNvPr id="5" name="Image 0" descr="figs/SM-U1-3c-fig-4-slin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6226" y="1892808"/>
            <a:ext cx="6348549" cy="444398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26680" y="1691640"/>
            <a:ext cx="3913632" cy="4846320"/>
          </a:xfrm>
          <a:prstGeom prst="roundRect">
            <a:avLst>
              <a:gd name="adj" fmla="val 1869"/>
            </a:avLst>
          </a:prstGeom>
          <a:solidFill>
            <a:srgbClr val="1B2A41"/>
          </a:solidFill>
          <a:ln/>
        </p:spPr>
      </p:sp>
      <p:sp>
        <p:nvSpPr>
          <p:cNvPr id="7" name="Text 4"/>
          <p:cNvSpPr/>
          <p:nvPr/>
        </p:nvSpPr>
        <p:spPr>
          <a:xfrm>
            <a:off x="7982712" y="1892808"/>
            <a:ext cx="3401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觀念解讀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982712" y="2313432"/>
            <a:ext cx="3401568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點旁數字是各試驗點的飽和度，由 S = wGs/e 算出：43% → 63% → 84% → 93% → 94%。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濕側的 S 停在 92～94% 附近：殘留的封閉氣泡排不掉，所以曲線與 ZAVC 平行而不相交。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峰值 S ≈ 84% 是常見值（約 80～90%）。算出峰值 S 接近或超過 100%，先回頭檢查。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WORKED EXAMPLE · 示範案例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標準 Proctor 五點試驗：從濕土質量到 γd</a:t>
            </a:r>
            <a:endParaRPr lang="en-US" sz="2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6424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1554480"/>
                <a:gridCol w="1737360"/>
                <a:gridCol w="1554480"/>
                <a:gridCol w="1005840"/>
                <a:gridCol w="1005840"/>
                <a:gridCol w="1463040"/>
                <a:gridCol w="1737360"/>
              </a:tblGrid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w (%)</a:t>
                      </a:r>
                      <a:endParaRPr lang="en-US" sz="13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濕土質量 M (g)</a:t>
                      </a:r>
                      <a:endParaRPr lang="en-US" sz="13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γ = Mg/V (kN/m³)</a:t>
                      </a:r>
                      <a:endParaRPr lang="en-US" sz="13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γd = γ/(1+w)</a:t>
                      </a:r>
                      <a:endParaRPr lang="en-US" sz="13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e</a:t>
                      </a:r>
                      <a:endParaRPr lang="en-US" sz="13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S (%)</a:t>
                      </a:r>
                      <a:endParaRPr lang="en-US" sz="13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ZAVC γzav</a:t>
                      </a:r>
                      <a:endParaRPr lang="en-US" sz="13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檢核</a:t>
                      </a:r>
                      <a:endParaRPr lang="en-US" sz="13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10.0</a:t>
                      </a:r>
                      <a:endParaRPr lang="en-US" sz="13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1714.8</a:t>
                      </a:r>
                      <a:endParaRPr lang="en-US" sz="13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17.82</a:t>
                      </a:r>
                      <a:endParaRPr lang="en-US" sz="13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16.20</a:t>
                      </a:r>
                      <a:endParaRPr lang="en-US" sz="13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0.635</a:t>
                      </a:r>
                      <a:endParaRPr lang="en-US" sz="13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42.5</a:t>
                      </a:r>
                      <a:endParaRPr lang="en-US" sz="13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20.86</a:t>
                      </a:r>
                      <a:endParaRPr lang="en-US" sz="13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γd &lt; γzav ✓</a:t>
                      </a:r>
                      <a:endParaRPr lang="en-US" sz="13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13.0</a:t>
                      </a:r>
                      <a:endParaRPr lang="en-US" sz="13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1854.0</a:t>
                      </a:r>
                      <a:endParaRPr lang="en-US" sz="13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19.27</a:t>
                      </a:r>
                      <a:endParaRPr lang="en-US" sz="13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17.05</a:t>
                      </a:r>
                      <a:endParaRPr lang="en-US" sz="13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0.553</a:t>
                      </a:r>
                      <a:endParaRPr lang="en-US" sz="13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63.4</a:t>
                      </a:r>
                      <a:endParaRPr lang="en-US" sz="13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19.61</a:t>
                      </a:r>
                      <a:endParaRPr lang="en-US" sz="13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γd &lt; γzav ✓</a:t>
                      </a:r>
                      <a:endParaRPr lang="en-US" sz="13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0392B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16.0</a:t>
                      </a:r>
                      <a:endParaRPr lang="en-US" sz="13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1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0392B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1953.4</a:t>
                      </a:r>
                      <a:endParaRPr lang="en-US" sz="13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1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0392B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20.30</a:t>
                      </a:r>
                      <a:endParaRPr lang="en-US" sz="13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1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0392B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17.50</a:t>
                      </a:r>
                      <a:endParaRPr lang="en-US" sz="13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1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0392B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0.514</a:t>
                      </a:r>
                      <a:endParaRPr lang="en-US" sz="13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1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0392B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84.1</a:t>
                      </a:r>
                      <a:endParaRPr lang="en-US" sz="13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1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0392B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18.50</a:t>
                      </a:r>
                      <a:endParaRPr lang="en-US" sz="13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1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0392B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γd &lt; γzav ✓</a:t>
                      </a:r>
                      <a:endParaRPr lang="en-US" sz="13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1DE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19.0</a:t>
                      </a:r>
                      <a:endParaRPr lang="en-US" sz="13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1952.4</a:t>
                      </a:r>
                      <a:endParaRPr lang="en-US" sz="13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20.29</a:t>
                      </a:r>
                      <a:endParaRPr lang="en-US" sz="13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17.05</a:t>
                      </a:r>
                      <a:endParaRPr lang="en-US" sz="13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0.554</a:t>
                      </a:r>
                      <a:endParaRPr lang="en-US" sz="13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92.7</a:t>
                      </a:r>
                      <a:endParaRPr lang="en-US" sz="13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17.51</a:t>
                      </a:r>
                      <a:endParaRPr lang="en-US" sz="13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γd &lt; γzav ✓</a:t>
                      </a:r>
                      <a:endParaRPr lang="en-US" sz="13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22.0</a:t>
                      </a:r>
                      <a:endParaRPr lang="en-US" sz="13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1901.9</a:t>
                      </a:r>
                      <a:endParaRPr lang="en-US" sz="13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19.76</a:t>
                      </a:r>
                      <a:endParaRPr lang="en-US" sz="13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16.20</a:t>
                      </a:r>
                      <a:endParaRPr lang="en-US" sz="13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0.635</a:t>
                      </a:r>
                      <a:endParaRPr lang="en-US" sz="13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93.5</a:t>
                      </a:r>
                      <a:endParaRPr lang="en-US" sz="13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16.62</a:t>
                      </a:r>
                      <a:endParaRPr lang="en-US" sz="13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γd &lt; γzav ✓</a:t>
                      </a:r>
                      <a:endParaRPr lang="en-US" sz="13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4800600"/>
            <a:ext cx="11064240" cy="1554480"/>
          </a:xfrm>
          <a:prstGeom prst="roundRect">
            <a:avLst>
              <a:gd name="adj" fmla="val 4706"/>
            </a:avLst>
          </a:prstGeom>
          <a:solidFill>
            <a:srgbClr val="DCE6F0"/>
          </a:solidFill>
          <a:ln/>
        </p:spPr>
      </p:sp>
      <p:sp>
        <p:nvSpPr>
          <p:cNvPr id="6" name="Text 3"/>
          <p:cNvSpPr/>
          <p:nvPr/>
        </p:nvSpPr>
        <p:spPr>
          <a:xfrm>
            <a:off x="822960" y="489204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5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已知：</a:t>
            </a:r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V = 944 cm³、Gs = 2.70、γw = 9.81 kN/m³。</a:t>
            </a: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5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對帳：</a:t>
            </a:r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w = 16%：γ = 1953.4 × 9.81 / 944 = 20.30 → γd = 20.30 / 1.16 = 17.50；e = 26.487/17.50 − 1 = 0.514；S = 0.16 × 2.70 / 0.514 = 84.1%。</a:t>
            </a: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5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單位換算：</a:t>
            </a:r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g/cm³ × 9.81 = kN/m³，所以 γ = M(g) × 9.81 / V(cm³) 直接得 kN/m³。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SOLUTION FLOW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502920" y="530352"/>
            <a:ext cx="566928" cy="566928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53035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流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234440" y="47548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解題流程：從秤重到 wopt、γd,max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1234440" y="96012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一條主線，最後一定要做 ZAVC 檢核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9601200" y="502920"/>
            <a:ext cx="2084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SM-U1-3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1481328"/>
            <a:ext cx="2603754" cy="841248"/>
          </a:xfrm>
          <a:prstGeom prst="roundRect">
            <a:avLst>
              <a:gd name="adj" fmla="val 7609"/>
            </a:avLst>
          </a:prstGeom>
          <a:solidFill>
            <a:srgbClr val="1B2A41"/>
          </a:solidFill>
          <a:ln/>
        </p:spPr>
      </p:sp>
      <p:sp>
        <p:nvSpPr>
          <p:cNvPr id="9" name="Text 7"/>
          <p:cNvSpPr/>
          <p:nvPr/>
        </p:nvSpPr>
        <p:spPr>
          <a:xfrm>
            <a:off x="630936" y="1481328"/>
            <a:ext cx="234772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各點濕土質量 M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與含水量 w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362706" y="1481328"/>
            <a:ext cx="2603754" cy="841248"/>
          </a:xfrm>
          <a:prstGeom prst="roundRect">
            <a:avLst>
              <a:gd name="adj" fmla="val 7609"/>
            </a:avLst>
          </a:prstGeom>
          <a:solidFill>
            <a:srgbClr val="F4F6F9"/>
          </a:solidFill>
          <a:ln/>
        </p:spPr>
      </p:sp>
      <p:sp>
        <p:nvSpPr>
          <p:cNvPr id="11" name="Text 9"/>
          <p:cNvSpPr/>
          <p:nvPr/>
        </p:nvSpPr>
        <p:spPr>
          <a:xfrm>
            <a:off x="3490722" y="1481328"/>
            <a:ext cx="234772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γ = M·g / V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22492" y="1481328"/>
            <a:ext cx="2603754" cy="841248"/>
          </a:xfrm>
          <a:prstGeom prst="roundRect">
            <a:avLst>
              <a:gd name="adj" fmla="val 7609"/>
            </a:avLst>
          </a:prstGeom>
          <a:solidFill>
            <a:srgbClr val="F4F6F9"/>
          </a:solidFill>
          <a:ln/>
        </p:spPr>
      </p:sp>
      <p:sp>
        <p:nvSpPr>
          <p:cNvPr id="13" name="Text 11"/>
          <p:cNvSpPr/>
          <p:nvPr/>
        </p:nvSpPr>
        <p:spPr>
          <a:xfrm>
            <a:off x="6350508" y="1481328"/>
            <a:ext cx="234772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γd = γ / (1+w)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w 用小數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082278" y="1481328"/>
            <a:ext cx="2603754" cy="841248"/>
          </a:xfrm>
          <a:prstGeom prst="roundRect">
            <a:avLst>
              <a:gd name="adj" fmla="val 7609"/>
            </a:avLst>
          </a:prstGeom>
          <a:solidFill>
            <a:srgbClr val="E8734A"/>
          </a:solidFill>
          <a:ln/>
        </p:spPr>
      </p:sp>
      <p:sp>
        <p:nvSpPr>
          <p:cNvPr id="15" name="Text 13"/>
          <p:cNvSpPr/>
          <p:nvPr/>
        </p:nvSpPr>
        <p:spPr>
          <a:xfrm>
            <a:off x="9210294" y="1481328"/>
            <a:ext cx="234772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γd 是否 ≤ γzav(w)？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082278" y="2779776"/>
            <a:ext cx="2603754" cy="388620"/>
          </a:xfrm>
          <a:prstGeom prst="roundRect">
            <a:avLst>
              <a:gd name="adj" fmla="val 14118"/>
            </a:avLst>
          </a:prstGeom>
          <a:solidFill>
            <a:srgbClr val="DFF0E4"/>
          </a:solidFill>
          <a:ln/>
        </p:spPr>
      </p:sp>
      <p:sp>
        <p:nvSpPr>
          <p:cNvPr id="17" name="Text 15"/>
          <p:cNvSpPr/>
          <p:nvPr/>
        </p:nvSpPr>
        <p:spPr>
          <a:xfrm>
            <a:off x="9192006" y="2779776"/>
            <a:ext cx="2384298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F7A4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是：繼續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9082278" y="3232404"/>
            <a:ext cx="2603754" cy="388620"/>
          </a:xfrm>
          <a:prstGeom prst="roundRect">
            <a:avLst>
              <a:gd name="adj" fmla="val 14118"/>
            </a:avLst>
          </a:prstGeom>
          <a:solidFill>
            <a:srgbClr val="FBE1DE"/>
          </a:solidFill>
          <a:ln/>
        </p:spPr>
      </p:sp>
      <p:sp>
        <p:nvSpPr>
          <p:cNvPr id="19" name="Text 17"/>
          <p:cNvSpPr/>
          <p:nvPr/>
        </p:nvSpPr>
        <p:spPr>
          <a:xfrm>
            <a:off x="9192006" y="3232404"/>
            <a:ext cx="2384298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否：必有算錯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回頭查單位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222492" y="2779776"/>
            <a:ext cx="2603754" cy="841248"/>
          </a:xfrm>
          <a:prstGeom prst="roundRect">
            <a:avLst>
              <a:gd name="adj" fmla="val 7609"/>
            </a:avLst>
          </a:prstGeom>
          <a:solidFill>
            <a:srgbClr val="F4F6F9"/>
          </a:solidFill>
          <a:ln/>
        </p:spPr>
      </p:sp>
      <p:sp>
        <p:nvSpPr>
          <p:cNvPr id="21" name="Text 19"/>
          <p:cNvSpPr/>
          <p:nvPr/>
        </p:nvSpPr>
        <p:spPr>
          <a:xfrm>
            <a:off x="6350508" y="2779776"/>
            <a:ext cx="234772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描點、連平滑曲線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讀峰值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362706" y="2779776"/>
            <a:ext cx="2603754" cy="841248"/>
          </a:xfrm>
          <a:prstGeom prst="roundRect">
            <a:avLst>
              <a:gd name="adj" fmla="val 7609"/>
            </a:avLst>
          </a:prstGeom>
          <a:solidFill>
            <a:srgbClr val="E8734A"/>
          </a:solidFill>
          <a:ln/>
        </p:spPr>
      </p:sp>
      <p:sp>
        <p:nvSpPr>
          <p:cNvPr id="23" name="Text 21"/>
          <p:cNvSpPr/>
          <p:nvPr/>
        </p:nvSpPr>
        <p:spPr>
          <a:xfrm>
            <a:off x="3490722" y="2779776"/>
            <a:ext cx="234772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峰值 S = wGs/e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約 80～90%？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106674" y="1901952"/>
            <a:ext cx="256032" cy="0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5966460" y="1901952"/>
            <a:ext cx="256032" cy="0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8826246" y="1901952"/>
            <a:ext cx="256032" cy="0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10384155" y="2322576"/>
            <a:ext cx="0" cy="457200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9082278" y="2974086"/>
            <a:ext cx="-256032" cy="226314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9082278" y="3426714"/>
            <a:ext cx="-256032" cy="-226314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6222492" y="3200400"/>
            <a:ext cx="-256032" cy="0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4664583" y="3621024"/>
            <a:ext cx="0" cy="411480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3362706" y="4032504"/>
            <a:ext cx="2603754" cy="749808"/>
          </a:xfrm>
          <a:prstGeom prst="roundRect">
            <a:avLst>
              <a:gd name="adj" fmla="val 9756"/>
            </a:avLst>
          </a:prstGeom>
          <a:solidFill>
            <a:srgbClr val="1E8449"/>
          </a:solidFill>
          <a:ln/>
        </p:spPr>
      </p:sp>
      <p:sp>
        <p:nvSpPr>
          <p:cNvPr id="33" name="Text 31"/>
          <p:cNvSpPr/>
          <p:nvPr/>
        </p:nvSpPr>
        <p:spPr>
          <a:xfrm>
            <a:off x="3490722" y="4032504"/>
            <a:ext cx="234772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wopt = 16.0%，γd,max = 17.50 kN/m³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6240780" y="4032504"/>
            <a:ext cx="5445252" cy="749808"/>
          </a:xfrm>
          <a:prstGeom prst="roundRect">
            <a:avLst>
              <a:gd name="adj" fmla="val 9756"/>
            </a:avLst>
          </a:prstGeom>
          <a:solidFill>
            <a:srgbClr val="DCE6F0"/>
          </a:solidFill>
          <a:ln w="15875">
            <a:solidFill>
              <a:srgbClr val="4C6B8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23660" y="4032504"/>
            <a:ext cx="507949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峰值讀法　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數據點間距大時，可用峰值附近三點配拋物線求極值；本例三點對稱，峰值恰在 w = 16%。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502920" y="5943600"/>
            <a:ext cx="11183112" cy="777240"/>
          </a:xfrm>
          <a:prstGeom prst="roundRect">
            <a:avLst>
              <a:gd name="adj" fmla="val 9412"/>
            </a:avLst>
          </a:prstGeom>
          <a:solidFill>
            <a:srgbClr val="2A3F5A"/>
          </a:solidFill>
          <a:ln/>
        </p:spPr>
      </p:sp>
      <p:sp>
        <p:nvSpPr>
          <p:cNvPr id="37" name="Text 35"/>
          <p:cNvSpPr/>
          <p:nvPr/>
        </p:nvSpPr>
        <p:spPr>
          <a:xfrm>
            <a:off x="731520" y="6016752"/>
            <a:ext cx="10725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三個必做檢核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731520" y="6382512"/>
            <a:ext cx="128016" cy="128016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39" name="Text 37"/>
          <p:cNvSpPr/>
          <p:nvPr/>
        </p:nvSpPr>
        <p:spPr>
          <a:xfrm>
            <a:off x="950976" y="6309360"/>
            <a:ext cx="32552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w 用小數　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16% 代 0.16，不是 16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4306824" y="6382512"/>
            <a:ext cx="128016" cy="128016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41" name="Text 39"/>
          <p:cNvSpPr/>
          <p:nvPr/>
        </p:nvSpPr>
        <p:spPr>
          <a:xfrm>
            <a:off x="4526280" y="6309360"/>
            <a:ext cx="32552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γ 與 γd 分清　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表格常給濕單位重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7882128" y="6382512"/>
            <a:ext cx="128016" cy="128016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43" name="Text 41"/>
          <p:cNvSpPr/>
          <p:nvPr/>
        </p:nvSpPr>
        <p:spPr>
          <a:xfrm>
            <a:off x="8101584" y="6309360"/>
            <a:ext cx="32552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ZAVC 上限　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每一點 γd &lt; γzav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DIAGRAM 5 · 合理性檢核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算出來的點若落在 ZAVC 右上方，一定算錯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903720" cy="4846320"/>
          </a:xfrm>
          <a:prstGeom prst="roundRect">
            <a:avLst>
              <a:gd name="adj" fmla="val 1509"/>
            </a:avLst>
          </a:prstGeom>
          <a:solidFill>
            <a:srgbClr val="F4F6F9"/>
          </a:solidFill>
          <a:ln/>
        </p:spPr>
      </p:sp>
      <p:pic>
        <p:nvPicPr>
          <p:cNvPr id="5" name="Image 0" descr="figs/SM-U1-3c-fig-5-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6226" y="1892808"/>
            <a:ext cx="6348549" cy="444398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26680" y="1691640"/>
            <a:ext cx="3913632" cy="4846320"/>
          </a:xfrm>
          <a:prstGeom prst="roundRect">
            <a:avLst>
              <a:gd name="adj" fmla="val 1869"/>
            </a:avLst>
          </a:prstGeom>
          <a:solidFill>
            <a:srgbClr val="1B2A41"/>
          </a:solidFill>
          <a:ln/>
        </p:spPr>
      </p:sp>
      <p:sp>
        <p:nvSpPr>
          <p:cNvPr id="7" name="Text 4"/>
          <p:cNvSpPr/>
          <p:nvPr/>
        </p:nvSpPr>
        <p:spPr>
          <a:xfrm>
            <a:off x="7982712" y="1892808"/>
            <a:ext cx="3401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觀念解讀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982712" y="2313432"/>
            <a:ext cx="3401568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w = 19% 那一點：若忘了除以 (1+w)，會得到 20.29，比 ZAVC 上限 17.51 還大。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 &gt; 100% 代表「水比孔隙還多」，物理上不可能；這不是試驗誤差，是計算或單位錯。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除以 1.19 後得 17.05，回到曲線上。考場上每算一點就順手比一次 ZAVC，只要幾秒。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FORMULA · 夯實能量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E = WhNL/V：四個輸入各代表什麼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1231392"/>
          </a:xfrm>
          <a:prstGeom prst="roundRect">
            <a:avLst>
              <a:gd name="adj" fmla="val 5941"/>
            </a:avLst>
          </a:prstGeom>
          <a:solidFill>
            <a:srgbClr val="DCE6F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91640"/>
            <a:ext cx="82296" cy="12313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64792"/>
            <a:ext cx="2743200" cy="1085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單位體積夯實能量</a:t>
            </a:r>
            <a:endParaRPr lang="en-US" sz="1300" dirty="0"/>
          </a:p>
        </p:txBody>
      </p:sp>
      <p:pic>
        <p:nvPicPr>
          <p:cNvPr id="7" name="Image 0" descr="formula_imgs/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38975" y="1847088"/>
            <a:ext cx="3026770" cy="920496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3179064"/>
            <a:ext cx="11064240" cy="1231392"/>
          </a:xfrm>
          <a:prstGeom prst="roundRect">
            <a:avLst>
              <a:gd name="adj" fmla="val 5941"/>
            </a:avLst>
          </a:prstGeom>
          <a:solidFill>
            <a:srgbClr val="DCE6F0"/>
          </a:solidFill>
          <a:ln/>
        </p:spPr>
      </p:sp>
      <p:sp>
        <p:nvSpPr>
          <p:cNvPr id="9" name="Shape 6"/>
          <p:cNvSpPr/>
          <p:nvPr/>
        </p:nvSpPr>
        <p:spPr>
          <a:xfrm>
            <a:off x="548640" y="3179064"/>
            <a:ext cx="82296" cy="12313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3252216"/>
            <a:ext cx="2743200" cy="1085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標準 Proctor</a:t>
            </a:r>
            <a:endParaRPr lang="en-US" sz="1300" dirty="0"/>
          </a:p>
        </p:txBody>
      </p:sp>
      <p:pic>
        <p:nvPicPr>
          <p:cNvPr id="11" name="Image 1" descr="formula_imgs/Est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7467" y="3334512"/>
            <a:ext cx="7749786" cy="920496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548640" y="4666488"/>
            <a:ext cx="11064240" cy="1231392"/>
          </a:xfrm>
          <a:prstGeom prst="roundRect">
            <a:avLst>
              <a:gd name="adj" fmla="val 5941"/>
            </a:avLst>
          </a:prstGeom>
          <a:solidFill>
            <a:srgbClr val="DCE6F0"/>
          </a:solidFill>
          <a:ln/>
        </p:spPr>
      </p:sp>
      <p:sp>
        <p:nvSpPr>
          <p:cNvPr id="13" name="Shape 9"/>
          <p:cNvSpPr/>
          <p:nvPr/>
        </p:nvSpPr>
        <p:spPr>
          <a:xfrm>
            <a:off x="548640" y="4666488"/>
            <a:ext cx="82296" cy="12313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4" name="Text 10"/>
          <p:cNvSpPr/>
          <p:nvPr/>
        </p:nvSpPr>
        <p:spPr>
          <a:xfrm>
            <a:off x="868680" y="4739640"/>
            <a:ext cx="2743200" cy="1085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修正 Proctor</a:t>
            </a:r>
            <a:endParaRPr lang="en-US" sz="1300" dirty="0"/>
          </a:p>
        </p:txBody>
      </p:sp>
      <p:pic>
        <p:nvPicPr>
          <p:cNvPr id="15" name="Image 2" descr="formula_imgs/Emo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6160" y="4844140"/>
            <a:ext cx="7772400" cy="87608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48640" y="5989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W 夯錘重 (N)、h 落距 (m)、N 每層夯擊數、L 層數、V 夯模體積 (m³)。N·m/m³ = J/m³，÷1000 得 kJ/m³。常見書本以 2700 kJ/m³ 近似修正值（夯錘 44.48 N 時）。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DIAGRAM 6 · 能量比較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修正是標準的 4.5 倍，倍數從哪裡來？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903720" cy="4846320"/>
          </a:xfrm>
          <a:prstGeom prst="roundRect">
            <a:avLst>
              <a:gd name="adj" fmla="val 1509"/>
            </a:avLst>
          </a:prstGeom>
          <a:solidFill>
            <a:srgbClr val="F4F6F9"/>
          </a:solidFill>
          <a:ln/>
        </p:spPr>
      </p:sp>
      <p:pic>
        <p:nvPicPr>
          <p:cNvPr id="5" name="Image 0" descr="figs/SM-U1-3c-fig-6-energ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6226" y="1892808"/>
            <a:ext cx="6348549" cy="444398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26680" y="1691640"/>
            <a:ext cx="3913632" cy="4846320"/>
          </a:xfrm>
          <a:prstGeom prst="roundRect">
            <a:avLst>
              <a:gd name="adj" fmla="val 1869"/>
            </a:avLst>
          </a:prstGeom>
          <a:solidFill>
            <a:srgbClr val="1B2A41"/>
          </a:solidFill>
          <a:ln/>
        </p:spPr>
      </p:sp>
      <p:sp>
        <p:nvSpPr>
          <p:cNvPr id="7" name="Text 4"/>
          <p:cNvSpPr/>
          <p:nvPr/>
        </p:nvSpPr>
        <p:spPr>
          <a:xfrm>
            <a:off x="7982712" y="1892808"/>
            <a:ext cx="3401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觀念解讀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982712" y="2313432"/>
            <a:ext cx="3401568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兩者 N 與 V 相同，所以比值只由 W、h、L 決定：1.816 × 1.498 × 1.667 = 4.54。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比較兩種夯實法時不必算出 E，直接算三個比值相乘，最快也最不容易錯單位。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現地對應：W 是滾壓機重量、h 與 N 對應振動與輾壓遍數、L 對應鋪築層數與層厚。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DIAGRAM 7 · 能量效應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能量變大，曲線為什麼往「左上」移？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903720" cy="4846320"/>
          </a:xfrm>
          <a:prstGeom prst="roundRect">
            <a:avLst>
              <a:gd name="adj" fmla="val 1509"/>
            </a:avLst>
          </a:prstGeom>
          <a:solidFill>
            <a:srgbClr val="F4F6F9"/>
          </a:solidFill>
          <a:ln/>
        </p:spPr>
      </p:sp>
      <p:pic>
        <p:nvPicPr>
          <p:cNvPr id="5" name="Image 0" descr="figs/SM-U1-3c-fig-7-shif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6226" y="1892808"/>
            <a:ext cx="6348549" cy="444398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26680" y="1691640"/>
            <a:ext cx="3913632" cy="4846320"/>
          </a:xfrm>
          <a:prstGeom prst="roundRect">
            <a:avLst>
              <a:gd name="adj" fmla="val 1869"/>
            </a:avLst>
          </a:prstGeom>
          <a:solidFill>
            <a:srgbClr val="1B2A41"/>
          </a:solidFill>
          <a:ln/>
        </p:spPr>
      </p:sp>
      <p:sp>
        <p:nvSpPr>
          <p:cNvPr id="7" name="Text 4"/>
          <p:cNvSpPr/>
          <p:nvPr/>
        </p:nvSpPr>
        <p:spPr>
          <a:xfrm>
            <a:off x="7982712" y="1892808"/>
            <a:ext cx="3401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觀念解讀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982712" y="2313432"/>
            <a:ext cx="3401568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往上：更大的衝擊克服乾側的摩擦鎖死，γd,max 由 17.50 升到 19.00。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往左：骨架更密、孔隙更少，水墊效應提早出現，wopt 由 16.0% 降到 12.5%。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兩個效應是同一件事的兩面，所以峰值沿 S ≈ 85% 的等值線移動，大致平行於 ZAVC。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DIAGRAM 8 · 錯誤示範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常見錯圖：修正曲線的濕側畫過 ZAVC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4389120"/>
          </a:xfrm>
          <a:prstGeom prst="roundRect">
            <a:avLst>
              <a:gd name="adj" fmla="val 1667"/>
            </a:avLst>
          </a:prstGeom>
          <a:solidFill>
            <a:srgbClr val="F4F6F9"/>
          </a:solidFill>
          <a:ln/>
        </p:spPr>
      </p:sp>
      <p:pic>
        <p:nvPicPr>
          <p:cNvPr id="5" name="Image 0" descr="figs/SM-U1-3c-fig-8-wrong-vs-r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2693" y="1892808"/>
            <a:ext cx="10216134" cy="398678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6080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左圖把修正曲線畫成對稱拋物線，濕側在 w ≈ 14～20% 穿到 ZAVC 右上方（紅色區域 S &gt; 100%），與「曲線永遠碰不到 ZAVC」矛盾。右圖以試驗點重畫：濕側 S 停在 92% 左右，與 ZAVC 平行下降，並逐漸靠近標準曲線。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DIAGRAM 9 · 黏土組構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同樣的 γd，乾側夯與濕側夯的土不一樣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903720" cy="4846320"/>
          </a:xfrm>
          <a:prstGeom prst="roundRect">
            <a:avLst>
              <a:gd name="adj" fmla="val 1509"/>
            </a:avLst>
          </a:prstGeom>
          <a:solidFill>
            <a:srgbClr val="F4F6F9"/>
          </a:solidFill>
          <a:ln/>
        </p:spPr>
      </p:sp>
      <p:pic>
        <p:nvPicPr>
          <p:cNvPr id="5" name="Image 0" descr="figs/SM-U1-3c-fig-9-fabri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2099371"/>
            <a:ext cx="6501384" cy="403085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26680" y="1691640"/>
            <a:ext cx="3913632" cy="4846320"/>
          </a:xfrm>
          <a:prstGeom prst="roundRect">
            <a:avLst>
              <a:gd name="adj" fmla="val 1869"/>
            </a:avLst>
          </a:prstGeom>
          <a:solidFill>
            <a:srgbClr val="1B2A41"/>
          </a:solidFill>
          <a:ln/>
        </p:spPr>
      </p:sp>
      <p:sp>
        <p:nvSpPr>
          <p:cNvPr id="7" name="Text 4"/>
          <p:cNvSpPr/>
          <p:nvPr/>
        </p:nvSpPr>
        <p:spPr>
          <a:xfrm>
            <a:off x="7982712" y="1892808"/>
            <a:ext cx="3401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觀念解讀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982712" y="2313432"/>
            <a:ext cx="3401568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乾側夯實：板片邊對面隨機接觸（凝聚結構），強度與勁度較高、較脆，透水性較大，遇水易膨脹。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濕側夯實：夯擊的剪動把板片排成平行（分散結構），透水性低、延展性好，但強度較低、乾縮大。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工程取捨：黏土心牆、襯墊要低透水 → 偏濕側；路基、承載層要強度 → 偏乾側或最佳含水量。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FIELD CONTROL · 現地夯實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試驗室曲線怎麼用到工地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08676" cy="2263140"/>
          </a:xfrm>
          <a:prstGeom prst="roundRect">
            <a:avLst>
              <a:gd name="adj" fmla="val 3232"/>
            </a:avLst>
          </a:prstGeom>
          <a:solidFill>
            <a:srgbClr val="F4F6F9"/>
          </a:solidFill>
          <a:ln/>
          <a:effectLst>
            <a:outerShdw sx="100000" sy="100000" kx="0" ky="0" algn="bl" rotWithShape="0" blurRad="63500" dist="25400" dir="5400000">
              <a:srgbClr val="1B2A41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49808" y="1828800"/>
            <a:ext cx="50063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相對夯實度 RC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749808" y="2258568"/>
            <a:ext cx="5006340" cy="1531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✦"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RC = γd,field / γd,max；本例現地 16.80 → 96.0%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✦"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規範常要求 ≥ 90～95%，並限定含水量在 wopt 附近範圍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231636" y="1691640"/>
            <a:ext cx="5408676" cy="2263140"/>
          </a:xfrm>
          <a:prstGeom prst="roundRect">
            <a:avLst>
              <a:gd name="adj" fmla="val 3232"/>
            </a:avLst>
          </a:prstGeom>
          <a:solidFill>
            <a:srgbClr val="F4F6F9"/>
          </a:solidFill>
          <a:ln/>
          <a:effectLst>
            <a:outerShdw sx="100000" sy="100000" kx="0" ky="0" algn="bl" rotWithShape="0" blurRad="63500" dist="25400" dir="5400000">
              <a:srgbClr val="1B2A41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32804" y="1828800"/>
            <a:ext cx="50063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為什麼要規定層厚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6432804" y="2258568"/>
            <a:ext cx="5006340" cy="1531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✦"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層厚對應公式裡的 L：鋪太厚，能量傳不到底部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✦"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每層先滾壓到規定遍數，檢測合格再鋪下一層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4229100"/>
            <a:ext cx="5408676" cy="2263140"/>
          </a:xfrm>
          <a:prstGeom prst="roundRect">
            <a:avLst>
              <a:gd name="adj" fmla="val 3232"/>
            </a:avLst>
          </a:prstGeom>
          <a:solidFill>
            <a:srgbClr val="F4F6F9"/>
          </a:solidFill>
          <a:ln/>
          <a:effectLst>
            <a:outerShdw sx="100000" sy="100000" kx="0" ky="0" algn="bl" rotWithShape="0" blurRad="63500" dist="25400" dir="5400000">
              <a:srgbClr val="1B2A41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49808" y="4366260"/>
            <a:ext cx="50063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能量不是越大越好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749808" y="4796028"/>
            <a:ext cx="5006340" cy="1531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✦"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超過最佳點會壓碎顆粒、改變級配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✦"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濕側過度輾壓：孔隙水壓升高，形成彈簧土（橡皮土）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231636" y="4229100"/>
            <a:ext cx="5408676" cy="2263140"/>
          </a:xfrm>
          <a:prstGeom prst="roundRect">
            <a:avLst>
              <a:gd name="adj" fmla="val 3232"/>
            </a:avLst>
          </a:prstGeom>
          <a:solidFill>
            <a:srgbClr val="F4F6F9"/>
          </a:solidFill>
          <a:ln/>
          <a:effectLst>
            <a:outerShdw sx="100000" sy="100000" kx="0" ky="0" algn="bl" rotWithShape="0" blurRad="63500" dist="25400" dir="5400000">
              <a:srgbClr val="1B2A41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32804" y="4366260"/>
            <a:ext cx="50063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選哪一種 Proctor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6432804" y="4796028"/>
            <a:ext cx="5006340" cy="1531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✦"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機場跑道、重載路基 → 修正 Proctor（能量高）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✦"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一般填方、堤防 → 標準 Proctor；以設計採用值為準</a:t>
            </a:r>
            <a:endParaRPr lang="en-US" sz="11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CHEAT SHEET · 考前速查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夯實｜全公式一頁速查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5545836" cy="1539240"/>
          </a:xfrm>
          <a:prstGeom prst="roundRect">
            <a:avLst>
              <a:gd name="adj" fmla="val 3564"/>
            </a:avLst>
          </a:prstGeom>
          <a:solidFill>
            <a:srgbClr val="F4F6F9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554480"/>
            <a:ext cx="5545836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1645920"/>
            <a:ext cx="53263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乾單位重</a:t>
            </a:r>
            <a:endParaRPr lang="en-US" sz="1050" dirty="0"/>
          </a:p>
        </p:txBody>
      </p:sp>
      <p:pic>
        <p:nvPicPr>
          <p:cNvPr id="7" name="Image 0" descr="formula_imgs/g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2863" y="1938528"/>
            <a:ext cx="5274510" cy="10820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185916" y="1554480"/>
            <a:ext cx="5545836" cy="1539240"/>
          </a:xfrm>
          <a:prstGeom prst="roundRect">
            <a:avLst>
              <a:gd name="adj" fmla="val 3564"/>
            </a:avLst>
          </a:prstGeom>
          <a:solidFill>
            <a:srgbClr val="F4F6F9"/>
          </a:solidFill>
          <a:ln/>
        </p:spPr>
      </p:sp>
      <p:sp>
        <p:nvSpPr>
          <p:cNvPr id="9" name="Shape 6"/>
          <p:cNvSpPr/>
          <p:nvPr/>
        </p:nvSpPr>
        <p:spPr>
          <a:xfrm>
            <a:off x="6185916" y="1554480"/>
            <a:ext cx="5545836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0" name="Text 7"/>
          <p:cNvSpPr/>
          <p:nvPr/>
        </p:nvSpPr>
        <p:spPr>
          <a:xfrm>
            <a:off x="6295644" y="1645920"/>
            <a:ext cx="53263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ZAVC（S = 100%）</a:t>
            </a:r>
            <a:endParaRPr lang="en-US" sz="1050" dirty="0"/>
          </a:p>
        </p:txBody>
      </p:sp>
      <p:pic>
        <p:nvPicPr>
          <p:cNvPr id="11" name="Image 1" descr="formula_imgs/zav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5644" y="2127986"/>
            <a:ext cx="5326380" cy="703125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457200" y="3276600"/>
            <a:ext cx="5545836" cy="1539240"/>
          </a:xfrm>
          <a:prstGeom prst="roundRect">
            <a:avLst>
              <a:gd name="adj" fmla="val 3564"/>
            </a:avLst>
          </a:prstGeom>
          <a:solidFill>
            <a:srgbClr val="F4F6F9"/>
          </a:solidFill>
          <a:ln/>
        </p:spPr>
      </p:sp>
      <p:sp>
        <p:nvSpPr>
          <p:cNvPr id="13" name="Shape 9"/>
          <p:cNvSpPr/>
          <p:nvPr/>
        </p:nvSpPr>
        <p:spPr>
          <a:xfrm>
            <a:off x="457200" y="3276600"/>
            <a:ext cx="5545836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4" name="Text 10"/>
          <p:cNvSpPr/>
          <p:nvPr/>
        </p:nvSpPr>
        <p:spPr>
          <a:xfrm>
            <a:off x="566928" y="3368040"/>
            <a:ext cx="53263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 等值線</a:t>
            </a:r>
            <a:endParaRPr lang="en-US" sz="1050" dirty="0"/>
          </a:p>
        </p:txBody>
      </p:sp>
      <p:pic>
        <p:nvPicPr>
          <p:cNvPr id="15" name="Image 2" descr="formula_imgs/slin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436" y="3660648"/>
            <a:ext cx="4723364" cy="1082040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6185916" y="3276600"/>
            <a:ext cx="5545836" cy="1539240"/>
          </a:xfrm>
          <a:prstGeom prst="roundRect">
            <a:avLst>
              <a:gd name="adj" fmla="val 3564"/>
            </a:avLst>
          </a:prstGeom>
          <a:solidFill>
            <a:srgbClr val="F4F6F9"/>
          </a:solidFill>
          <a:ln/>
        </p:spPr>
      </p:sp>
      <p:sp>
        <p:nvSpPr>
          <p:cNvPr id="17" name="Shape 12"/>
          <p:cNvSpPr/>
          <p:nvPr/>
        </p:nvSpPr>
        <p:spPr>
          <a:xfrm>
            <a:off x="6185916" y="3276600"/>
            <a:ext cx="5545836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8" name="Text 13"/>
          <p:cNvSpPr/>
          <p:nvPr/>
        </p:nvSpPr>
        <p:spPr>
          <a:xfrm>
            <a:off x="6295644" y="3368040"/>
            <a:ext cx="53263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夯實能量</a:t>
            </a:r>
            <a:endParaRPr lang="en-US" sz="1050" dirty="0"/>
          </a:p>
        </p:txBody>
      </p:sp>
      <p:pic>
        <p:nvPicPr>
          <p:cNvPr id="19" name="Image 3" descr="formula_imgs/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79855" y="3660648"/>
            <a:ext cx="3557958" cy="1082040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457200" y="4998720"/>
            <a:ext cx="5545836" cy="1539240"/>
          </a:xfrm>
          <a:prstGeom prst="roundRect">
            <a:avLst>
              <a:gd name="adj" fmla="val 3564"/>
            </a:avLst>
          </a:prstGeom>
          <a:solidFill>
            <a:srgbClr val="F4F6F9"/>
          </a:solidFill>
          <a:ln/>
        </p:spPr>
      </p:sp>
      <p:sp>
        <p:nvSpPr>
          <p:cNvPr id="21" name="Shape 15"/>
          <p:cNvSpPr/>
          <p:nvPr/>
        </p:nvSpPr>
        <p:spPr>
          <a:xfrm>
            <a:off x="457200" y="4998720"/>
            <a:ext cx="5545836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22" name="Text 16"/>
          <p:cNvSpPr/>
          <p:nvPr/>
        </p:nvSpPr>
        <p:spPr>
          <a:xfrm>
            <a:off x="566928" y="5090160"/>
            <a:ext cx="53263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合理性檢核（示範 w = 19%）</a:t>
            </a:r>
            <a:endParaRPr lang="en-US" sz="1050" dirty="0"/>
          </a:p>
        </p:txBody>
      </p:sp>
      <p:pic>
        <p:nvPicPr>
          <p:cNvPr id="23" name="Image 4" descr="formula_imgs/che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28" y="5707656"/>
            <a:ext cx="5326380" cy="432265"/>
          </a:xfrm>
          <a:prstGeom prst="rect">
            <a:avLst/>
          </a:prstGeom>
        </p:spPr>
      </p:pic>
      <p:sp>
        <p:nvSpPr>
          <p:cNvPr id="24" name="Shape 17"/>
          <p:cNvSpPr/>
          <p:nvPr/>
        </p:nvSpPr>
        <p:spPr>
          <a:xfrm>
            <a:off x="6185916" y="4998720"/>
            <a:ext cx="5545836" cy="1539240"/>
          </a:xfrm>
          <a:prstGeom prst="roundRect">
            <a:avLst>
              <a:gd name="adj" fmla="val 3564"/>
            </a:avLst>
          </a:prstGeom>
          <a:solidFill>
            <a:srgbClr val="F4F6F9"/>
          </a:solidFill>
          <a:ln/>
        </p:spPr>
      </p:sp>
      <p:sp>
        <p:nvSpPr>
          <p:cNvPr id="25" name="Shape 18"/>
          <p:cNvSpPr/>
          <p:nvPr/>
        </p:nvSpPr>
        <p:spPr>
          <a:xfrm>
            <a:off x="6185916" y="4998720"/>
            <a:ext cx="5545836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26" name="Text 19"/>
          <p:cNvSpPr/>
          <p:nvPr/>
        </p:nvSpPr>
        <p:spPr>
          <a:xfrm>
            <a:off x="6295644" y="5090160"/>
            <a:ext cx="53263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相對夯實度（示範）</a:t>
            </a:r>
            <a:endParaRPr lang="en-US" sz="1050" dirty="0"/>
          </a:p>
        </p:txBody>
      </p:sp>
      <p:pic>
        <p:nvPicPr>
          <p:cNvPr id="27" name="Image 5" descr="formula_imgs/RC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95644" y="5606869"/>
            <a:ext cx="5326380" cy="633837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REVIEW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高頻陷阱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08676" cy="1417320"/>
          </a:xfrm>
          <a:prstGeom prst="roundRect">
            <a:avLst>
              <a:gd name="adj" fmla="val 5161"/>
            </a:avLst>
          </a:prstGeom>
          <a:solidFill>
            <a:srgbClr val="2A3F5A"/>
          </a:solidFill>
          <a:ln/>
        </p:spPr>
      </p:sp>
      <p:sp>
        <p:nvSpPr>
          <p:cNvPr id="5" name="Shape 3"/>
          <p:cNvSpPr/>
          <p:nvPr/>
        </p:nvSpPr>
        <p:spPr>
          <a:xfrm>
            <a:off x="749808" y="1874520"/>
            <a:ext cx="329184" cy="329184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18745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!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88720" y="1856232"/>
            <a:ext cx="45857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w 用百分比代入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49808" y="2377440"/>
            <a:ext cx="50063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γd = γ/(1+w) 與 ZAVC 的 w 都要用小數。代 16 而不是 0.16，γd 會小到離譜。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231636" y="1691640"/>
            <a:ext cx="5408676" cy="1417320"/>
          </a:xfrm>
          <a:prstGeom prst="roundRect">
            <a:avLst>
              <a:gd name="adj" fmla="val 5161"/>
            </a:avLst>
          </a:prstGeom>
          <a:solidFill>
            <a:srgbClr val="2A3F5A"/>
          </a:solidFill>
          <a:ln/>
        </p:spPr>
      </p:sp>
      <p:sp>
        <p:nvSpPr>
          <p:cNvPr id="10" name="Shape 8"/>
          <p:cNvSpPr/>
          <p:nvPr/>
        </p:nvSpPr>
        <p:spPr>
          <a:xfrm>
            <a:off x="6432804" y="1874520"/>
            <a:ext cx="329184" cy="329184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11" name="Text 9"/>
          <p:cNvSpPr/>
          <p:nvPr/>
        </p:nvSpPr>
        <p:spPr>
          <a:xfrm>
            <a:off x="6432804" y="18745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!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871716" y="1856232"/>
            <a:ext cx="45857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把 γ 當成 γd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432804" y="2377440"/>
            <a:ext cx="50063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題目表格常給濕土重或濕單位重，忘了除以 (1+w)，點就跑到 ZAVC 右上方。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383280"/>
            <a:ext cx="5408676" cy="1417320"/>
          </a:xfrm>
          <a:prstGeom prst="roundRect">
            <a:avLst>
              <a:gd name="adj" fmla="val 5161"/>
            </a:avLst>
          </a:prstGeom>
          <a:solidFill>
            <a:srgbClr val="2A3F5A"/>
          </a:solidFill>
          <a:ln/>
        </p:spPr>
      </p:sp>
      <p:sp>
        <p:nvSpPr>
          <p:cNvPr id="15" name="Shape 13"/>
          <p:cNvSpPr/>
          <p:nvPr/>
        </p:nvSpPr>
        <p:spPr>
          <a:xfrm>
            <a:off x="749808" y="3566160"/>
            <a:ext cx="329184" cy="329184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16" name="Text 14"/>
          <p:cNvSpPr/>
          <p:nvPr/>
        </p:nvSpPr>
        <p:spPr>
          <a:xfrm>
            <a:off x="749808" y="35661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!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88720" y="3547872"/>
            <a:ext cx="45857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以為曲線會碰到 ZAVC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749808" y="4069080"/>
            <a:ext cx="50063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夯實排不掉水、也排不光封閉氣泡；濕側大約停在 S ≈ 90～95%，與 ZAVC 平行。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231636" y="3383280"/>
            <a:ext cx="5408676" cy="1417320"/>
          </a:xfrm>
          <a:prstGeom prst="roundRect">
            <a:avLst>
              <a:gd name="adj" fmla="val 5161"/>
            </a:avLst>
          </a:prstGeom>
          <a:solidFill>
            <a:srgbClr val="2A3F5A"/>
          </a:solidFill>
          <a:ln/>
        </p:spPr>
      </p:sp>
      <p:sp>
        <p:nvSpPr>
          <p:cNvPr id="20" name="Shape 18"/>
          <p:cNvSpPr/>
          <p:nvPr/>
        </p:nvSpPr>
        <p:spPr>
          <a:xfrm>
            <a:off x="6432804" y="3566160"/>
            <a:ext cx="329184" cy="329184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21" name="Text 19"/>
          <p:cNvSpPr/>
          <p:nvPr/>
        </p:nvSpPr>
        <p:spPr>
          <a:xfrm>
            <a:off x="6432804" y="35661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!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871716" y="3547872"/>
            <a:ext cx="45857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wopt 當成土的固定性質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6432804" y="4069080"/>
            <a:ext cx="50063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wopt 與 γd,max 隨能量改變；能量增加時前者降、後者升，說明時要註明是哪一種試驗。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5074920"/>
            <a:ext cx="5408676" cy="1417320"/>
          </a:xfrm>
          <a:prstGeom prst="roundRect">
            <a:avLst>
              <a:gd name="adj" fmla="val 5161"/>
            </a:avLst>
          </a:prstGeom>
          <a:solidFill>
            <a:srgbClr val="2A3F5A"/>
          </a:solidFill>
          <a:ln/>
        </p:spPr>
      </p:sp>
      <p:sp>
        <p:nvSpPr>
          <p:cNvPr id="25" name="Shape 23"/>
          <p:cNvSpPr/>
          <p:nvPr/>
        </p:nvSpPr>
        <p:spPr>
          <a:xfrm>
            <a:off x="749808" y="5257800"/>
            <a:ext cx="329184" cy="329184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26" name="Text 24"/>
          <p:cNvSpPr/>
          <p:nvPr/>
        </p:nvSpPr>
        <p:spPr>
          <a:xfrm>
            <a:off x="749808" y="52578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!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188720" y="5239512"/>
            <a:ext cx="45857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把夯實和壓密混為一談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749808" y="5760720"/>
            <a:ext cx="50063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夯實：短時間衝擊、排出空氣。壓密：長時間載重、孔隙水滲流排出。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231636" y="5074920"/>
            <a:ext cx="5408676" cy="1417320"/>
          </a:xfrm>
          <a:prstGeom prst="roundRect">
            <a:avLst>
              <a:gd name="adj" fmla="val 5161"/>
            </a:avLst>
          </a:prstGeom>
          <a:solidFill>
            <a:srgbClr val="2A3F5A"/>
          </a:solidFill>
          <a:ln/>
        </p:spPr>
      </p:sp>
      <p:sp>
        <p:nvSpPr>
          <p:cNvPr id="30" name="Shape 28"/>
          <p:cNvSpPr/>
          <p:nvPr/>
        </p:nvSpPr>
        <p:spPr>
          <a:xfrm>
            <a:off x="6432804" y="5257800"/>
            <a:ext cx="329184" cy="329184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31" name="Text 29"/>
          <p:cNvSpPr/>
          <p:nvPr/>
        </p:nvSpPr>
        <p:spPr>
          <a:xfrm>
            <a:off x="6432804" y="52578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!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871716" y="5239512"/>
            <a:ext cx="45857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能量比值算太久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6432804" y="5760720"/>
            <a:ext cx="50063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N、V 相同時，比值只看 W、h、L 三個比例相乘，不必各自算出 E。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4937760"/>
            <a:ext cx="3108960" cy="3108960"/>
          </a:xfrm>
          <a:prstGeom prst="ellipse">
            <a:avLst/>
          </a:prstGeom>
          <a:solidFill>
            <a:srgbClr val="4C6B8A">
              <a:alpha val="3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82296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考前總複習｜重點回顧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2344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夯實曲線與夯實能量｜重點回顧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10881360" cy="877824"/>
          </a:xfrm>
          <a:prstGeom prst="roundRect">
            <a:avLst>
              <a:gd name="adj" fmla="val 6250"/>
            </a:avLst>
          </a:prstGeom>
          <a:solidFill>
            <a:srgbClr val="24384F"/>
          </a:solidFill>
          <a:ln/>
        </p:spPr>
      </p:sp>
      <p:sp>
        <p:nvSpPr>
          <p:cNvPr id="6" name="Shape 4"/>
          <p:cNvSpPr/>
          <p:nvPr/>
        </p:nvSpPr>
        <p:spPr>
          <a:xfrm>
            <a:off x="868680" y="2587752"/>
            <a:ext cx="274320" cy="274320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5877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280160" y="2286000"/>
            <a:ext cx="100584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鐘形來自兩個機制：乾側水是潤滑劑，濕側水是阻擋物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40080" y="3364992"/>
            <a:ext cx="10881360" cy="877824"/>
          </a:xfrm>
          <a:prstGeom prst="roundRect">
            <a:avLst>
              <a:gd name="adj" fmla="val 6250"/>
            </a:avLst>
          </a:prstGeom>
          <a:solidFill>
            <a:srgbClr val="24384F"/>
          </a:solidFill>
          <a:ln/>
        </p:spPr>
      </p:sp>
      <p:sp>
        <p:nvSpPr>
          <p:cNvPr id="10" name="Shape 8"/>
          <p:cNvSpPr/>
          <p:nvPr/>
        </p:nvSpPr>
        <p:spPr>
          <a:xfrm>
            <a:off x="868680" y="3666744"/>
            <a:ext cx="274320" cy="274320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36667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280160" y="3364992"/>
            <a:ext cx="100584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夯實只排氣不排水；空氣排光就是 ZAVC，γd = Gsγw/(1+wGs)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40080" y="4443984"/>
            <a:ext cx="10881360" cy="877824"/>
          </a:xfrm>
          <a:prstGeom prst="roundRect">
            <a:avLst>
              <a:gd name="adj" fmla="val 6250"/>
            </a:avLst>
          </a:prstGeom>
          <a:solidFill>
            <a:srgbClr val="24384F"/>
          </a:solidFill>
          <a:ln/>
        </p:spPr>
      </p:sp>
      <p:sp>
        <p:nvSpPr>
          <p:cNvPr id="14" name="Shape 12"/>
          <p:cNvSpPr/>
          <p:nvPr/>
        </p:nvSpPr>
        <p:spPr>
          <a:xfrm>
            <a:off x="868680" y="4745736"/>
            <a:ext cx="274320" cy="274320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47457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280160" y="4443984"/>
            <a:ext cx="100584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每算一點就比一次 ZAVC：超過上限，一定是計算或單位錯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40080" y="5522976"/>
            <a:ext cx="10881360" cy="877824"/>
          </a:xfrm>
          <a:prstGeom prst="roundRect">
            <a:avLst>
              <a:gd name="adj" fmla="val 6250"/>
            </a:avLst>
          </a:prstGeom>
          <a:solidFill>
            <a:srgbClr val="24384F"/>
          </a:solidFill>
          <a:ln/>
        </p:spPr>
      </p:sp>
      <p:sp>
        <p:nvSpPr>
          <p:cNvPr id="18" name="Shape 16"/>
          <p:cNvSpPr/>
          <p:nvPr/>
        </p:nvSpPr>
        <p:spPr>
          <a:xfrm>
            <a:off x="868680" y="5824728"/>
            <a:ext cx="274320" cy="274320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19" name="Text 17"/>
          <p:cNvSpPr/>
          <p:nvPr/>
        </p:nvSpPr>
        <p:spPr>
          <a:xfrm>
            <a:off x="868680" y="58247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280160" y="5522976"/>
            <a:ext cx="100584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E = WhNL/V；修正約為標準的 4.5 倍，曲線往左上移並平行 ZAVC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SM-U1-3 夯實曲線與夯實能量</dc:title>
  <dc:subject>PptxGenJS Presentation</dc:subject>
  <dc:creator>Gibsin 觀念講義</dc:creator>
  <cp:lastModifiedBy>Gibsin 觀念講義</cp:lastModifiedBy>
  <cp:revision>1</cp:revision>
  <dcterms:created xsi:type="dcterms:W3CDTF">2026-09-19T15:18:36Z</dcterms:created>
  <dcterms:modified xsi:type="dcterms:W3CDTF">2026-09-19T15:18:36Z</dcterms:modified>
</cp:coreProperties>
</file>