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SM-U1-3 · 大地工程｜觀念講義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土壤夯實與壓密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全篇只有一個對立關係：夯實趕「空氣」，壓密擠「水」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274320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壓密佔本單元 60% 以上題數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大地工程「土壤夯實與壓密」觀念講義｜原理 · 公式 · 向量圖解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一個總開關、一把萬用鑰匙、兩大運算主軸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總開關：夯實 vs 壓密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非飽和土排空氣、幾秒完成、屬能量問題；飽和土排水、需數月至數十年、屬滲流問題。這一刀切錯，後面全錯。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萬用鑰匙：Vs 永遠不變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體積變化 100% 來自孔隙。所有應變公式都是 ΔH/H0 = Δe/(1+e0)，分母永遠是初始狀態的 1+e0。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主軸一：夯實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鐘形曲線與 ZAVC、夯實能量 E、品管兩把尺（RC 與 Dr）、土方平衡以乾土重 Ws 守恆。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主軸二：壓密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先判土壤記憶（p0'、pc'、OCR）選 Case A/B/C 算沉陷量，再用 Tv = cv·t/Hdr² 算速率。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總開關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為什麼要先分邊？因為兩者排掉的東西根本不同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ig-1-master-swit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8848"/>
            <a:ext cx="6501384" cy="3734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夯實：非飽和土，把「空氣」趕出去。出力就有，幾秒鐘完成 —— 是能量問題。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壓密：飽和土，把「水」擠出去。出力沒用，只能等孔隙水壓消散 —— 是滲流問題。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看到填方、路基、夯實度、含水量 ⇒ 走夯實；看到黏土層、沉陷量、多久沉完 ⇒ 走壓密。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同一個載重作用在非飽和填土與飽和黏土上，完成時間差了六、七個數量級。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這一刀切錯，公式選錯、變數也選錯，整題不會有分。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萬用鑰匙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所有沉陷公式的起點：固體顆粒體積永遠不變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體積應變 —— 分母永遠是初始狀態的 1+e0</a:t>
            </a:r>
            <a:endParaRPr lang="en-US" sz="1300" dirty="0"/>
          </a:p>
        </p:txBody>
      </p:sp>
      <p:pic>
        <p:nvPicPr>
          <p:cNvPr id="7" name="Image 0" descr="formula_imgs/f_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4816" y="1847088"/>
            <a:ext cx="1955088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孔隙比 ⇄ 乾單位重（RC 與 Dr 的唯一橋樑）</a:t>
            </a:r>
            <a:endParaRPr lang="en-US" sz="1300" dirty="0"/>
          </a:p>
        </p:txBody>
      </p:sp>
      <p:pic>
        <p:nvPicPr>
          <p:cNvPr id="11" name="Image 1" descr="formula_imgs/f_g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778" y="2962656"/>
            <a:ext cx="2015163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含水量 ⇄ 飽和度（S=1 代入即得 ZAVC）</a:t>
            </a:r>
            <a:endParaRPr lang="en-US" sz="1300" dirty="0"/>
          </a:p>
        </p:txBody>
      </p:sp>
      <p:pic>
        <p:nvPicPr>
          <p:cNvPr id="15" name="Image 2" descr="formula_imgs/f_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54" y="4078224"/>
            <a:ext cx="1887612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 e-log p' 讀到的 Δe 換成沉陷量</a:t>
            </a:r>
            <a:endParaRPr lang="en-US" sz="1300" dirty="0"/>
          </a:p>
        </p:txBody>
      </p:sp>
      <p:pic>
        <p:nvPicPr>
          <p:cNvPr id="19" name="Image 3" descr="formula_imgs/f_s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1992" y="5193792"/>
            <a:ext cx="1620737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最高頻的自殺式錯誤是把分母寫成受壓後的 1+e。應變的定義是「相對於初始體積」，分母只能是初始值。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為什麼分母是 1+e0？把土切成「固體 1 份 + 孔隙 e 份」就看懂了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ig-2-master-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受壓過程中固體顆粒本身不可壓縮，Vs 從頭到尾不變。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 ΔV 全部來自孔隙：ΔV = ΔVv，而 V0 = Vs + Vv0 = 1 + e0。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夯實與壓密共用同一組三相關係式，題目給哪一個就從哪一個切入。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夯實（一）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夯實曲線的兩個關鍵量：ZAVC 與夯實能量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零空氣孔隙線 —— 純幾何上限，曲線永遠碰不到</a:t>
            </a:r>
            <a:endParaRPr lang="en-US" sz="1300" dirty="0"/>
          </a:p>
        </p:txBody>
      </p:sp>
      <p:pic>
        <p:nvPicPr>
          <p:cNvPr id="7" name="Image 0" descr="formula_imgs/f_za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46422"/>
            <a:ext cx="7772400" cy="12655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夯實能量 —— 錘重 × 落距 × 每層夯擊數 × 層數 ÷ 模體積</a:t>
            </a:r>
            <a:endParaRPr lang="en-US" sz="1300" dirty="0"/>
          </a:p>
        </p:txBody>
      </p:sp>
      <p:pic>
        <p:nvPicPr>
          <p:cNvPr id="11" name="Image 1" descr="formula_imgs/f_energ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240" y="4078224"/>
            <a:ext cx="5472240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ZAVC 是考場的合理性檢核尺：算出來的 γd 若超過同含水量下的 γzav，代表計算或單位出錯。標準 Proctor 約 594 kJ/m³、修正 Proctor 約 2695 kJ/m³，後者是前者的 4.5 倍。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物理機制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鐘形不是經驗規律 —— 水在乾側是潤滑劑，在濕側是阻擋物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ig-3-compaction-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乾側：水膜太薄，顆粒被摩擦鎖死；加水潤滑讓顆粒重排 ⇒ γd 上升。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濕側：水不可壓縮又來不及排掉，形成水墊把顆粒撐開 ⇒ γd 反而下降。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最佳含水量 wopt 就是兩個相反機制交會的峰值，不是某個材料常數。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夯擊是幾秒鐘的衝擊載重，排得掉空氣但排不掉水 —— 排水那是壓密的事。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物理機制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能量增加，曲線為什麼是往「左上」移而不是整條上移？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ig-4-compaction-ener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132" y="1892808"/>
            <a:ext cx="5742736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能量大 ⇒ 乾側的摩擦鎖死被更大的衝擊克服，故 γd,max 上升。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但更密的骨架代表孔隙更少，水墊效應提早發生，故 wopt 下降。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兩個效應是同一件事的兩面 —— 峰值連線大致平行於 ZAVC 並落在其左側。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現地機具的「能量」= 滾壓機重量 × 振動頻率 × 輾壓遍數 ÷ 鋪築層厚。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能量不是越大越好：超過最佳點會過度夯實、破壞顆粒，濕側還可能產生彈簧土。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夯實（二）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品管兩把尺：細粒土看 RC、粗粒土（砂）看 Dr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相對夯實度 —— 現地 γd 除以實驗室最大乾密度</a:t>
            </a:r>
            <a:endParaRPr lang="en-US" sz="1300" dirty="0"/>
          </a:p>
        </p:txBody>
      </p:sp>
      <p:pic>
        <p:nvPicPr>
          <p:cNvPr id="7" name="Image 0" descr="formula_imgs/f_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211" y="1847088"/>
            <a:ext cx="4390298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相對密度 —— 現地孔隙比在最鬆與最緊之間的百分位</a:t>
            </a:r>
            <a:endParaRPr lang="en-US" sz="1300" dirty="0"/>
          </a:p>
        </p:txBody>
      </p:sp>
      <p:pic>
        <p:nvPicPr>
          <p:cNvPr id="11" name="Image 1" descr="formula_imgs/f_d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610" y="3334512"/>
            <a:ext cx="5585500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兩者的唯一橋樑（百分比不可直接對接）</a:t>
            </a:r>
            <a:endParaRPr lang="en-US" sz="1300" dirty="0"/>
          </a:p>
        </p:txBody>
      </p:sp>
      <p:pic>
        <p:nvPicPr>
          <p:cNvPr id="15" name="Image 2" descr="formula_imgs/f_g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862" y="4821936"/>
            <a:ext cx="3380996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Dr 的零點是「最鬆狀態」，RC 的零點是 0。同一根砂在 Dr = 0 時 RC 已經約 77~80%，所以 RC 95% 與 Dr 95% 是完全不同的要求。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同一根土，兩把尺讀出來的數字差很多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ig-5-rc-vs-d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示範砂：emax = 0.85、emin = 0.42、現地 γd = 16.40 ⇒ e = 0.615。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同一根土：Dr = 55%，但 RC 已經是 88%。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要互換一定要繞回 γd = Gs·γw/(1+e)，絕不能直接把兩個百分比對接。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土方平衡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借土 → 運送 → 夯實，三個狀態唯一守恆的是什麼？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ig-6-earthwork-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47080"/>
            <a:ext cx="6501384" cy="3478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體積會變、含水量會變、單位重會變 —— 只有乾土重 Ws（固體顆粒重量）不變。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圖上三格的固體體積高度完全相同，這就是 Ws 守恆的幾何意義。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千萬不要用「體積守恆」或「總重守恆」列式，運送與夯實都會改變體積與含水量。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本例脹縮比 V借 / V填 = 1.117，代表要挖出比填方多 11.7% 的體積。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土方平衡題：三步一路到底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一切從「完成填方」倒推回去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題目給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填方 V 與 RC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γd,填 = RC × γd,max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0508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Ws = γd,填 · V填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（唯一守恆量）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問什麼？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82278" y="2779776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7" name="Text 15"/>
          <p:cNvSpPr/>
          <p:nvPr/>
        </p:nvSpPr>
        <p:spPr>
          <a:xfrm>
            <a:off x="9192006" y="2779776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問開挖量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V借 = Ws ÷ γd,借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082278" y="3232404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9" name="Text 17"/>
          <p:cNvSpPr/>
          <p:nvPr/>
        </p:nvSpPr>
        <p:spPr>
          <a:xfrm>
            <a:off x="9192006" y="3232404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問加水量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Ww = Ws(w目標 − w原)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借土 γd,借 由 e 或 w 反推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γd = Gsγw/(1+e)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水重 kN ÷ γw 換成 m³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966460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262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82278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082278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524369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222492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6350508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V借、Ww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（含脹縮比）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100566" y="4032504"/>
            <a:ext cx="2585466" cy="749808"/>
          </a:xfrm>
          <a:prstGeom prst="roundRect">
            <a:avLst>
              <a:gd name="adj" fmla="val 9756"/>
            </a:avLst>
          </a:prstGeom>
          <a:solidFill>
            <a:srgbClr val="DCE6F0"/>
          </a:solidFill>
          <a:ln w="15875">
            <a:solidFill>
              <a:srgbClr val="4C6B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83446" y="4032504"/>
            <a:ext cx="221970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鬆方體積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運送中的鬆方也用同一個 Ws 除以鬆方的 γd，不必另外設未知數。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三個必檢查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6" name="Text 34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守恆量選對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只有 Ws 守恆，不是體積也不是總重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γd 對應狀態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借土、鬆方、填方各有各的 γd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0" name="Text 38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水重換體積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 要除以 γw 才是 m³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壓密（一）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壓密題的第一步：算出黏土層中點的現況有效應力 p0'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ig-7-effective-str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132" y="1892808"/>
            <a:ext cx="5742736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一律取黏土層「中點深度」代表全層 —— 因為 e-log p' 是曲線，中點應力代表平均壓縮行為。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總應力逐層累加，孔隙水壓由地下水位起算，相減得有效應力。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等效做法：水位以下直接用浮單位重 γ' = γsat − γw，兩種寫法答案完全相同。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p0' = 36 + 38.76 + 15.38 = 90.1 kPa。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p0' 算錯，後面 Case A/B/C 一定判錯 —— 這是整題最不能省的一步。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壓密（一）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土壤的記憶：預壓密應力 pc' 與過壓密比 OCR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現況有效應力（取黏土層中點）</a:t>
            </a:r>
            <a:endParaRPr lang="en-US" sz="1300" dirty="0"/>
          </a:p>
        </p:txBody>
      </p:sp>
      <p:pic>
        <p:nvPicPr>
          <p:cNvPr id="7" name="Image 0" descr="formula_imgs/f_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8975" y="1847088"/>
            <a:ext cx="5826770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過壓密比 —— 只是 pc' 與 p0' 的比值</a:t>
            </a:r>
            <a:endParaRPr lang="en-US" sz="1300" dirty="0"/>
          </a:p>
        </p:txBody>
      </p:sp>
      <p:pic>
        <p:nvPicPr>
          <p:cNvPr id="11" name="Image 1" descr="formula_imgs/f_oc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354881"/>
            <a:ext cx="7772400" cy="87975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壓縮指數的定義；Cc 通常是 Cr 的 5~10 倍</a:t>
            </a:r>
            <a:endParaRPr lang="en-US" sz="1300" dirty="0"/>
          </a:p>
        </p:txBody>
      </p:sp>
      <p:pic>
        <p:nvPicPr>
          <p:cNvPr id="15" name="Image 2" descr="formula_imgs/f_c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466" y="4821936"/>
            <a:ext cx="7077788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pc' 是這層土在地質史上曾經承受過的最大有效應力，由 Casagrande 作圖法從 e-log p' 曲率最大點求得。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為什麼沉陷量會差好幾倍？因為土走的是兩條不同斜率的線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ig-8-e-log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67323"/>
            <a:ext cx="6501384" cy="36949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記憶內（p' ≤ pc'）：走再壓縮線 Cr，只是把先前被壓過的結構再壓一次，彈性為主、沉陷極小。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超過記憶（p' &gt; pc'）：走處女壓縮線 Cc，顆粒結構首次崩塌重排，不可回復、沉陷大得多。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Cc/Cr = 0.320/0.045 = 7.1 倍 —— 跨不跨越 pc' 的差別就在這裡。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壓密（二）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沉陷量三式：其實只是「走過哪幾段就加哪幾段」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A　正常壓密 NC（p0' = pc'）：全程走 Cc</a:t>
            </a:r>
            <a:endParaRPr lang="en-US" sz="1300" dirty="0"/>
          </a:p>
        </p:txBody>
      </p:sp>
      <p:pic>
        <p:nvPicPr>
          <p:cNvPr id="7" name="Image 0" descr="formula_imgs/f_cas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9762" y="1847088"/>
            <a:ext cx="3525196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B　過壓密、未跨越（p0'+Δσ ≤ pc'）：全程走 Cr</a:t>
            </a:r>
            <a:endParaRPr lang="en-US" sz="1300" dirty="0"/>
          </a:p>
        </p:txBody>
      </p:sp>
      <p:pic>
        <p:nvPicPr>
          <p:cNvPr id="11" name="Image 1" descr="formula_imgs/f_case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762" y="3334512"/>
            <a:ext cx="3525196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C　過壓密且跨越（p0'+Δσ &gt; pc'）：兩段相加</a:t>
            </a:r>
            <a:endParaRPr lang="en-US" sz="1300" dirty="0"/>
          </a:p>
        </p:txBody>
      </p:sp>
      <p:pic>
        <p:nvPicPr>
          <p:cNvPr id="15" name="Image 2" descr="formula_imgs/f_case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122" y="4821936"/>
            <a:ext cx="5654475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驗算技巧：Case C 的答案必定夾在「全套 Cc」與「全套 Cr」之間。本例 24.2 mm &lt; 86.9 mm &lt; 172.3 mm，一秒就能確認沒有算錯段。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核心圖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不必背三條公式 —— 把 p0'、pc'、pf' 排在對數軸上就分完了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ig-9-case-ab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131" y="1892808"/>
            <a:ext cx="6392738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先把三個應力點在同一條 log p' 軸上標出來，路徑走過 Cr 段就加 Cr 項、走過 Cc 段就加 Cc 項。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C 是歷屆最愛考的一型：只用一條公式算完全程，是本單元最高頻的扣分點。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C 的兩段分別用 log(pc'/p0') 與 log(pf'/pc')，不要重複計入中間那一段。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壓密沉陷題：從剖面圖到 Sc 的一條路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五步，每一步都有一個固定的陷阱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SM-U1-3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黏土層剖面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定中點深度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 = (top+bot)/2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 p0'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水位下用 γ'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載重型式？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7" name="Text 15"/>
          <p:cNvSpPr/>
          <p:nvPr/>
        </p:nvSpPr>
        <p:spPr>
          <a:xfrm>
            <a:off x="9763963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有限基礎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 = Q/[(B+z)(L+z)]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 從基底起算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54235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9" name="Text 17"/>
          <p:cNvSpPr/>
          <p:nvPr/>
        </p:nvSpPr>
        <p:spPr>
          <a:xfrm>
            <a:off x="9763963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大面積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 全深度不折減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 pc'、OCR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排對數軸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 Case A/B/C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代對應公式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（C 要兩段相加）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398203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398203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094476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078578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6" name="Text 34"/>
          <p:cNvSpPr/>
          <p:nvPr/>
        </p:nvSpPr>
        <p:spPr>
          <a:xfrm>
            <a:off x="5206594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Sc（mm）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84694" y="4032504"/>
            <a:ext cx="4301338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67574" y="4032504"/>
            <a:ext cx="39355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一秒驗算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C 的答案必定夾在全套 Cc 與全套 Cr 之間；不在區間內就是段落切錯了。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四個必檢查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2" name="Text 40"/>
          <p:cNvSpPr/>
          <p:nvPr/>
        </p:nvSpPr>
        <p:spPr>
          <a:xfrm>
            <a:off x="950976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中點深度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不是層頂、不是層底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1299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4" name="Text 42"/>
          <p:cNvSpPr/>
          <p:nvPr/>
        </p:nvSpPr>
        <p:spPr>
          <a:xfrm>
            <a:off x="3632454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浮單位重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水位以下用 γ' = γsat − γw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094476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6" name="Text 44"/>
          <p:cNvSpPr/>
          <p:nvPr/>
        </p:nvSpPr>
        <p:spPr>
          <a:xfrm>
            <a:off x="6313932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2:1 的 z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從基礎底面起算，不是地表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77595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8" name="Text 46"/>
          <p:cNvSpPr/>
          <p:nvPr/>
        </p:nvSpPr>
        <p:spPr>
          <a:xfrm>
            <a:off x="8995410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分母 1+e0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初始孔隙比，不是壓後的 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壓密（三）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應力增量 Δσ：先判斷是「有限基礎」還是「大面積」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有限尺寸基礎 —— 2:1 應力傳佈法（會擴散、會折減）</a:t>
            </a:r>
            <a:endParaRPr lang="en-US" sz="1300" dirty="0"/>
          </a:p>
        </p:txBody>
      </p:sp>
      <p:pic>
        <p:nvPicPr>
          <p:cNvPr id="7" name="Image 0" descr="formula_imgs/f_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36045"/>
            <a:ext cx="7772400" cy="108629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大面積均布載重 —— 全深度完全不折減</a:t>
            </a:r>
            <a:endParaRPr lang="en-US" sz="1300" dirty="0"/>
          </a:p>
        </p:txBody>
      </p:sp>
      <p:pic>
        <p:nvPicPr>
          <p:cNvPr id="11" name="Image 1" descr="formula_imgs/f_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4336396"/>
            <a:ext cx="7772400" cy="11478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2:1 法的 z 從基礎底面起算（不是地表），這是最常見的計算失誤。預壓覆土、大範圍回填、地下水位下降都屬於大面積載重。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同樣是外加載重，深度效應可以差一個數量級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ig-10-delta-sig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8848"/>
            <a:ext cx="6501384" cy="3734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有限基礎：應力錐往下擴散，中點的 Δσ 只剩 14.9 kPa。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大面積：載重面積遠大於影響深度，應力無處可擴散，中點仍是 80 kPa。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水位下降也算大面積 —— 它讓全深度的有效應力同時增加，不折減。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判錯載重型式，沉陷量就會錯一個數量級，而且往往連 Case 都跟著判錯。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壓密（四）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壓密速率：最貴的一句話是「排水路徑必帶平方」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無因次時間因數</a:t>
            </a:r>
            <a:endParaRPr lang="en-US" sz="1300" dirty="0"/>
          </a:p>
        </p:txBody>
      </p:sp>
      <p:pic>
        <p:nvPicPr>
          <p:cNvPr id="7" name="Image 0" descr="formula_imgs/f_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3691" y="1847088"/>
            <a:ext cx="957337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排水路徑判斷（判錯差 4 倍）</a:t>
            </a:r>
            <a:endParaRPr lang="en-US" sz="1300" dirty="0"/>
          </a:p>
        </p:txBody>
      </p:sp>
      <p:pic>
        <p:nvPicPr>
          <p:cNvPr id="11" name="Image 1" descr="formula_imgs/f_hd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551" y="2962656"/>
            <a:ext cx="7141619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壓密度 U 小於 60% —— 拋物線近似</a:t>
            </a:r>
            <a:endParaRPr lang="en-US" sz="1300" dirty="0"/>
          </a:p>
        </p:txBody>
      </p:sp>
      <p:pic>
        <p:nvPicPr>
          <p:cNvPr id="15" name="Image 2" descr="formula_imgs/f_u60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001" y="4078224"/>
            <a:ext cx="3406718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壓密度 U 大於等於 60% —— 對數近似</a:t>
            </a:r>
            <a:endParaRPr lang="en-US" sz="1300" dirty="0"/>
          </a:p>
        </p:txBody>
      </p:sp>
      <p:pic>
        <p:nvPicPr>
          <p:cNvPr id="19" name="Image 3" descr="formula_imgs/f_u60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5199234"/>
            <a:ext cx="7772400" cy="53775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實驗室試體通常是雙面排水。換算現場時，要先用實驗室的 Hdr 反推材料參數 cv，再代入現場的 Hdr 算時間。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核心圖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雙面還是單面？判錯的代價是時間差 4 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ig-11-drainage-p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判斷只看黏土層的上下邊界：兩側都透水 ⇒ 雙面，Hdr = H/2。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有一側是岩盤、不透水層或對稱面 ⇒ 單面，Hdr = H。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H = 4 m、cv = 3.15 m²/yr：雙面 U=90% 要 1.08 年，單面要 4.30 年。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因為 Hdr 帶平方，路徑加倍時間就變 4 倍 —— 這是本單元 CP 值最高的一個判斷。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U 與 Tv 的兩段近似式，以及為什麼壓密末期「等不起」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ig-12-u-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 &lt; 60% 走拋物線近似、U ≥ 60% 走對數近似；兩式在 60% 幾乎重合（0.283 vs 0.286），切換不會跳階。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已知 U 求 t ⇒ 先看 U 有沒有過 60%；已知 t 求 U ⇒ 先算 Tv 再看有沒有過 0.286。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 90% 走到 95% 要 1.42 年，比從 0 走到 50% 的 1.00 年還久 —— 末期梯度小、滲流極慢。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所以工程上不會等 U = 100%，而是用超載預壓把目標 U 拉低。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工法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超載預壓：不是把土變快，而是把「目標壓密度」降下來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sm13-fig-13-prelo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67323"/>
            <a:ext cx="6501384" cy="369495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預壓沒有改變 cv、沒有改變 Hdr、也沒有改變 k —— 土的性質一點都沒動。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加大載重讓最終沉陷 Scf &gt; Sc，於是目標壓密度只要 U = Sc/Scf 就夠。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 Δσ 由 80 提高到 125 kPa：U 只需 58%，工期從 4.30 年縮到 1.33 年，省下 69%。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若要真的改變排水路徑，那要靠排水砂樁或塑膠排水帶（徑向排水），與超載是兩件事。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KNOWLEDGE CARD · 對照表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夯實 vs 壓密：六個維度一次分清</a:t>
            </a:r>
            <a:endParaRPr lang="en-US" sz="2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3891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比較項目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夯實 Compaction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壓密 Consolidation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排掉的是什麼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空氣（非飽和土，S &lt; 100%）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水（飽和土，S = 100%）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完成時間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幾秒鐘～數分鐘（瞬時）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數月～數十年（時間相依）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物理本質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能量問題：出力就有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滲流問題：只能等 u 消散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控制變數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含水量 w、夯實能量 E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cv、排水路徑 Hdr、應力歷史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核心公式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γd = Gsγw/(1+e)；γzav；E = WhNL/V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Sc = CH/(1+e0)·log(·)；Tv = cv·t/Hdr²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品管／驗收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RC（細粒土）、Dr（粗粒土）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沉陷觀測、孔隙水壓計、預壓卸載時機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典型工程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路基、填方、堤防、回填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軟弱黏土地盤、大面積填土、預壓工法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OVERVIEW · 考場 30 秒分流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進考場的第一個動作：先分邊，再選主軸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掃題目關鍵字：填方／路基／夯實度／含水量　vs　黏土層／沉陷量／多久沉完／預壓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排掉的是空氣，還是水？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空氣 · 夯實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4809744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45537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題目要 γd、w 還是 E？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品管題：細粒土 RC ／ 粗粒土 Dr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土方題：一律用乾土重 Ws 守恆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 · 壓密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355848"/>
            <a:ext cx="4809744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3355848"/>
            <a:ext cx="45537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沉多少：中點 → p0' → Δσ → 排軸 → Case A/B/C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要多久：圈上下邊界定 Hdr → Tv → U 過 60% 換式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等太久：超載預壓把目標 U 拉低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27832" y="4745736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93608" y="4745736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5001768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001768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兩條支線合起來，就能回答「最終沉陷多少、什麼時候沉完、要不要預壓」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6099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兩邊雖然分流，但共用同一把萬用鑰匙：Vs 不變、ΔH/H0 = Δe/(1+e0)、γd = Gsγw/(1+e)。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考前速查（一）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萬用鑰匙與夯實主軸｜公式速查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萬用鑰匙 · 體積應變</a:t>
            </a:r>
            <a:endParaRPr lang="en-US" sz="1050" dirty="0"/>
          </a:p>
        </p:txBody>
      </p:sp>
      <p:pic>
        <p:nvPicPr>
          <p:cNvPr id="7" name="Image 0" descr="formula_imgs/f_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498" y="1938528"/>
            <a:ext cx="2321668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三相 · 乾單位重</a:t>
            </a:r>
            <a:endParaRPr lang="en-US" sz="1050" dirty="0"/>
          </a:p>
        </p:txBody>
      </p:sp>
      <p:pic>
        <p:nvPicPr>
          <p:cNvPr id="11" name="Image 1" descr="formula_imgs/f_g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973" y="1938528"/>
            <a:ext cx="2393007" cy="6515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三相 · 飽和度</a:t>
            </a:r>
            <a:endParaRPr lang="en-US" sz="1050" dirty="0"/>
          </a:p>
        </p:txBody>
      </p:sp>
      <p:pic>
        <p:nvPicPr>
          <p:cNvPr id="15" name="Image 2" descr="formula_imgs/f_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851" y="1938528"/>
            <a:ext cx="2241539" cy="65151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沉陷量 · 由 Δe 換算</a:t>
            </a:r>
            <a:endParaRPr lang="en-US" sz="1050" dirty="0"/>
          </a:p>
        </p:txBody>
      </p:sp>
      <p:pic>
        <p:nvPicPr>
          <p:cNvPr id="19" name="Image 3" descr="formula_imgs/f_s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3020" y="3230118"/>
            <a:ext cx="1924625" cy="65151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夯實 · 零空氣孔隙線</a:t>
            </a:r>
            <a:endParaRPr lang="en-US" sz="1050" dirty="0"/>
          </a:p>
        </p:txBody>
      </p:sp>
      <p:pic>
        <p:nvPicPr>
          <p:cNvPr id="23" name="Image 4" descr="formula_imgs/f_zav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6072" y="3277702"/>
            <a:ext cx="3416808" cy="556341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84607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84607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93751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夯實 · 夯實能量</a:t>
            </a:r>
            <a:endParaRPr lang="en-US" sz="1050" dirty="0"/>
          </a:p>
        </p:txBody>
      </p:sp>
      <p:pic>
        <p:nvPicPr>
          <p:cNvPr id="27" name="Image 5" descr="formula_imgs/f_energ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474" y="3230118"/>
            <a:ext cx="2142292" cy="65151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品管 · 相對夯實度</a:t>
            </a:r>
            <a:endParaRPr lang="en-US" sz="1050" dirty="0"/>
          </a:p>
        </p:txBody>
      </p:sp>
      <p:pic>
        <p:nvPicPr>
          <p:cNvPr id="31" name="Image 6" descr="formula_imgs/f_rc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646" y="4521708"/>
            <a:ext cx="3107371" cy="65151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品管 · 相對密度</a:t>
            </a:r>
            <a:endParaRPr lang="en-US" sz="1050" dirty="0"/>
          </a:p>
        </p:txBody>
      </p:sp>
      <p:pic>
        <p:nvPicPr>
          <p:cNvPr id="35" name="Image 7" descr="formula_imgs/f_d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072" y="4565916"/>
            <a:ext cx="3416808" cy="563093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413766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413766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422910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土方 · 乾土重守恆</a:t>
            </a:r>
            <a:endParaRPr lang="en-US" sz="1050" dirty="0"/>
          </a:p>
        </p:txBody>
      </p:sp>
      <p:pic>
        <p:nvPicPr>
          <p:cNvPr id="39" name="Image 8" descr="formula_imgs/f_w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05216" y="4678207"/>
            <a:ext cx="3416808" cy="33851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5429250"/>
            <a:ext cx="3636264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542925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552069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土方 · 加水量</a:t>
            </a:r>
            <a:endParaRPr lang="en-US" sz="1050" dirty="0"/>
          </a:p>
        </p:txBody>
      </p:sp>
      <p:pic>
        <p:nvPicPr>
          <p:cNvPr id="43" name="Image 9" descr="formula_imgs/f_wat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5905743"/>
            <a:ext cx="3416808" cy="46662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考前速查（二）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壓密主軸｜沉陷量與速率公式速查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 · 現況有效應力</a:t>
            </a:r>
            <a:endParaRPr lang="en-US" sz="1050" dirty="0"/>
          </a:p>
        </p:txBody>
      </p:sp>
      <p:pic>
        <p:nvPicPr>
          <p:cNvPr id="7" name="Image 0" descr="formula_imgs/f_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873" y="1938528"/>
            <a:ext cx="2488918" cy="3931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276344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4276344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4386072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 · 過壓密比</a:t>
            </a:r>
            <a:endParaRPr lang="en-US" sz="1050" dirty="0"/>
          </a:p>
        </p:txBody>
      </p:sp>
      <p:pic>
        <p:nvPicPr>
          <p:cNvPr id="11" name="Image 1" descr="formula_imgs/f_oc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072" y="1941750"/>
            <a:ext cx="3416808" cy="3867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95488" y="1554480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8095488" y="1554480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05216" y="1645920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 · 壓縮指數</a:t>
            </a:r>
            <a:endParaRPr lang="en-US" sz="1050" dirty="0"/>
          </a:p>
        </p:txBody>
      </p:sp>
      <p:pic>
        <p:nvPicPr>
          <p:cNvPr id="15" name="Image 2" descr="formula_imgs/f_c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973" y="1938528"/>
            <a:ext cx="3023294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57200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566928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A · 正常壓密</a:t>
            </a:r>
            <a:endParaRPr lang="en-US" sz="1050" dirty="0"/>
          </a:p>
        </p:txBody>
      </p:sp>
      <p:pic>
        <p:nvPicPr>
          <p:cNvPr id="19" name="Image 3" descr="formula_imgs/f_case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2434" y="2971800"/>
            <a:ext cx="1505796" cy="39319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276344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276344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4386072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B · 未跨越 pc'</a:t>
            </a:r>
            <a:endParaRPr lang="en-US" sz="1050" dirty="0"/>
          </a:p>
        </p:txBody>
      </p:sp>
      <p:pic>
        <p:nvPicPr>
          <p:cNvPr id="23" name="Image 4" descr="formula_imgs/f_case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1578" y="2971800"/>
            <a:ext cx="1505796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095488" y="2587752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8095488" y="2587752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8205216" y="2679192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C · 跨越 pc'（兩段相加）</a:t>
            </a:r>
            <a:endParaRPr lang="en-US" sz="1050" dirty="0"/>
          </a:p>
        </p:txBody>
      </p:sp>
      <p:pic>
        <p:nvPicPr>
          <p:cNvPr id="27" name="Image 5" descr="formula_imgs/f_caseC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959" y="2971800"/>
            <a:ext cx="2415322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457200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566928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 · 2:1 應力傳佈</a:t>
            </a:r>
            <a:endParaRPr lang="en-US" sz="1050" dirty="0"/>
          </a:p>
        </p:txBody>
      </p:sp>
      <p:pic>
        <p:nvPicPr>
          <p:cNvPr id="31" name="Image 6" descr="formula_imgs/f_21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93" y="4005072"/>
            <a:ext cx="2813277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4276344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4276344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4386072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Δσ · 大面積不折減</a:t>
            </a:r>
            <a:endParaRPr lang="en-US" sz="1050" dirty="0"/>
          </a:p>
        </p:txBody>
      </p:sp>
      <p:pic>
        <p:nvPicPr>
          <p:cNvPr id="35" name="Image 7" descr="formula_imgs/f_wid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3288" y="4005072"/>
            <a:ext cx="2662376" cy="39319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8095488" y="3621024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8095488" y="3621024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8205216" y="3712464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速率 · 時間因數</a:t>
            </a:r>
            <a:endParaRPr lang="en-US" sz="1050" dirty="0"/>
          </a:p>
        </p:txBody>
      </p:sp>
      <p:pic>
        <p:nvPicPr>
          <p:cNvPr id="39" name="Image 8" descr="formula_imgs/f_tv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0574" y="4005072"/>
            <a:ext cx="686092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457200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457200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566928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速率 · 排水路徑</a:t>
            </a:r>
            <a:endParaRPr lang="en-US" sz="1050" dirty="0"/>
          </a:p>
        </p:txBody>
      </p:sp>
      <p:pic>
        <p:nvPicPr>
          <p:cNvPr id="43" name="Image 9" descr="formula_imgs/f_hd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6928" y="5103695"/>
            <a:ext cx="3416808" cy="262489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4276344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4276344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4386072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速率 · U 小於 60%</a:t>
            </a:r>
            <a:endParaRPr lang="en-US" sz="1050" dirty="0"/>
          </a:p>
        </p:txBody>
      </p:sp>
      <p:pic>
        <p:nvPicPr>
          <p:cNvPr id="47" name="Image 10" descr="formula_imgs/f_u60a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3735" y="5038344"/>
            <a:ext cx="2441481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8095488" y="4654296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8095488" y="4654296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8205216" y="4745736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速率 · U 大於等於 60%</a:t>
            </a:r>
            <a:endParaRPr lang="en-US" sz="1050" dirty="0"/>
          </a:p>
        </p:txBody>
      </p:sp>
      <p:pic>
        <p:nvPicPr>
          <p:cNvPr id="51" name="Image 11" descr="formula_imgs/f_u60b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5216" y="5116739"/>
            <a:ext cx="3416808" cy="23640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速率 · 時間比（Hdr 平方）</a:t>
            </a:r>
            <a:endParaRPr lang="en-US" sz="1050" dirty="0"/>
          </a:p>
        </p:txBody>
      </p:sp>
      <p:pic>
        <p:nvPicPr>
          <p:cNvPr id="55" name="Image 12" descr="formula_imgs/f_tratio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76023" y="6071616"/>
            <a:ext cx="998618" cy="39319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4276344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4276344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4386072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參數 · cv 與體積壓縮係數</a:t>
            </a:r>
            <a:endParaRPr lang="en-US" sz="1050" dirty="0"/>
          </a:p>
        </p:txBody>
      </p:sp>
      <p:pic>
        <p:nvPicPr>
          <p:cNvPr id="59" name="Image 13" descr="formula_imgs/f_cv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671910" y="6071616"/>
            <a:ext cx="2845133" cy="393192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8095488" y="5687568"/>
            <a:ext cx="3636264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8095488" y="5687568"/>
            <a:ext cx="3636264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8205216" y="5779008"/>
            <a:ext cx="3416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預壓 · 目標壓密度</a:t>
            </a:r>
            <a:endParaRPr lang="en-US" sz="1050" dirty="0"/>
          </a:p>
        </p:txBody>
      </p:sp>
      <p:pic>
        <p:nvPicPr>
          <p:cNvPr id="63" name="Image 14" descr="formula_imgs/f_pr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18601" y="6071616"/>
            <a:ext cx="2590038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高頻陷阱精選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分母寫成 1+e 而不是 1+e0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應變的定義是「相對於初始體積」。無論是夯實還是壓密、無論用 Δe 還是 ΔH，分母一律是初始狀態的 1+e0。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Dr 與 RC 的百分比直接對接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兩把尺的零點不同：同一根砂在 Dr = 0 時 RC 已經約 77~80%。互換只能繞回 γd = Gsγw/(1+e)。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土方題用「體積守恆」或「總重守恆」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運送與夯實都會改變體積與含水量，唯一守恆的是乾土重 Ws。先由完成填方算 Ws，再回推借土體積與加水量。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2:1 法的 z 從地表起算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 必須從「基礎底面」起算。若基礎埋深 Df = 1.5 m、黏土中點在地表下 8 m，代入的是 6.5 m 而不是 8 m。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Case C 只用一條公式算完全程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跨越 pc' 時前半段走 Cr、後半段走 Cc，兩段必須相加。驗算：答案必定夾在全套 Cc 與全套 Cr 之間。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單面／雙面排水判錯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Tv = cv·t/Hdr² 的 Hdr 帶平方，判錯時間直接差 4 倍。實驗室數據換算現場，要先用實驗室 Hdr 反推 cv 再代現場 Hdr。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土壤夯實與壓密｜重點回顧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0792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07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一個總開關：夯實趕空氣（能量問題，幾秒）、壓密擠水（滲流問題，數月至數十年）。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05328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127248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005328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一把萬用鑰匙：固體體積 Vs 永遠不變，所有應變都是 Δe/(1+e0)，分母只能是初始值。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24656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384657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846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724656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夯實三件事：鐘形曲線與 ZAVC 上限、能量 E 讓曲線往左上移、品管分 RC 與 Dr；土方題用 Ws 守恆。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443984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56590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65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443984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壓密沉陷量：中點 → p0' → Δσ（有限基礎 2:1／大面積不折減）→ 排對數軸 → Case A/B/C。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163312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285232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85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163312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壓密速率：Tv = cv·t/Hdr²，Hdr 必帶平方；U 過 60% 換公式；預壓工法是把目標 U 降下來。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5882640"/>
            <a:ext cx="10881360" cy="518160"/>
          </a:xfrm>
          <a:prstGeom prst="roundRect">
            <a:avLst>
              <a:gd name="adj" fmla="val 10588"/>
            </a:avLst>
          </a:prstGeom>
          <a:solidFill>
            <a:srgbClr val="24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" y="600456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600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80160" y="5882640"/>
            <a:ext cx="10058400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建議從 SM-2025-1（觀念鏈題）與 SM-2003-2（Case C 雙段式經典題）開始動筆。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考前總複習</dc:creator>
  <cp:lastModifiedBy>考前總複習</cp:lastModifiedBy>
  <cp:revision>1</cp:revision>
  <dcterms:created xsi:type="dcterms:W3CDTF">2026-09-14T23:18:42Z</dcterms:created>
  <dcterms:modified xsi:type="dcterms:W3CDTF">2026-09-14T23:18:42Z</dcterms:modified>
</cp:coreProperties>
</file>