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這個子項有兩個極端的數字：題數十七題，在已盤點的單元裡最多；而供給率百分之十三，十五個有題年份裡有十三年什麼都不給。題最多、給最少——這就是它該優先投入背誦資源的理由。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十六條紅、三條橘、兩條綠。兩條綠色是懸臂樁四次方程的係數跟由 N 值估不排水強度，這兩條不值得背，因為要嘛整組印給你、要嘛改問簡化法。真正的重點在紅色那十六條，特別是 Peck 三型包絡線。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如果只能記住一句：Peck 三型視土壓力包絡線，三題四十分以上，二十四年零供給、連圖形都沒有給過。這是全站「不背就直接零分」最明確的一項。另外提醒一件事：一百零六年那題印了管湧式、隆起式跟由 N 值估強度，唯獨漏掉上舉式，而上舉那兩小題佔十五分，算出來安全係數零點四六，是全題唯一不及格的一項。印了三條就以為安全，是本單元最危險的心態。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十一條公式歸成六個家族。第一個是土壓力，它是所有擋土題的燃料。第二個是擋土結構本身，七條最多。第三跟第四個是兩種地層破壞：基盤隆起，還有水的三種攻擊。第五個是反算與對策，本單元三題都是這種收尾。最後一個是流程骨架，決定你有沒有走對整題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開題三十秒，先數剖面圖上有幾根橫桿。零根就是懸臂式，走淨壓力法、對樁尖取矩；一根就是自由端或固定端支撐法，對地錨取矩解貫入深度；多根就是 Peck 視土壓力，要先算穩定數判型再畫包絡線。數完橫桿再問兩件事：開挖面以下是砂還是黏土、有沒有水位或受壓層。這三十秒就決定了整題要走哪一條路。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三種形狀請直接背下來。砂是矩形，全高等值零點六五 gamma H Ka。軟至中等黏土是零到零點二五 H 斜升，之後滿載到底，值取 gamma H 減四倍不排水強度、與零點三 gamma H 的較大者。硬黏土是上下各切零點二五 H 的梯形。判型靠穩定數 gamma H 除以不排水強度：小於等於四走硬黏土型，大於四走軟至中等黏土型。層狀土要先算等值單位重跟等值強度，砂層的等值強度用二分之一 gamma s Hs Ks tan phi s 換算。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第一張回想卡。Rankine 的主動與被動土壓力係數怎麼寫？還有，水位以下的土壓力跟水壓力要怎麼處理？提示：phi 等於三十度時，這兩個係數是一組好記的數，相差九倍。按暫停。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答案：主動土壓力係數等於一減 sin phi 除以一加 sin phi，被動是它的倒數。phi 等於三十度時是三分之一跟三，差九倍，這組數拿來檢查代錯沒有最快。水位以下最常犯的錯有兩個方向：砂土走有效應力法，土壓要乘有效單位重、水壓全額另加，因為水的側壓力係數恆為一；而黏土走總應力法時，孔隙水壓已經內含在垂直總應力裡，不可以再加一次水壓，加了就是重複計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第二張回想卡。版樁貫入 phi 等於零的黏土層，開挖面以下的淨被動土壓力是多少？而且它的否定形式代表什麼？提示：答案是一個跟深度無關的常數，只有兩項。按暫停。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答案是四倍不排水強度減 gamma H。怎麼來的？被動側是 gamma z prime 加二倍不排水強度，主動側是 gamma s H 加 gamma z prime 減二倍不排水強度，兩者相減時 gamma z prime 完全抵銷，所以淨值跟深度無關，是一個定值矩形。否定形式更值錢：當四倍不排水強度小於等於 gamma H 的時候，淨被動小於等於零，再插深也不會增加抵抗，只能靠地盤改良或降低驅動。而且注意，這個門檻跟穩定數等於四是同一件事。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橘線是主動側、藍線是被動側，兩條的斜率一模一樣，都是黏土的單位重。斜率相同，相減之後深度項就消失了，所以淨值是一個定值。這件事的實際意義是：畫版樁的淨壓力圖時，黏土層那一段是矩形而不是三角形。形狀畫對了，後面才算得下去。九十四年、一百零三年、一百零九年三年都是第一小題就要畫這張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第三張回想卡，也是全片最重要的一張。多支撐開挖的 Peck 三型包絡線，三個形狀跟三條式子各是什麼？用什麼判斷該用哪一型？提示：這一題三年考過四十分以上，二十四年零供給，連圖形都沒有給過。按暫停，把三個形狀都畫出來。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型靠穩定數：小於等於四走硬黏土型，大於四走軟至中等黏土型。三個形狀這樣記：砂是整片矩形，軟黏土是上面缺一角，硬黏土是上下各缺一角。還有一句話寫出來會加分：視土壓力是反算出來的等值分布，不是真實的土壓力分布。它之所以是梯形而不是三角形，是因為多支撐開挖的變形形態是上面被撐住、中間鼓出，跟擋土牆的懸臂變形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第四張回想卡。有了包絡線之後，每一排支撐承受多少荷重？還有，層狀土的等值參數怎麼算？提示：支撐荷重用鉸接法，把每一排上下的半跨面積算給它。按暫停。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鉸接法的假設是：把擋土壁在每一排支撐處視為鉸接，於是每一排支撐分到的荷重，就是它上下各半跨的包絡線面積。最上一排要算到地表，最下一排要算到開挖面。算出單位寬度的荷重之後，一定要再乘上支撐的水平間距，才是單根支撐的荷重——漏掉這一步是一百年那題最常見的錯。最後用最大彎矩除以容許應力得到所需斷面模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第五張回想卡。自由端支撐法的解題順序是什麼？先解貫入深度還是先解地錨力？固定端的 Blum 等值梁法又怎麼做？提示：順序反了就多一個未知數。九十四年跟一百零三年共四十分，零供給。按暫停。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在順序。對地錨處取矩的時候，地錨力的力臂是零，會自動消掉，方程式裡只剩貫入深度一個未知數；解出來之後再用水平力平衡解地錨力。如果先寫水平力平衡，兩個未知數同時在，就解不動了。解出理論貫入深度之後，設計值要放大一點二到一點四倍。固定端的 Blum 等值梁法差別只在多了一個切點：在反曲點切開，上段當簡支梁解地錨力、下段解貫入深度。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剖面，零根橫桿就是懸臂式。右邊是淨壓力圖：開挖面以上是單純的主動三角形；開挖面以下，被動側開始長大並且反超，兩者相等的那一點就是零淨壓力點，它是整張圖的轉折，也是取矩的分界。一百零九年改問簡化法，以土壓力對樁尖取矩，不必解四次方程；一百一十一年則整組給了四次方程的係數。委員的策略很清楚：要嘛給你完整式，要嘛改問簡化法，不會要你硬背那四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第六張回想卡。貫入深度的安全係數有兩種施加方式，各是什麼？兩種算出來的貫入深度會一樣嗎？提示：一種放在力矩比上，一種放在強度參數上。按暫停。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種是先用未折減的被動土壓力係數算出力矩，再取比值當安全係數，這是驗算既有設計的作法。第二種是先把被動土壓力係數除以安全係數得到折減後的設計值，再解貫入深度，這是直接設計的作法，算出來的深度較大、較保守。兩者不等價，因為力矩跟深度是非線性關係。答題時一定要在旁邊寫明本題安全係數施加於哪裡，閱卷才知道你是有意識地選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第七張回想卡。抗基盤隆起的安全係數怎麼寫？承載力因數該用二維的 pi 加二，還是三維的 Bjerrum-Eide？還有超載放在分子還是分母？提示：判斷用哪一個因數，只要看題目有沒有給開挖面的寬乘長。按暫停。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分母是驅動，也就是 gamma H 加超載；分子是抵抗，也就是承載力因數乘不排水強度。超載一定放在分母，放錯邊安全係數會偏高，而且看起來很正常。二維的承載力因數 pi 加二約等於五點一四，那是無限長溝渠的解；實際開挖是有限長方形，兩端有額外的側向抵抗，所以三維的因數明顯較大，落在七到八點四之間。用二維算是保守的，但題目給了寬跟長卻不用三維，等於漏掉題目給的條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圖是機構：牆外的土重往下壓，土從牆底繞過去，把牆內的土推起來。抵抗來自破壞面上的不排水剪力強度，以及牆的貫入深度延長了破壞路徑。右圖顯示三維承載力因數隨寬長比上升，開挖面越接近正方形，側向抵抗的貢獻越大。注意就算寬長比等於零，三維式仍然是七，還是大於二維的五點一四，因為三維式裡還含深度效應。對策的方向也由這張圖決定：要嘛降驅動、要嘛升抵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第八張回想卡。砂湧、管湧、上舉，三種安全係數式各是什麼？還有哪一種插得再深也沒有用？提示：一百零六年那題印了其中兩種，唯獨漏掉第三種，而那兩小題佔十五分，算出來安全係數零點四六。按暫停。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砂湧跟管湧都跟滲流有關：水繞過擋土壁往上流，出口處的水力坡降超過臨界值就把砂粒帶起來。加深貫入會讓滲流路徑變長、出口坡降下降、安全係數上升，所以插深有效。上舉完全不同：不透水盤下方是受壓水層，靠的是盤本身的重量去對抗下方水壓，跟滲流無關，所以插深救不了，只能降水或保留厚度。這是三者中唯一插深無效的一種，而一百零六年漏給的正是這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砂湧是水繞過壁底往上流，出口坡降等於總水頭差除以滲流路徑長度，加深貫入使路徑變長，所以有效。特別注意最高流線的路徑長度怎麼算：外側下行加內側上行，一百零六年連這一步都沒給。上舉是受壓含水層的水壓把上方整塊不透水盤頂起來，與滲流無關，插深無效。管湧是細粒沿壁面被帶走逐漸形成管道，是突發性破壞，通常沒有前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最後一張回想卡。題目問地層改良後應達多少強度、水位應降至幾米，怎麼下手？還有對策清單的順序是什麼？提示：本單元三題都是這種反算收尾，配分通常比正算高。按暫停。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算的動作只有一個：把安全係數的式子左右對調，把目標安全係數當成已知代進去，解出那個要求的量。難的不是代數，是認出題目在問反算，關鍵詞是「應達」「應降至」「最大可開挖至」。至於對策清單，順序是先降驅動再升抵抗。分母有 gamma H、超載、受壓水頭、水頭差，對應降水、放坡、卸載、止水；分子有不排水強度、貫入深度、斷面，對應地盤改良、加深貫入、加大斷面。先寫分母那一組，因為通常更便宜也更快。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扣分點快速過一遍。一，考卷印了幾條不代表只用得到那幾條，拿到題目先列出自己需要哪幾條。二，超載一定放在分母。三，有寬乘長卻用二維承載力因數。四，黏土用總應力法又加了一次水壓。五，支撐荷重忘了乘水平間距。六，自由端支撐法先解地錨力，順序反了就解不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三個畫得出來就有分的圖，全部零供給。第一個是 Peck 三型包絡線。第二個是版樁兩側的土壓力與淨水壓圖，一百零九年還特別要求兩張圖分開畫。第三個是地錨的有效錨定範圍：主動楔是自版樁底以四十五度加 phi 的一半上延，被動楔是四十五度減 phi 的一半，錨碇段必須同時避開這兩個楔體。純幾何，沒有公式可背，只能畫。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速查表第一頁是土壓力與擋土結構。九條裡最該優先確認的是 Peck 那三條，尤其是三個形狀。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第二頁是破壞檢核與反算，公式比較寬所以排兩欄。抗上舉那一條特別標記一下——它是一百零六年唯一漏給、也是唯一算出不及格的一條。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四句話帶走。第一，題最多、給最少，這就是它該優先投入背誦資源的理由。第二，只背五條：Peck 三型加穩定數判型、四倍不排水強度減 gamma H 及其否定形式、抗上舉安全係數、自由端取矩流程、還有二維與三維的承載力因數。第三，可以省下懸臂樁四次方程的四個係數。第四，下一個單元是側向土壓力理論，主考點只有四題，但副考點十三題是全科最多。我們下一支影片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SM-U2-3　開挖之穩定性分析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題最多、給最少。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21 條公式，供給率 13%。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 題在已盤點單元裡最多；15 個有題年份，13 年零供給。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exam-wiki-SM｜證據：raw/exams/ 全 24 份考卷原文（2002–2025）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三色分級：16 紅、3 橘、2 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分級標準：拿不準一律往上歸。條數取自 formula-given-SM-U2-3 的逐條盤點。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16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必背。Peck 三型包絡線、φ=0 黏土的淨被動、抗上舉、自由端取矩流程、三維 Nc——全部零供給。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會給但別賭。Rankine 係數（111、114 給過）、二維抗隆起式、臨界水力坡降——都有給過也漏過的先例。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通常會給。懸臂樁四次方程的 A₁~A₄（111 年整組給）、Su = 10N/16（106 年給）。這兩條不值得背。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看到深色卡片就按暫停，先在紙上把式子默寫出來，再看下一頁的答案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本單元有三個「畫得出來就有分」的圖——第 6 頁那張 Peck 包絡線是全片最重要的一張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五張觀念圖負責回答「為什麼公式長這樣」，圖形比式子更值錢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倒數第三頁列出四個考場檢查動作，30 秒就決定整題的方法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Peck 三型視土壓力包絡線：</a:t>
            </a:r>
            <a:endParaRPr lang="en-US" sz="3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三題 40 分以上，24 年零供給、連圖形都沒有。</a:t>
            </a:r>
            <a:endParaRPr lang="en-US" sz="3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這是全站「不背就直接零分」最明確的一項。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 106 年（2017-4）印了管湧式、隆起式與 Su = 10N/16，唯獨漏掉上舉式——而上舉那兩小題佔 15 分，算出來 FS = 0.46，是全題唯一不及格的一項。「印了三條就以為安全」是本單元最危險的心態。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六個公式家族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21 條公式怎麼歸類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土壓力：所有擋土題的燃料　4 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Ka／Kp、φ=0 黏土的淨被動 4cu−γH、水土分算的規則、穩定數 Ns 判型。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擋土結構：貫入深度與支撐　7 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自由端與固定端支撐法、懸臂淨壓力法、貫入 FS 的兩種施加、Peck 三型包絡線、層狀土等值參數、鉸接法支撐荷重。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地層破壞（一）：基盤隆起　3 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二維 Nc = π+2、三維 Bjerrum–Eide、由 N 值估 Su。決定用哪一個，看題目有沒有給 B 與 L。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地層破壞（二）：水的三種攻擊　3 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砂湧（臨界水力坡降）、管湧（滲流路徑長度）、上舉（受壓水層）。三種的機制與對策完全不同。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對策與反算　2 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把安全係數式左右對調反算；對策清單「先降驅動、再升抵抗」。本單元三題都是這種反算收尾。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流程骨架與檢查規則　2 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開題三十秒的三個判斷動作；收尾三件事。不是公式，但決定你有沒有走對整題的方法。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骨幹一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開題三十秒：先數橫桿，方法就決定了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先數剖面圖上有幾根橫桿（支撐／地錨）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有幾根？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 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懸臂式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淨壓力法／對樁尖取矩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自由端或固定端支撐法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對地錨取矩解 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434840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434840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469087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9087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多根 ⇒ Peck 視土壓力：先算 Ns = γH/cu 判型，再畫三型包絡線之一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0" y="520293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5349240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349240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再問兩件事：開挖面以下是砂還是黏土？有沒有水位／受壓層？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這三十秒決定了整題要走哪一條路。106 年（2017-4）與 109 年（2020-2）的差別，就在第一步數出來的橫桿數不同。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01 · 骨幹二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Peck 三型包絡線：圖形比式子更重要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03539"/>
            <a:ext cx="6501384" cy="29653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砂：矩形，全高等值 0.65γHKa。最簡單，也最常出現在混合土層題的上半段。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軟至中等黏土：0～0.25H 斜升，之後滿載到底。取 γH−4cu 與 0.3γH 的較大者。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硬黏土：上下各切 0.25H 的梯形，值取 0.2～0.4γH（保守取 0.4）。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判型靠穩定數 Ns = γH/cu：Ns ≤ 4 走硬黏土型，Ns &gt; 4 走軟至中等黏土型。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層狀土要先算等值 γ̄ 與 c̄u；砂層的「等值 cu」用 ½γsHsKstanφs 換算。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100、101、104 三年都明寫「畫出／繪出」，合計 40 分以上。24 年來考卷連圖形都沒給過——這一頁請直接背下三個形狀。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Rankine 的 Ka、Kp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水位以下，土壓力與水壓力要怎麼處理？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提示：φ = 30° 時 Ka 與 Kp 是一組好記的數，相差九倍。砂與黏土的處理方式完全不同。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🟠 會給但別賭　│　給過 2 次，漏給 4 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Ka、Kp 與「土壓乘 γ′、水壓全額另加」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係數</a:t>
            </a:r>
            <a:endParaRPr lang="en-US" sz="1300" dirty="0"/>
          </a:p>
        </p:txBody>
      </p:sp>
      <p:pic>
        <p:nvPicPr>
          <p:cNvPr id="7" name="Image 0" descr="formula_imgs/ka_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9283"/>
            <a:ext cx="7772400" cy="8561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砂（有效應力法）</a:t>
            </a:r>
            <a:endParaRPr lang="en-US" sz="1300" dirty="0"/>
          </a:p>
        </p:txBody>
      </p:sp>
      <p:pic>
        <p:nvPicPr>
          <p:cNvPr id="11" name="Image 1" descr="formula_imgs/water_s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68704"/>
            <a:ext cx="7772400" cy="8521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黏土（總應力法，u 已內含）</a:t>
            </a:r>
            <a:endParaRPr lang="en-US" sz="1300" dirty="0"/>
          </a:p>
        </p:txBody>
      </p:sp>
      <p:pic>
        <p:nvPicPr>
          <p:cNvPr id="15" name="Image 2" descr="formula_imgs/clay_t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64541"/>
            <a:ext cx="7772400" cy="8352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怎麼記：φ = 30° ⇒ Ka = 1/3、Kp = 3，兩者差九倍——這組數拿來檢查代錯沒有最快。水位以下最常犯的錯：&lt;b&gt;砂土的有效應力法要把土壓乘 γ′、水壓全額另加&lt;/b&gt;（水的 K 恆為 1）；而黏土用總應力法時，孔隙水壓已經內含在 σv 裡，&lt;b&gt;不可以再加一次水壓&lt;/b&gt;。加了就是重複計算。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版樁貫入 φ=0 黏土層，開挖面以下的「淨被動土壓力」是多少？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它的否定形式代表什麼？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提示：答案是一個跟深度無關的常數，只有兩項。否定形式比正面形式更值錢——它告訴你什麼時候插深沒用。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　│　零供給，3 題受惠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4c_u − γH：版樁貫入黏土層的萬用捷徑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淨被動土壓力</a:t>
            </a:r>
            <a:endParaRPr lang="en-US" sz="1300" dirty="0"/>
          </a:p>
        </p:txBody>
      </p:sp>
      <p:pic>
        <p:nvPicPr>
          <p:cNvPr id="7" name="Image 0" descr="formula_imgs/net_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047" y="1847088"/>
            <a:ext cx="476062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怎麼來的</a:t>
            </a:r>
            <a:endParaRPr lang="en-US" sz="1300" dirty="0"/>
          </a:p>
        </p:txBody>
      </p:sp>
      <p:pic>
        <p:nvPicPr>
          <p:cNvPr id="11" name="Image 1" descr="formula_imgs/net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12872"/>
            <a:ext cx="7772400" cy="5637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穩定數判型</a:t>
            </a:r>
            <a:endParaRPr lang="en-US" sz="1300" dirty="0"/>
          </a:p>
        </p:txBody>
      </p:sp>
      <p:pic>
        <p:nvPicPr>
          <p:cNvPr id="15" name="Image 2" descr="formula_imgs/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75980"/>
            <a:ext cx="7772400" cy="8124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怎麼記：被動側是 γz′+2cu、主動側是 γsH+γz′−2cu，兩者相減時 γz′ 這一項&lt;b&gt;完全抵銷&lt;/b&gt;——所以淨值與深度無關，是一個定值矩形。這也是為什麼黏土層裡的貫入深度可以用一條線性方程解出來。&lt;b&gt;否定形式更值錢&lt;/b&gt;：4cu ≤ γH ⇒ 淨被動 ≤ 0 ⇒ 再插深也不會增加抵抗，只能靠地盤改良或降低 γH（降水、放坡、預壓）。注意這個門檻跟穩定數的門檻 Ns = γH/cu = 4 是同一件事。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為什麼淨被動土壓力是一個「常數矩形」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net_pass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45" y="1892808"/>
            <a:ext cx="6427911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橘線是主動側、藍線是被動側，兩條的斜率一模一樣（都是 γc）。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斜率相同 → 相減之後深度項消失 → 淨值是與 z′ 無關的定值。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所以畫版樁的淨壓力圖時，黏土層那一段是「矩形」而不是三角形——形狀畫對了後面才算得下去。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94、103、109 三年都是第一小題就要畫這張圖，109 年還特別要求土壓力圖與淨水壓圖分開畫。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 4cu ≤ γH 時矩形跑到負的一側，代表插深救不了——這就是要地盤改良的時機。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 年（2019-4）與 106 年（2017-4）的差別就在這裡：一個 4cu &gt; γH 可以靠插深，一個不行，只能改良或降水。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支撐系統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多支撐開挖的 Peck 三型包絡線，三個形狀與三條式子各是什麼？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用什麼判斷該用哪一型？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提示：這是全片最重要的一張卡。三題 40 分以上、24 年零供給、連圖形都沒有。判型靠一個無因次數。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　│　零供給，100、101、104 共 40 分以上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Peck 三型：形狀比式子更重要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砂（矩形）</a:t>
            </a:r>
            <a:endParaRPr lang="en-US" sz="1300" dirty="0"/>
          </a:p>
        </p:txBody>
      </p:sp>
      <p:pic>
        <p:nvPicPr>
          <p:cNvPr id="7" name="Image 0" descr="formula_imgs/peck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248" y="1847088"/>
            <a:ext cx="443622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軟至中等黏土（0.25H 斜升）</a:t>
            </a:r>
            <a:endParaRPr lang="en-US" sz="1300" dirty="0"/>
          </a:p>
        </p:txBody>
      </p:sp>
      <p:pic>
        <p:nvPicPr>
          <p:cNvPr id="11" name="Image 1" descr="formula_imgs/peck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51905"/>
            <a:ext cx="7772400" cy="8857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硬黏土（上下各切 0.25H）</a:t>
            </a:r>
            <a:endParaRPr lang="en-US" sz="1300" dirty="0"/>
          </a:p>
        </p:txBody>
      </p:sp>
      <p:pic>
        <p:nvPicPr>
          <p:cNvPr id="15" name="Image 2" descr="formula_imgs/peck_sti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536" y="4821936"/>
            <a:ext cx="526164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判型：Ns = γH/cu ≤ 4 走硬黏土型，Ns &gt; 4 走軟至中等黏土型。怎麼記三個形狀：砂是「整片」、軟黏土是「上面缺一角」、硬黏土是「上下各缺一角」。為什麼是梯形不是三角形：多支撐開挖的變形是「上面被撐住、中間鼓出」，跟擋土牆的懸臂變形完全不同——視土壓力是「反算出來的等值分布」，不是真實的土壓力分布，這句話寫出來會加分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支撐系統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有了包絡線之後，每一排支撐承受多少荷重？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層狀土的等值參數怎麼算？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提示：支撐荷重用「鉸接法」——把每一排上下的半跨面積算給它。層狀土要先把砂層換算成等值 cu。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　│　零供給，100、101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鉸接法：把包絡線切成一段一段分給支撐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層狀土等值參數</a:t>
            </a:r>
            <a:endParaRPr lang="en-US" sz="1300" dirty="0"/>
          </a:p>
        </p:txBody>
      </p:sp>
      <p:pic>
        <p:nvPicPr>
          <p:cNvPr id="7" name="Image 0" descr="formula_imgs/avg_p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1692" y="1847088"/>
            <a:ext cx="4721335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砂層的等值 cu</a:t>
            </a:r>
            <a:endParaRPr lang="en-US" sz="1300" dirty="0"/>
          </a:p>
        </p:txBody>
      </p:sp>
      <p:pic>
        <p:nvPicPr>
          <p:cNvPr id="11" name="Image 1" descr="formula_imgs/cu_s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115" y="3334512"/>
            <a:ext cx="585648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支撐荷重與斷面模數</a:t>
            </a:r>
            <a:endParaRPr lang="en-US" sz="1300" dirty="0"/>
          </a:p>
        </p:txBody>
      </p:sp>
      <p:pic>
        <p:nvPicPr>
          <p:cNvPr id="15" name="Image 2" descr="formula_imgs/str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277" y="4821936"/>
            <a:ext cx="6106167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鉸接法的假設：把擋土壁在每一排支撐處視為鉸接，於是每一排支撐分到的荷重 = 它上下各半跨的包絡線面積。最上一排要算到地表、最下一排要算到開挖面（有時再往下延伸到假想支點）。算出單位寬度的 P̄ 之後，乘上支撐的水平間距 s 才是「單根支撐」的荷重——漏掉這一步是 100 年最常見的錯。最後用最大彎矩除以容許應力得到所需斷面模數 S，再去查型鋼表。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貫入深度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自由端支撐法的解題順序是什麼？先解 D 還是先解 T？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固定端（Blum 等值梁法）又怎麼做？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提示：順序反了就多一個未知數。94、103 兩年共 40 分，零供給。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　│　零供給，94、103 兩年共 40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先取矩解 D，再水平力平衡解 T——順序不能反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自由端支撐法</a:t>
            </a:r>
            <a:endParaRPr lang="en-US" sz="1300" dirty="0"/>
          </a:p>
        </p:txBody>
      </p:sp>
      <p:pic>
        <p:nvPicPr>
          <p:cNvPr id="7" name="Image 0" descr="formula_imgs/free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14568"/>
            <a:ext cx="7772400" cy="7855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設計貫入深度</a:t>
            </a:r>
            <a:endParaRPr lang="en-US" sz="1300" dirty="0"/>
          </a:p>
        </p:txBody>
      </p:sp>
      <p:pic>
        <p:nvPicPr>
          <p:cNvPr id="11" name="Image 1" descr="formula_imgs/d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955" y="3334512"/>
            <a:ext cx="7412811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懸臂式的零淨壓力點</a:t>
            </a:r>
            <a:endParaRPr lang="en-US" sz="1300" dirty="0"/>
          </a:p>
        </p:txBody>
      </p:sp>
      <p:pic>
        <p:nvPicPr>
          <p:cNvPr id="15" name="Image 2" descr="formula_imgs/cant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719" y="4821936"/>
            <a:ext cx="264328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為什麼順序不能反：對&lt;b&gt;地錨處&lt;/b&gt;取矩時，地錨力 T 的力臂為零、自動消掉，方程式裡只剩 D 一個未知數。先寫水平力平衡的話，T 與 D 兩個未知數同時在，就解不動了。解出理論 D 之後，設計值要放大 1.2～1.4 倍（Blum 法約 1.2）。固定端（Blum 等值梁法）：在&lt;b&gt;反曲點&lt;/b&gt;切開，上段當簡支梁解 T、下段解 D——差別只在多了一個切點。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懸臂式：先找零淨壓力點，再對樁尖取矩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heet_p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9840"/>
            <a:ext cx="6501384" cy="37327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左邊剖面：0 根橫桿 ⇒ 懸臂式。牆背是主動、開挖面以下的牆前是被動。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右邊淨壓力圖：開挖面以上是單純的主動三角形；開挖面以下，被動側開始長大並反超。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兩者相等的那一點就是「零淨壓力點 L₃」——它是整張圖的轉折，也是取矩的分界。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年（2020-2）改問「簡化法：以土壓力對 O 點（樁尖）取矩」——不必解四次方程。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111 年（2022-4）則整組給了 A₁~A₄ 四次方程的係數。委員的策略很清楚：要嘛給完整式，要嘛改問簡化法。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所以把時間花在「簡化法的取矩流程」與「零淨壓力點的位置判斷」上，比背 A₃、A₄ 划算得多——那兩條是本單元僅有的綠色。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貫入深度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貫入深度的安全係數有兩種施加方式，各是什麼？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兩種算出來的 D 會一樣嗎？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提示：一種放在力矩比、一種放在強度參數上。104 年（2015-3）與 97 年（2008-3）用的不是同一種。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　│　零供給，97、109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FS 放力矩比，還是放 Kp？——兩種答案不一樣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兩種施加方式</a:t>
            </a:r>
            <a:endParaRPr lang="en-US" sz="1300" dirty="0"/>
          </a:p>
        </p:txBody>
      </p:sp>
      <p:pic>
        <p:nvPicPr>
          <p:cNvPr id="7" name="Image 0" descr="formula_imgs/fs_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15648"/>
            <a:ext cx="7772400" cy="15270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設計貫入深度</a:t>
            </a:r>
            <a:endParaRPr lang="en-US" sz="1300" dirty="0"/>
          </a:p>
        </p:txBody>
      </p:sp>
      <p:pic>
        <p:nvPicPr>
          <p:cNvPr id="11" name="Image 1" descr="formula_imgs/d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27754"/>
            <a:ext cx="7772400" cy="9651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第一種：先用未折減的 Kp 算出被動與主動的力矩，再取比值當 FS——這是「驗算既有設計」的作法。第二種：先把 Kp 除以 FS 得到折減後的設計值，再解 D——這是「直接設計」的作法，算出來的 D 較大、較保守。&lt;b&gt;兩者不等價&lt;/b&gt;，因為力矩與 D 是非線性關係。答題時一定要在旁邊寫明「本題 FS 施加於＿＿」，閱卷才知道你是有意識地選的，而不是誤用。24 年來考卷從沒指定過用哪一種——這是本單元最典型的「給了入場券、不給出口」。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基盤隆起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抗基盤隆起的安全係數怎麼寫？N_c 該用 π+2 還是 Bjerrum–Eide？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超載 q 放在分子還是分母？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提示：判斷用哪一個 Nc，只要看題目有沒有給開挖面的「寬 × 長」。104 年給了 6 m × 15 m 就是提示。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🟠 二維式給過 1 次　│　🔴 三維式零供給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有給 B×L 就用三維，會大很多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抗隆起安全係數</a:t>
            </a:r>
            <a:endParaRPr lang="en-US" sz="1300" dirty="0"/>
          </a:p>
        </p:txBody>
      </p:sp>
      <p:pic>
        <p:nvPicPr>
          <p:cNvPr id="7" name="Image 0" descr="formula_imgs/heave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0470" y="1847088"/>
            <a:ext cx="656378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三維 Bjerrum–Eide</a:t>
            </a:r>
            <a:endParaRPr lang="en-US" sz="1300" dirty="0"/>
          </a:p>
        </p:txBody>
      </p:sp>
      <p:pic>
        <p:nvPicPr>
          <p:cNvPr id="11" name="Image 1" descr="formula_imgs/heave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2148"/>
            <a:ext cx="7772400" cy="68522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N 值估 Su（106 年給過）</a:t>
            </a:r>
            <a:endParaRPr lang="en-US" sz="1300" dirty="0"/>
          </a:p>
        </p:txBody>
      </p:sp>
      <p:pic>
        <p:nvPicPr>
          <p:cNvPr id="15" name="Image 2" descr="formula_imgs/su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883" y="4821936"/>
            <a:ext cx="3600954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分母是驅動（γH + q），分子是抵抗（Nc·Su）。&lt;b&gt;超載 q 一定放在分母&lt;/b&gt;——放錯邊安全係數會偏高，而且看起來很正常。二維 Nc = π + 2 ≈ 5.14 是無限長溝渠的解；實際開挖是有限長方形，兩端有額外的側向抵抗，所以三維 Nc 明顯較大（7～8.4）。換句話說：用二維算是保守的，但題目給了 B 與 L 卻不用三維，等於漏掉題目給的條件。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隆起的機構，與二維／三維 Nc 的差距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he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27372"/>
            <a:ext cx="6501384" cy="2717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左圖機構：牆外的土重（γH + q）往下壓，土從牆底繞過去，把牆內的土推起來。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抵抗來自破壞面上的不排水剪力強度 Su，以及牆的貫入深度延長了破壞路徑。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右圖：三維 Nc 隨 B/L 上升（開挖面越接近正方形，側向抵抗貢獻越大），並受 7.5(1+0.2B/L) 上限控制。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B/L = 0（無限長）時三維式退化成 7.0，仍大於二維的 5.14——因為三維式還含 D/B 的深度效應。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對策的方向由這張圖決定：降驅動（降水、放坡、卸載）或升抵抗（地盤改良、加深貫入）。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104 年（2015-3）給了 6 m × 15 m 的開挖面，B/L = 0.4——那就是要你用三維式。給了尺寸卻用二維，會被扣分。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水的三種攻擊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砂湧、管湧、上舉——三種安全係數式各是什麼？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哪一種「插得再深也沒用」？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提示：106 年（2017-4）印了其中兩種，唯獨漏掉第三種——而那兩小題佔 15 分，算出來 FS = 0.46。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　│　上舉式 92、106 兩年都沒給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三種水的攻擊：機制不同，對策也不同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砂湧（臨界水力坡降）</a:t>
            </a:r>
            <a:endParaRPr lang="en-US" sz="1300" dirty="0"/>
          </a:p>
        </p:txBody>
      </p:sp>
      <p:pic>
        <p:nvPicPr>
          <p:cNvPr id="7" name="Image 0" descr="formula_imgs/i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9860" y="1847088"/>
            <a:ext cx="772500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滲流路徑長度（最高流線）</a:t>
            </a:r>
            <a:endParaRPr lang="en-US" sz="1300" dirty="0"/>
          </a:p>
        </p:txBody>
      </p:sp>
      <p:pic>
        <p:nvPicPr>
          <p:cNvPr id="11" name="Image 1" descr="formula_imgs/seep_l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16303"/>
            <a:ext cx="7772400" cy="75691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抗上舉（受壓水層）</a:t>
            </a:r>
            <a:endParaRPr lang="en-US" sz="1300" dirty="0"/>
          </a:p>
        </p:txBody>
      </p:sp>
      <p:pic>
        <p:nvPicPr>
          <p:cNvPr id="15" name="Image 2" descr="formula_imgs/upli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28" y="4821936"/>
            <a:ext cx="208026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砂湧與管湧都跟&lt;b&gt;滲流&lt;/b&gt;有關：水繞過擋土壁往上流，出口處的水力坡降超過臨界值就把砂粒帶起來。加深貫入 → 滲流路徑變長 → i_exit 下降 → FS 上升，所以&lt;b&gt;插深有效&lt;/b&gt;。上舉完全不同：不透水盤下方是受壓水層，靠的是&lt;b&gt;盤本身的重量&lt;/b&gt;對抗下方水壓，跟滲流無關——&lt;b&gt;插深救不了&lt;/b&gt;，只能降水（降 h_w）或保留厚度（增 t）。這是三者中唯一插深無效的一種。106 年漏給的正是這一條，而它是全題唯一算出 FS &lt; 1 的項目。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一張圖分清三種水的攻擊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wate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86877"/>
            <a:ext cx="6501384" cy="25986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砂湧：水繞過壁底往上流，出口坡降 i_exit = ΔH / L。加深貫入使 L 變長 → 有效。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最高流線的路徑長度 L =（外側下行 D−h_out）+（內側上行 D−h_in）——106 年連這一步都沒給。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上舉：受壓含水層的水壓把上方不透水盤整塊頂起來。與滲流無關，插深無效。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管湧：細粒沿壁面被水帶走，逐漸形成管道，是突發性破壞，通常沒有前兆。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對策方向：①③ 靠加深貫入或止水；② 只能降水或保留足夠盤厚。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考場動作：看到「地層改良後應達多少強度」「水位應降至幾米」，先把安全係數式左右對調再代數字——本單元三題都是這種反算收尾，配分通常比正算高。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反算與對策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題目問「地層改良後應達多少強度」「水位應降至幾米」，怎麼下手？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對策清單的順序是什麼？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提示：本單元三題都是這種反算收尾，配分通常比正算高。對策要從安全係數式的「分母」開始想。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　│　零供給，92、97、106 三年要用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反算：把安全係數式左右對調，再代目標值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反算降水位</a:t>
            </a:r>
            <a:endParaRPr lang="en-US" sz="1300" dirty="0"/>
          </a:p>
        </p:txBody>
      </p:sp>
      <p:pic>
        <p:nvPicPr>
          <p:cNvPr id="7" name="Image 0" descr="formula_imgs/back_h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8205" y="1847088"/>
            <a:ext cx="206831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反算最大開挖深度</a:t>
            </a:r>
            <a:endParaRPr lang="en-US" sz="1300" dirty="0"/>
          </a:p>
        </p:txBody>
      </p:sp>
      <p:pic>
        <p:nvPicPr>
          <p:cNvPr id="11" name="Image 1" descr="formula_imgs/back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277" y="3334512"/>
            <a:ext cx="4118167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對策從分母開始想</a:t>
            </a:r>
            <a:endParaRPr lang="en-US" sz="1300" dirty="0"/>
          </a:p>
        </p:txBody>
      </p:sp>
      <p:pic>
        <p:nvPicPr>
          <p:cNvPr id="15" name="Image 2" descr="formula_imgs/upli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28" y="4821936"/>
            <a:ext cx="208026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反算的動作只有一個：把 FS 的式子左右對調，把「目標 FS」當成已知代進去，解出那個要求的量。難的不是代數，是&lt;b&gt;認出題目在問反算&lt;/b&gt;——關鍵詞是「應達」「應降至」「最大可開挖至」。對策清單的順序：&lt;b&gt;先降驅動（分母），再升抵抗（分子）&lt;/b&gt;。分母有 γH、q、h_w、ΔH → 降水、放坡、卸載、止水；分子有 Su、D、斷面 → 地盤改良、加深貫入、加大斷面。先寫分母那一組，因為它們通常更便宜也更快。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六個每年都在扣分的地方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考卷印了幾條 ≠ 只用得到那幾條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 年印了三條、缺了最關鍵的上舉式，還少給滲流路徑長度那一步；111 年印了七條卻只夠算第四題。拿到題目先列出自己需要哪幾條，再去比對考卷給了哪幾條。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超載 q 放錯邊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抗隆起的 q 一定在分母（驅動側）。放到分子安全係數會偏高，而且結果看起來很正常。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 B×L 卻用二維 Nc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104 年給了 6 m × 15 m 就是提示。三維 Bjerrum–Eide 明顯較大（7～8.4 vs 5.14），不用等於漏掉題目條件。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黏土用總應力法又加一次水壓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σa = σv − 2cu 裡的 σv 是總應力，孔隙水壓已經內含。再加一次就是重複計算。砂土的有效應力法才要另加全額水壓。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支撐荷重忘了乘水平間距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包絡線面積算出來的是「單位寬度」的荷重，要乘上支撐水平間距 s 才是單根支撐的荷重。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自由端支撐法先解 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先對地錨處取矩解 D（T 的力臂為零自動消掉），再水平力平衡解 T。順序反了就變成兩個未知數一條方程式。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BONUS · 全部零供給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三個「畫得出來就有分」的圖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Peck 三型包絡線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砂：矩形 0.65γHKa。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軟至中等黏土：0～0.25H 斜升後滿載。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硬黏土：上下各切 0.25H。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100、101、104 三年都明寫「畫出／繪出」。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版樁兩側土壓力與淨水壓圖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94、103、109 三年都是第一小題就要畫。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黏土層的 4cu − γH 那一段是「定值矩形」。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年特別要求土壓力圖與淨水壓圖分開畫。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形狀畫對了，後面才算得下去。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地錨的有效錨定範圍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 年（2007-4）10 分，純幾何，沒有公式。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主動楔：自版樁底以 45° + φ/2 上延。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被動楔：45° − φ/2。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錨碇段必須避開這兩個楔體，只能畫出來。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進考場前最後一眼（一）——土壓力與擋土結構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淨被動（φ=0 黏土）</a:t>
            </a:r>
            <a:endParaRPr lang="en-US" sz="1050" dirty="0"/>
          </a:p>
        </p:txBody>
      </p:sp>
      <p:pic>
        <p:nvPicPr>
          <p:cNvPr id="7" name="Image 0" descr="formula_imgs/net_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49218"/>
            <a:ext cx="3416808" cy="6606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Peck：砂</a:t>
            </a:r>
            <a:endParaRPr lang="en-US" sz="1050" dirty="0"/>
          </a:p>
        </p:txBody>
      </p:sp>
      <p:pic>
        <p:nvPicPr>
          <p:cNvPr id="11" name="Image 1" descr="formula_imgs/peck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125062"/>
            <a:ext cx="3416808" cy="7089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Peck：硬黏土</a:t>
            </a:r>
            <a:endParaRPr lang="en-US" sz="1050" dirty="0"/>
          </a:p>
        </p:txBody>
      </p:sp>
      <p:pic>
        <p:nvPicPr>
          <p:cNvPr id="15" name="Image 2" descr="formula_imgs/peck_sti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80672"/>
            <a:ext cx="3416808" cy="5977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Peck：軟至中等黏土</a:t>
            </a:r>
            <a:endParaRPr lang="en-US" sz="1050" dirty="0"/>
          </a:p>
        </p:txBody>
      </p:sp>
      <p:pic>
        <p:nvPicPr>
          <p:cNvPr id="19" name="Image 3" descr="formula_imgs/peck_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06985"/>
            <a:ext cx="3416808" cy="38936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設計貫入深度</a:t>
            </a:r>
            <a:endParaRPr lang="en-US" sz="1050" dirty="0"/>
          </a:p>
        </p:txBody>
      </p:sp>
      <p:pic>
        <p:nvPicPr>
          <p:cNvPr id="23" name="Image 4" descr="formula_imgs/d_desig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989525"/>
            <a:ext cx="3416808" cy="42428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零淨壓力點</a:t>
            </a:r>
            <a:endParaRPr lang="en-US" sz="1050" dirty="0"/>
          </a:p>
        </p:txBody>
      </p:sp>
      <p:pic>
        <p:nvPicPr>
          <p:cNvPr id="27" name="Image 5" descr="formula_imgs/cant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035" y="3660648"/>
            <a:ext cx="3107170" cy="1082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支撐荷重與斷面</a:t>
            </a:r>
            <a:endParaRPr lang="en-US" sz="1050" dirty="0"/>
          </a:p>
        </p:txBody>
      </p:sp>
      <p:pic>
        <p:nvPicPr>
          <p:cNvPr id="31" name="Image 6" descr="formula_imgs/stru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66249"/>
            <a:ext cx="3416808" cy="515079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層狀土等值參數</a:t>
            </a:r>
            <a:endParaRPr lang="en-US" sz="1050" dirty="0"/>
          </a:p>
        </p:txBody>
      </p:sp>
      <p:pic>
        <p:nvPicPr>
          <p:cNvPr id="35" name="Image 7" descr="formula_imgs/avg_p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590709"/>
            <a:ext cx="3416808" cy="66615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砂層的等值 cu</a:t>
            </a:r>
            <a:endParaRPr lang="en-US" sz="1050" dirty="0"/>
          </a:p>
        </p:txBody>
      </p:sp>
      <p:pic>
        <p:nvPicPr>
          <p:cNvPr id="39" name="Image 8" descr="formula_imgs/cu_s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655269"/>
            <a:ext cx="3416808" cy="5370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進考場前最後一眼（二）——破壞檢核與反算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係數</a:t>
            </a:r>
            <a:endParaRPr lang="en-US" sz="1050" dirty="0"/>
          </a:p>
        </p:txBody>
      </p:sp>
      <p:pic>
        <p:nvPicPr>
          <p:cNvPr id="7" name="Image 0" descr="formula_imgs/ka_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265" y="1938528"/>
            <a:ext cx="3569707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穩定數判型</a:t>
            </a:r>
            <a:endParaRPr lang="en-US" sz="1050" dirty="0"/>
          </a:p>
        </p:txBody>
      </p:sp>
      <p:pic>
        <p:nvPicPr>
          <p:cNvPr id="11" name="Image 1" descr="formula_imgs/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978" y="1938528"/>
            <a:ext cx="3761713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抗隆起（二維）</a:t>
            </a:r>
            <a:endParaRPr lang="en-US" sz="1050" dirty="0"/>
          </a:p>
        </p:txBody>
      </p:sp>
      <p:pic>
        <p:nvPicPr>
          <p:cNvPr id="15" name="Image 2" descr="formula_imgs/heave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51" y="2971800"/>
            <a:ext cx="2803734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三維 Bjerrum–Eide</a:t>
            </a:r>
            <a:endParaRPr lang="en-US" sz="1050" dirty="0"/>
          </a:p>
        </p:txBody>
      </p:sp>
      <p:pic>
        <p:nvPicPr>
          <p:cNvPr id="19" name="Image 3" descr="formula_imgs/heave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874" y="2971800"/>
            <a:ext cx="4459921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抗砂湧</a:t>
            </a:r>
            <a:endParaRPr lang="en-US" sz="1050" dirty="0"/>
          </a:p>
        </p:txBody>
      </p:sp>
      <p:pic>
        <p:nvPicPr>
          <p:cNvPr id="23" name="Image 4" descr="formula_imgs/ic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242" y="4005072"/>
            <a:ext cx="3299752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滲流路徑長度</a:t>
            </a:r>
            <a:endParaRPr lang="en-US" sz="1050" dirty="0"/>
          </a:p>
        </p:txBody>
      </p:sp>
      <p:pic>
        <p:nvPicPr>
          <p:cNvPr id="27" name="Image 5" descr="formula_imgs/seep_l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078" y="4005072"/>
            <a:ext cx="4037512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抗上舉</a:t>
            </a:r>
            <a:endParaRPr lang="en-US" sz="1050" dirty="0"/>
          </a:p>
        </p:txBody>
      </p:sp>
      <p:pic>
        <p:nvPicPr>
          <p:cNvPr id="31" name="Image 6" descr="formula_imgs/uplif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823" y="5038344"/>
            <a:ext cx="888590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反算降水位</a:t>
            </a:r>
            <a:endParaRPr lang="en-US" sz="1050" dirty="0"/>
          </a:p>
        </p:txBody>
      </p:sp>
      <p:pic>
        <p:nvPicPr>
          <p:cNvPr id="35" name="Image 7" descr="formula_imgs/back_h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7092" y="5038344"/>
            <a:ext cx="883483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自由端支撐法順序</a:t>
            </a:r>
            <a:endParaRPr lang="en-US" sz="1050" dirty="0"/>
          </a:p>
        </p:txBody>
      </p:sp>
      <p:pic>
        <p:nvPicPr>
          <p:cNvPr id="39" name="Image 8" descr="formula_imgs/free_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4921" y="6071616"/>
            <a:ext cx="3890395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6185916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6185916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6295644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FS 的兩種施加</a:t>
            </a:r>
            <a:endParaRPr lang="en-US" sz="1050" dirty="0"/>
          </a:p>
        </p:txBody>
      </p:sp>
      <p:pic>
        <p:nvPicPr>
          <p:cNvPr id="43" name="Image 9" descr="formula_imgs/fs_p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8222" y="6071616"/>
            <a:ext cx="2001224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SM-U2-3 開挖之穩定性分析｜四句話帶走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題最多（17 題）、給最少（供給率 13%）——這就是它該優先投入背誦資源的理由。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只背五條：Peck 三型＋Ns 判型、4cu−γH 及其否定形式、抗上舉 FS、自由端取矩流程、二維與三維 Nc。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可以省下的：懸臂樁四次方程的 A₁~A₄。委員要嘛整組給你，要嘛改問簡化法。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SM-U3-1 側向土壓力理論：主考點只有 4 題，但副考點 13 題是全科最多——「越基本越不給」。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exam-wiki-SM｜結構技師 土壤力學與基礎設計</dc:creator>
  <cp:lastModifiedBy>exam-wiki-SM｜結構技師 土壤力學與基礎設計</cp:lastModifiedBy>
  <cp:revision>1</cp:revision>
  <dcterms:created xsi:type="dcterms:W3CDTF">2026-08-16T13:01:43Z</dcterms:created>
  <dcterms:modified xsi:type="dcterms:W3CDTF">2026-08-16T13:01:43Z</dcterms:modified>
</cp:coreProperties>
</file>