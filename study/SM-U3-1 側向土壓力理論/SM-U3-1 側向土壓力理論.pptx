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image" Target="../media/image-25-8.png"/><Relationship Id="rId9" Type="http://schemas.openxmlformats.org/officeDocument/2006/relationships/image" Target="../media/image-25-9.png"/><Relationship Id="rId10" Type="http://schemas.openxmlformats.org/officeDocument/2006/relationships/image" Target="../media/image-25-10.png"/><Relationship Id="rId11" Type="http://schemas.openxmlformats.org/officeDocument/2006/relationships/image" Target="../media/image-25-11.png"/><Relationship Id="rId12" Type="http://schemas.openxmlformats.org/officeDocument/2006/relationships/image" Target="../media/image-25-12.png"/><Relationship Id="rId13" Type="http://schemas.openxmlformats.org/officeDocument/2006/relationships/image" Target="../media/image-25-13.png"/><Relationship Id="rId14" Type="http://schemas.openxmlformats.org/officeDocument/2006/relationships/image" Target="../media/image-25-14.png"/><Relationship Id="rId15" Type="http://schemas.openxmlformats.org/officeDocument/2006/relationships/image" Target="../media/image-25-15.png"/><Relationship Id="rId16" Type="http://schemas.openxmlformats.org/officeDocument/2006/relationships/image" Target="../media/image-25-16.png"/><Relationship Id="rId17" Type="http://schemas.openxmlformats.org/officeDocument/2006/relationships/image" Target="../media/image-25-17.png"/><Relationship Id="rId18" Type="http://schemas.openxmlformats.org/officeDocument/2006/relationships/image" Target="../media/image-25-18.png"/><Relationship Id="rId19" Type="http://schemas.openxmlformats.org/officeDocument/2006/relationships/image" Target="../media/image-25-19.png"/><Relationship Id="rId20" Type="http://schemas.openxmlformats.org/officeDocument/2006/relationships/image" Target="../media/image-25-20.pn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6" Type="http://schemas.openxmlformats.org/officeDocument/2006/relationships/image" Target="../media/image-26-6.png"/><Relationship Id="rId7" Type="http://schemas.openxmlformats.org/officeDocument/2006/relationships/image" Target="../media/image-26-7.png"/><Relationship Id="rId8" Type="http://schemas.openxmlformats.org/officeDocument/2006/relationships/image" Target="../media/image-26-8.png"/><Relationship Id="rId9" Type="http://schemas.openxmlformats.org/officeDocument/2006/relationships/image" Target="../media/image-26-9.png"/><Relationship Id="rId10" Type="http://schemas.openxmlformats.org/officeDocument/2006/relationships/image" Target="../media/image-26-10.png"/><Relationship Id="rId11" Type="http://schemas.openxmlformats.org/officeDocument/2006/relationships/image" Target="../media/image-26-11.png"/><Relationship Id="rId12" Type="http://schemas.openxmlformats.org/officeDocument/2006/relationships/image" Target="../media/image-26-12.png"/><Relationship Id="rId13" Type="http://schemas.openxmlformats.org/officeDocument/2006/relationships/image" Target="../media/image-26-13.png"/><Relationship Id="rId14" Type="http://schemas.openxmlformats.org/officeDocument/2006/relationships/image" Target="../media/image-26-14.png"/><Relationship Id="rId15" Type="http://schemas.openxmlformats.org/officeDocument/2006/relationships/image" Target="../media/image-26-15.png"/><Relationship Id="rId16" Type="http://schemas.openxmlformats.org/officeDocument/2006/relationships/image" Target="../media/image-26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SM-U3-1　土壤力學｜觀念講義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側向土壓力理論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土壓力不是外加的荷重，而是「牆怎麼動」所決定的結果 —— 從變形到 K，從 K 到壓力圖，再到合力與作用點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1133856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11338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核心考點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SM-U3-1 側向土壓力理論｜觀念講義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TOPIC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本單元的四塊拼圖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變形決定 K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牆離開填土 → Ka；牆不動 → K0；牆推向填土 → Kp。莫爾圓把三者串在同一條破壞包絡線上。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三種土質修正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乾砂直接乘 Ka；黏土要減 2c√Ka 並處理張力裂縫；水位以下改用有效應力，水壓另加。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四步解題 SOP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定 K 種類 → 列轉折點 → 逐點算壓力 → 切方塊對牆底取矩，求合力 P 與作用點 ȳ。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理論邊界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假設光滑垂直牆背；斜牆背、斜填土、有牆背摩擦時改用 Coulomb。被動側務必保守。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為什麼同一堆土，會有三個不同的土壓力？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1_wall_movem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不是土的性質，是「土與牆互動後」的結果：牆動的方向決定往哪一端跑。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主動只要 Δ/H ≈ 0.001 就到位；被動要 0.02~0.05H，一般結構根本轉不了那麼多。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所以被動土壓力設計上常打折（1/2~1/3）甚至不計；主動土壓力則視為必然發生。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題目出現「地下室外牆、箱涵」= 結構動不了 → 必須用 K0，不可用 Ka。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判斷順序永遠是：先看結構能不能位移 → 才決定用哪一個 K。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公式來源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Ka 與 Kp 是莫爾圓「撞」出來的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2_moh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覆土的垂直有效應力 σ'v 固定；主動時它是大主應力 σ1，被動時變成小主應力 σ3。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圓長到與破壞包絡線相切即破壞，由 sinφ=(σ1−σ3)/(σ1+σ3) 直接解出 Ka、Kp。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因此 Kp = 1/Ka：φ=30° 時兩者差 9 倍，被動抗力遠大於主動推力。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K0 的圓不相切 —— 靜止狀態土體尚未破壞，K0 不能由強度公式推導。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土壓力係數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三個 K 的計算式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主動土壓力係數（Rankine，水平填土、光滑垂直牆背）</a:t>
            </a:r>
            <a:endParaRPr lang="en-US" sz="1300" dirty="0"/>
          </a:p>
        </p:txBody>
      </p:sp>
      <p:pic>
        <p:nvPicPr>
          <p:cNvPr id="7" name="Image 0" descr="formula_imgs/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918" y="1847088"/>
            <a:ext cx="3542884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被動土壓力係數（＝主動的倒數）</a:t>
            </a:r>
            <a:endParaRPr lang="en-US" sz="1300" dirty="0"/>
          </a:p>
        </p:txBody>
      </p:sp>
      <p:pic>
        <p:nvPicPr>
          <p:cNvPr id="11" name="Image 1" descr="formula_imgs/k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3322" y="2962656"/>
            <a:ext cx="4138076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靜止土壓力係數（Jaky，正常壓密）</a:t>
            </a:r>
            <a:endParaRPr lang="en-US" sz="1300" dirty="0"/>
          </a:p>
        </p:txBody>
      </p:sp>
      <p:pic>
        <p:nvPicPr>
          <p:cNvPr id="15" name="Image 2" descr="formula_imgs/k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4716" y="4078224"/>
            <a:ext cx="4095288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大小順序恆成立</a:t>
            </a:r>
            <a:endParaRPr lang="en-US" sz="1300" dirty="0"/>
          </a:p>
        </p:txBody>
      </p:sp>
      <p:pic>
        <p:nvPicPr>
          <p:cNvPr id="19" name="Image 3" descr="formula_imgs/kor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56069" y="5193792"/>
            <a:ext cx="2992582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 一律用有效應力摩擦角 φ'；黏土短期不排水時 φu=0，三個 K 全部退化為 1。過壓密土 K0=(1−sinφ')·OCR^sinφ'，可能大於 1。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KNOWLEDGE CARD · 狀態判別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三種狀態：看結構，不看土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554480"/>
                <a:gridCol w="1554480"/>
                <a:gridCol w="1371600"/>
                <a:gridCol w="2834640"/>
                <a:gridCol w="237744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狀態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牆的動向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所需位移 Δ/H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K（φ=30°）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典型結構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用錯的後果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主動 Ka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離開填土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≈ 0.001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0.333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重力式／懸臂式擋土牆、板樁開挖側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靜止 K0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不動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0.500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地下室外牆、箱涵、沉箱、剛性橋台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誤用 Ka → 低估 33%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被動 Kp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推向填土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≈ 0.02~0.05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3.000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牆趾前土、板樁貫入段、支撐反力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全額採用 → 高估抗力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乾砂：壓力圖為什麼一定是三角形？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3_dry_sa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σ'v = γz 是深度的一次式，乘上「定值」Ka 之後仍是一次式 → 線性分布。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 Pa ＝ 壓力圖面積 ＝ ½(KaγH)(H)；作用點 ȳ ＝ 三角形形心 ＝ H/3。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H/3 是「單一乾砂層」的專屬結論，不是通則。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被動側完全同理：Pp=½KpγH²，作用點同樣在 H/3。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砂土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乾砂與一般砂土的基本式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任一深度的側向有效應力</a:t>
            </a:r>
            <a:endParaRPr lang="en-US" sz="1300" dirty="0"/>
          </a:p>
        </p:txBody>
      </p:sp>
      <p:pic>
        <p:nvPicPr>
          <p:cNvPr id="7" name="Image 0" descr="formula_imgs/s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26180" y="1847088"/>
            <a:ext cx="6052360" cy="920496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179064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179064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252216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合力與作用點（單一乾砂層）</a:t>
            </a:r>
            <a:endParaRPr lang="en-US" sz="1300" dirty="0"/>
          </a:p>
        </p:txBody>
      </p:sp>
      <p:pic>
        <p:nvPicPr>
          <p:cNvPr id="11" name="Image 1" descr="formula_imgs/p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1390" y="3334512"/>
            <a:ext cx="5581940" cy="92049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4666488"/>
            <a:ext cx="11064240" cy="1231392"/>
          </a:xfrm>
          <a:prstGeom prst="roundRect">
            <a:avLst>
              <a:gd name="adj" fmla="val 594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4666488"/>
            <a:ext cx="82296" cy="12313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4739640"/>
            <a:ext cx="2743200" cy="1085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分層時的垂直有效應力（逐層累加後扣水壓）</a:t>
            </a:r>
            <a:endParaRPr lang="en-US" sz="1300" dirty="0"/>
          </a:p>
        </p:txBody>
      </p:sp>
      <p:pic>
        <p:nvPicPr>
          <p:cNvPr id="15" name="Image 2" descr="formula_imgs/sv_eff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9597" y="4821936"/>
            <a:ext cx="3885526" cy="9204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砂土一律走有效應力法。多層時 σ'v 逐層累加，但 Ka 隨該層的 φ 改變 —— 界面上下必須各算一次。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微型例題 ①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乾砂擋土牆：H=6 m、γ=18 kN/m³、φ=32°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光滑垂直牆背、水平填土、無地下水、無超載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SM-U3-1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乾砂單層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H=6 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牆頂可外傾？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用 Ka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Ka=tan²(45°−16°)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=0.307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σ'a(6m)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=0.307×18×6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=33.2 kPa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Pa=½×33.2×6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=99.6 kN/m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ȳ=H/3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=2.00 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傾覆力矩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M=99.6×2.00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=199 kN·m/m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382305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66406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7494422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Pa=99.6 kN/m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作用於牆底上方 2.00 m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02920" y="498348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9834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換成被動側　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Kp=1/0.307=3.26，Pp=½×3.26×18×6²=1056 kN/m —— 同一面牆差 10.6 倍，這就是被動土壓力必須保守的理由。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三個必做的確認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6" name="Text 34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的種類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牆能不能位移，決定 Ka／K0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有沒有水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無水才能整段用 γ 直接乘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0" name="Text 38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作用點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單一乾砂層才可以寫 H/3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黏土：那一塊負的壓力去哪了？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4_clay_cr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−2c√Ka 是土靠凝聚力自撐的能力，等於把整條壓力線往左平移一個常數。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地表附近算出負值＝土被拉 —— 土不能承拉，於是裂開形成張力裂縫 zc。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zc 以上壓力一律歸零，絕不可用負面積去抵銷正面積（最常見的錯誤）。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合力只算 zc 以下的三角形，作用點上移到 (H−zc)/3。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Hc = 2zc 是「無支撐可暫時直立」的臨界開挖深度；裂縫積水後會再加上一整段水壓，這是黏土邊坡雨後破壞的典型機制。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黏土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含凝聚力的主動／被動土壓力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一般 c-φ 土的主動側向壓力</a:t>
            </a:r>
            <a:endParaRPr lang="en-US" sz="1300" dirty="0"/>
          </a:p>
        </p:txBody>
      </p:sp>
      <p:pic>
        <p:nvPicPr>
          <p:cNvPr id="7" name="Image 0" descr="formula_imgs/c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92540" y="1847088"/>
            <a:ext cx="3119639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短期不排水（總應力法）</a:t>
            </a:r>
            <a:endParaRPr lang="en-US" sz="1300" dirty="0"/>
          </a:p>
        </p:txBody>
      </p:sp>
      <p:pic>
        <p:nvPicPr>
          <p:cNvPr id="11" name="Image 1" descr="formula_imgs/clay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1697" y="2962656"/>
            <a:ext cx="658132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張力裂縫深度</a:t>
            </a:r>
            <a:endParaRPr lang="en-US" sz="1300" dirty="0"/>
          </a:p>
        </p:txBody>
      </p:sp>
      <p:pic>
        <p:nvPicPr>
          <p:cNvPr id="15" name="Image 2" descr="formula_imgs/zc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9409" y="4078224"/>
            <a:ext cx="312590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臨界（可暫時直立）開挖深度</a:t>
            </a:r>
            <a:endParaRPr lang="en-US" sz="1300" dirty="0"/>
          </a:p>
        </p:txBody>
      </p:sp>
      <p:pic>
        <p:nvPicPr>
          <p:cNvPr id="19" name="Image 3" descr="formula_imgs/hc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3817" y="5193792"/>
            <a:ext cx="1917087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被動側是 +2c√Kp（凝聚力幫忙抵抗，不會有張力區）。φu=0 時 Ka=Kp=1，σv 直接用飽和總單位重累加，且絕不再另加孔隙水壓。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微型例題 ②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飽和黏土：H=5 m、cu=20 kPa、φu=0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γsat=18 kN/m³；短期不排水、總應力法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SM-U3-1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 φu=0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H=5 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90749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2918765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Ka=1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σa=σv−2cu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78578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3" name="Text 11"/>
          <p:cNvSpPr/>
          <p:nvPr/>
        </p:nvSpPr>
        <p:spPr>
          <a:xfrm>
            <a:off x="5206594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地表 z=0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σa=−40 kPa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（張力）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366406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5" name="Text 13"/>
          <p:cNvSpPr/>
          <p:nvPr/>
        </p:nvSpPr>
        <p:spPr>
          <a:xfrm>
            <a:off x="7494422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zc=2cu/γ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=40/18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=2.22 m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654235" y="1481328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7" name="Text 15"/>
          <p:cNvSpPr/>
          <p:nvPr/>
        </p:nvSpPr>
        <p:spPr>
          <a:xfrm>
            <a:off x="9782251" y="1481328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牆底 z=5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σa=90−40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=50 kPa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654235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782251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Pa=½×50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×(5−2.22)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=69.4 kN/m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366406" y="2779776"/>
            <a:ext cx="2031797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7494422" y="2779776"/>
            <a:ext cx="1775765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ȳ=(H−zc)/3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=0.93 m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2534717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822546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71103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9398203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10670134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654235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8382305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366406" y="4032504"/>
            <a:ext cx="2031797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30" name="Text 28"/>
          <p:cNvSpPr/>
          <p:nvPr/>
        </p:nvSpPr>
        <p:spPr>
          <a:xfrm>
            <a:off x="7494422" y="4032504"/>
            <a:ext cx="1775765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Pa=69.4 kN/m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作用於牆底上方 0.93 m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502920" y="4983480"/>
            <a:ext cx="11183112" cy="566928"/>
          </a:xfrm>
          <a:prstGeom prst="roundRect">
            <a:avLst>
              <a:gd name="adj" fmla="val 12903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31520" y="498348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若誤用負面積相減　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½(−40)(2.22)+½(50)(2.78)=+25.1 kN/m，只有正解的 36%，且作用點完全錯誤 —— 這是黏土題最經典的陷阱。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34" name="Text 32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黏土題三檢查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6" name="Text 34"/>
          <p:cNvSpPr/>
          <p:nvPr/>
        </p:nvSpPr>
        <p:spPr>
          <a:xfrm>
            <a:off x="950976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張力區歸零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zc 以上壓力不計，不可抵銷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30682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8" name="Text 36"/>
          <p:cNvSpPr/>
          <p:nvPr/>
        </p:nvSpPr>
        <p:spPr>
          <a:xfrm>
            <a:off x="4526280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作用點上移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(H−zc)/3，不是 H/3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788212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0" name="Text 38"/>
          <p:cNvSpPr/>
          <p:nvPr/>
        </p:nvSpPr>
        <p:spPr>
          <a:xfrm>
            <a:off x="8101584" y="6309360"/>
            <a:ext cx="325526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裂縫積水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保守時需另加 ½γw zc²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地下水：為什麼土壓要乘 K，水壓卻不乘？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5_wa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是「土骨架把垂直應力折減成水平應力」的比值；水沒有骨架、沒有摩擦角，Kw=1。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水位以下垂直應力改用浮單位重 γ'=γsat−γw，算出有效應力後才乘 Ka。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孔隙水壓 u=γw·hw 全額另加在土壓力之外，兩塊分開畫、分開取矩。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本例水壓 49.1 kPa 大於有效土壓 31.3 kPa —— 擋土設計的第一件事是處理水。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反過來說：黏土用總應力法（φu=0）時，σv 已含水重，就絕對不可以再加一次 u。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地下水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水位以下的三個動作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垂直應力改用浮單位重</a:t>
            </a:r>
            <a:endParaRPr lang="en-US" sz="1300" dirty="0"/>
          </a:p>
        </p:txBody>
      </p:sp>
      <p:pic>
        <p:nvPicPr>
          <p:cNvPr id="7" name="Image 0" descr="formula_imgs/gam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71489" y="1847088"/>
            <a:ext cx="2361742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孔隙水壓不乘 K</a:t>
            </a:r>
            <a:endParaRPr lang="en-US" sz="1300" dirty="0"/>
          </a:p>
        </p:txBody>
      </p:sp>
      <p:pic>
        <p:nvPicPr>
          <p:cNvPr id="11" name="Image 1" descr="formula_imgs/u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1788" y="2962656"/>
            <a:ext cx="382114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側向總壓力＝有效土壓＋水壓</a:t>
            </a:r>
            <a:endParaRPr lang="en-US" sz="1300" dirty="0"/>
          </a:p>
        </p:txBody>
      </p:sp>
      <p:pic>
        <p:nvPicPr>
          <p:cNvPr id="15" name="Image 2" descr="formula_imgs/sa_wa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552" y="4078224"/>
            <a:ext cx="2745617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水壓合力與作用點</a:t>
            </a:r>
            <a:endParaRPr lang="en-US" sz="1300" dirty="0"/>
          </a:p>
        </p:txBody>
      </p:sp>
      <p:pic>
        <p:nvPicPr>
          <p:cNvPr id="19" name="Image 3" descr="formula_imgs/p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2366" y="5193792"/>
            <a:ext cx="307998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若牆背設有排水設施（濾層＋洩水孔）使水位降至牆底，則 u=0，側向合力可大幅降低 —— 這是擋土牆最有效的減載手段。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微型例題 ③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砂土含水位：H=8 m、水位 GL−3 m、γ=17／γsat=20、Ka=0.307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2651760"/>
                <a:gridCol w="2743200"/>
                <a:gridCol w="1645920"/>
                <a:gridCol w="1371600"/>
                <a:gridCol w="164592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方塊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來源與範圍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面積算式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Pi (kN/m)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yi (m)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Pi·yi</a:t>
                      </a:r>
                      <a:endParaRPr lang="en-US" sz="13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①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土壓三角形　0~3 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½ × 15.7 × 3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23.5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6.00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141.0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②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土壓矩形　　3~8 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15.7 × 5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78.4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2.50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195.9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③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土壓三角形　3~8 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½ × 15.6 × 5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39.1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1.67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65.2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④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水壓三角形　3~8 m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½ × 49.1 × 5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122.6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1.67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204.4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Σ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合力 P 與總力矩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—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263.6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ȳ = 2.30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1B2A41"/>
                          </a:solidFill>
                          <a:latin typeface="Noto Sans CJK TC" pitchFamily="34" charset="0"/>
                          <a:ea typeface="Noto Sans CJK TC" pitchFamily="34" charset="-122"/>
                          <a:cs typeface="Noto Sans CJK TC" pitchFamily="34" charset="-120"/>
                        </a:rPr>
                        <a:t>606.5</a:t>
                      </a:r>
                      <a:endParaRPr lang="en-US" sz="1200" dirty="0">
                        <a:latin typeface="Noto Sans CJK TC" charset="0"/>
                        <a:ea typeface="Noto Sans CJK TC" charset="0"/>
                        <a:cs typeface="Noto Sans CJK T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1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分層：交界面為什麼會「跳一下」？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6_layer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σ'v 在界面是連續的，但 Ka（或 c）不連續 → 乘出來的側向壓力必然不連續。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界面必須算兩次：上層底用上層的 Ka，下層頂用下層的 Ka。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砂（有效應力法，另加 u）換到黏土（總應力法，不加 u）時跳動更劇烈，這是正常的。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跳動處不要硬連成一條斜線，否則面積與形心全錯。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SOLUTION FLOW · 四步 SOP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任何側向土壓力題目，都照這四步走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27632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5" name="Text 3"/>
          <p:cNvSpPr/>
          <p:nvPr/>
        </p:nvSpPr>
        <p:spPr>
          <a:xfrm>
            <a:off x="1097280" y="1627632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① 看結構能不能位移 → 決定用 Ka、K0 還是 Kp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5760720" y="2139696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4114800" y="2286000"/>
            <a:ext cx="3291840" cy="777240"/>
          </a:xfrm>
          <a:prstGeom prst="diamond">
            <a:avLst/>
          </a:prstGeom>
          <a:solidFill>
            <a:srgbClr val="1B2A41"/>
          </a:solidFill>
          <a:ln/>
        </p:spPr>
      </p:sp>
      <p:sp>
        <p:nvSpPr>
          <p:cNvPr id="8" name="Text 6"/>
          <p:cNvSpPr/>
          <p:nvPr/>
        </p:nvSpPr>
        <p:spPr>
          <a:xfrm>
            <a:off x="4251960" y="2340864"/>
            <a:ext cx="301752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剖面裡有沒有「轉折點」？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3063240"/>
            <a:ext cx="-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0" name="Shape 8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91356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有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22960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3" name="Text 11"/>
          <p:cNvSpPr/>
          <p:nvPr/>
        </p:nvSpPr>
        <p:spPr>
          <a:xfrm>
            <a:off x="950976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列出全部轉折深度：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地表、超載面、zc、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水位面、層界、牆底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60720" y="3063240"/>
            <a:ext cx="2532888" cy="292608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4"/>
          <p:cNvSpPr/>
          <p:nvPr/>
        </p:nvSpPr>
        <p:spPr>
          <a:xfrm>
            <a:off x="6524244" y="308152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沒有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888736" y="3355848"/>
            <a:ext cx="4809744" cy="1389888"/>
          </a:xfrm>
          <a:prstGeom prst="roundRect">
            <a:avLst>
              <a:gd name="adj" fmla="val 4605"/>
            </a:avLst>
          </a:prstGeom>
          <a:solidFill>
            <a:srgbClr val="DCE6F0"/>
          </a:solidFill>
          <a:ln/>
        </p:spPr>
      </p:sp>
      <p:sp>
        <p:nvSpPr>
          <p:cNvPr id="18" name="Text 16"/>
          <p:cNvSpPr/>
          <p:nvPr/>
        </p:nvSpPr>
        <p:spPr>
          <a:xfrm>
            <a:off x="6016752" y="3355848"/>
            <a:ext cx="4553712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單一乾砂層才適用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P=½KγH²、ȳ=H/3</a:t>
            </a:r>
            <a:endParaRPr lang="en-US" sz="11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可直接收尾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3227832" y="4745736"/>
            <a:ext cx="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8293608" y="4745736"/>
            <a:ext cx="-2532888" cy="256032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822960" y="5001768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F4F6F9"/>
          </a:solidFill>
          <a:ln/>
        </p:spPr>
      </p:sp>
      <p:sp>
        <p:nvSpPr>
          <p:cNvPr id="22" name="Text 20"/>
          <p:cNvSpPr/>
          <p:nvPr/>
        </p:nvSpPr>
        <p:spPr>
          <a:xfrm>
            <a:off x="1097280" y="5001768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② 逐點計算側向總壓力（土壓乘 K、水壓另加），畫出壓力分布圖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760720" y="5513832"/>
            <a:ext cx="0" cy="146304"/>
          </a:xfrm>
          <a:prstGeom prst="line">
            <a:avLst/>
          </a:prstGeom>
          <a:noFill/>
          <a:ln w="17780">
            <a:solidFill>
              <a:srgbClr val="4C6B8A"/>
            </a:solidFill>
            <a:prstDash val="solid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822960" y="5660136"/>
            <a:ext cx="9875520" cy="512064"/>
          </a:xfrm>
          <a:prstGeom prst="roundRect">
            <a:avLst>
              <a:gd name="adj" fmla="val 14286"/>
            </a:avLst>
          </a:prstGeom>
          <a:solidFill>
            <a:srgbClr val="E8734A"/>
          </a:solidFill>
          <a:ln/>
        </p:spPr>
      </p:sp>
      <p:sp>
        <p:nvSpPr>
          <p:cNvPr id="25" name="Text 23"/>
          <p:cNvSpPr/>
          <p:nvPr/>
        </p:nvSpPr>
        <p:spPr>
          <a:xfrm>
            <a:off x="1097280" y="5660136"/>
            <a:ext cx="93268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③ 切成矩形＋三角形　④ 對牆底取矩：P=ΣPi、ȳ=ΣPi yi / ΣPi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超載與合力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均布超載與取矩公式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均布超載併入垂直應力後乘 Ka</a:t>
            </a:r>
            <a:endParaRPr lang="en-US" sz="1300" dirty="0"/>
          </a:p>
        </p:txBody>
      </p:sp>
      <p:pic>
        <p:nvPicPr>
          <p:cNvPr id="7" name="Image 0" descr="formula_imgs/sq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56781" y="1847088"/>
            <a:ext cx="519115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超載造成的矩形壓力塊（作用點在 H/2）</a:t>
            </a:r>
            <a:endParaRPr lang="en-US" sz="1300" dirty="0"/>
          </a:p>
        </p:txBody>
      </p:sp>
      <p:pic>
        <p:nvPicPr>
          <p:cNvPr id="11" name="Image 1" descr="formula_imgs/p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2695" y="2962656"/>
            <a:ext cx="313933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切方塊：矩形與三角形的面積</a:t>
            </a:r>
            <a:endParaRPr lang="en-US" sz="1300" dirty="0"/>
          </a:p>
        </p:txBody>
      </p:sp>
      <p:pic>
        <p:nvPicPr>
          <p:cNvPr id="15" name="Image 2" descr="formula_imgs/blo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6765" y="4078224"/>
            <a:ext cx="405119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合力與作用點（自牆底起算）</a:t>
            </a:r>
            <a:endParaRPr lang="en-US" sz="1300" dirty="0"/>
          </a:p>
        </p:txBody>
      </p:sp>
      <p:pic>
        <p:nvPicPr>
          <p:cNvPr id="19" name="Image 3" descr="formula_imgs/psum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1051" y="5193792"/>
            <a:ext cx="208261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均布超載對整條牆等效於「多蓋一層土」，所以照樣乘 Ka；但它產生的是矩形不是三角形，作用點在 H/2。</a:t>
            </a:r>
            <a:endParaRPr lang="en-US" sz="1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WORKED EXAMPLE · 微型例題 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分層＋超載：切方塊取矩求 P 與 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7_block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界面 z=3 m 算兩次：上層 1/3×71=23.67、下層 0.26×71=18.43。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 q=20 貫穿全深度，在每一層都貢獻一塊矩形（A、C 的一部分）。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四塊面積加總 P=158.7 kN/m；對牆底取矩得 ȳ=437.6/158.7=2.76 m。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若反射性寫 H/3=2.33 m，傾覆力矩少算約 16%，屬於「觀念錯」而非「計算錯」。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取矩一律對牆底（或指定的旋轉點）；矩形形心在該塊中點、三角形形心距底 1/3 高。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超載的三種型式，處理方式完全不同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8_surchar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均布超載＝整片地面加載，可視為多蓋一層土 → 乘 Ka 得矩形壓力。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線荷重／點荷重是局部集中，土體以彈性體擴散，改用 Boussinesq 解，不乘 Ka。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局部載重的壓力有峰值：載重離牆越遠，峰值越小、位置越深。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考場判別法：載重是否覆蓋整個破壞楔體 —— 是就乘 Ka，不是就查彈性解。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帶狀載重（如鄰近道路）σh=(2q/π)(β−sinβcos2α)；實務上也常保守換算成等值均布超載 q=γ·heq。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地下室外牆為什麼不能用 Ka？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9_k0_cas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擋土牆頂部可外傾，位移足以讓土壓鬆弛到主動狀態 → Ka。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地下室外牆被各層樓版夾住、箱涵四面圍束，Δ≈0，應力停在原地層狀態 → K0。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φ=30° 時 K0/Ka=1.5，誤用 Ka 會低估土壓力 33%，牆厚與配筋全部不足。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過壓密地層 K0 更大（乘 OCR^sinφ'），開挖回填的擋土背填則接近正常壓密。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施工中的連續壁在開挖前接近 K0，開挖後隨變形逐步往 Ka 移動 —— 這也是支撐軸力隨開挖階段變化的原因。</a:t>
            </a:r>
            <a:endParaRPr lang="en-US" sz="11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理論邊界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Rankine 不夠用的時候，才輪到 Coulomb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389120"/>
          </a:xfrm>
          <a:prstGeom prst="roundRect">
            <a:avLst>
              <a:gd name="adj" fmla="val 1667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10_coul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9306" y="1892808"/>
            <a:ext cx="5662389" cy="39867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3891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從土體內部應力狀態推導，代價是必須假設牆背垂直且完全光滑（δ=0）。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Coulomb 直接對破壞楔體做力平衡，可以容納牆背摩擦 δ、牆背傾角 θ、填土坡角 β。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牆背摩擦會把合力「掛」在牆上，主動土壓變小、方向與法線夾 δ。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被動側 Coulomb 假設平面破壞面會高估 Kp，δ 大時尤甚，嚴謹解須用對數螺線法。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08076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考試判別：題目給了牆背摩擦角 δ、牆背傾斜或填土傾斜，就是要你用 Coulomb；其餘一律 Rankine。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· Coulomb 與斜填土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牆背有摩擦、幾何不規則時的係數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Coulomb 主動土壓力係數（θ 牆背傾角、δ 牆背摩擦角、β 填土坡角）</a:t>
            </a:r>
            <a:endParaRPr lang="en-US" sz="1300" dirty="0"/>
          </a:p>
        </p:txBody>
      </p:sp>
      <p:pic>
        <p:nvPicPr>
          <p:cNvPr id="7" name="Image 0" descr="formula_imgs/coul_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1887855"/>
            <a:ext cx="7772400" cy="1582673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3922776"/>
            <a:ext cx="11064240" cy="1975104"/>
          </a:xfrm>
          <a:prstGeom prst="roundRect">
            <a:avLst>
              <a:gd name="adj" fmla="val 3704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3922776"/>
            <a:ext cx="82296" cy="197510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3995928"/>
            <a:ext cx="27432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斜填土修正（合力平行填土面）</a:t>
            </a:r>
            <a:endParaRPr lang="en-US" sz="1300" dirty="0"/>
          </a:p>
        </p:txBody>
      </p:sp>
      <p:pic>
        <p:nvPicPr>
          <p:cNvPr id="11" name="Image 1" descr="formula_imgs/rankine_slop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4004" y="4078224"/>
            <a:ext cx="7676712" cy="16642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令 θ=0、δ=0、β=0，Coulomb 式會退化成 Rankine 的 (1−sinφ)/(1+sinφ)，兩套理論並不矛盾。δ 常取 (1/2~2/3)φ；填土坡角 β 必須小於 φ，否則邊坡自己先破壞。</a:t>
            </a:r>
            <a:endParaRPr lang="en-US" sz="1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DIAGRAM · 觀念圖解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被動土壓力：算得出來，不一定用得到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903720" cy="4846320"/>
          </a:xfrm>
          <a:prstGeom prst="roundRect">
            <a:avLst>
              <a:gd name="adj" fmla="val 1509"/>
            </a:avLst>
          </a:prstGeom>
          <a:solidFill>
            <a:srgbClr val="F4F6F9"/>
          </a:solidFill>
          <a:ln/>
        </p:spPr>
      </p:sp>
      <p:pic>
        <p:nvPicPr>
          <p:cNvPr id="5" name="Image 0" descr="diagram_imgs/d11_passi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627" y="1892808"/>
            <a:ext cx="6311745" cy="44439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726680" y="1691640"/>
            <a:ext cx="3913632" cy="4846320"/>
          </a:xfrm>
          <a:prstGeom prst="roundRect">
            <a:avLst>
              <a:gd name="adj" fmla="val 1869"/>
            </a:avLst>
          </a:prstGeom>
          <a:solidFill>
            <a:srgbClr val="1B2A41"/>
          </a:solidFill>
          <a:ln/>
        </p:spPr>
      </p:sp>
      <p:sp>
        <p:nvSpPr>
          <p:cNvPr id="7" name="Text 4"/>
          <p:cNvSpPr/>
          <p:nvPr/>
        </p:nvSpPr>
        <p:spPr>
          <a:xfrm>
            <a:off x="7982712" y="1892808"/>
            <a:ext cx="34015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觀念解讀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982712" y="2313432"/>
            <a:ext cx="3401568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被動土壓出現在牆趾前方的埋置深度，以及板樁開挖面以下的貫入段。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Kp 對 φ 極度敏感：φ 由 30° 高估到 40°，Kp 增加 53%，而 Ka 只差 0.12。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要發揮 Kp 需 Δ/H≈0.02~0.05，一般結構達不到 → 設計上常取 1/2~1/3。</a:t>
            </a:r>
            <a:endParaRPr lang="en-US" sz="125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✦"/>
            </a:pPr>
            <a:r>
              <a:rPr lang="en-US" sz="1250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開挖面附近的被動土可能被移除或擾動，保守做法是直接忽略上層一段深度。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(1/2)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係數、砂土與黏土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主動係數</a:t>
            </a:r>
            <a:endParaRPr lang="en-US" sz="1050" dirty="0"/>
          </a:p>
        </p:txBody>
      </p:sp>
      <p:pic>
        <p:nvPicPr>
          <p:cNvPr id="7" name="Image 0" descr="formula_imgs/k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44493"/>
            <a:ext cx="2462022" cy="381261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被動係數</a:t>
            </a:r>
            <a:endParaRPr lang="en-US" sz="1050" dirty="0"/>
          </a:p>
        </p:txBody>
      </p:sp>
      <p:pic>
        <p:nvPicPr>
          <p:cNvPr id="11" name="Image 1" descr="formula_imgs/k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1971912"/>
            <a:ext cx="2462022" cy="326423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靜止（Jaky）</a:t>
            </a:r>
            <a:endParaRPr lang="en-US" sz="1050" dirty="0"/>
          </a:p>
        </p:txBody>
      </p:sp>
      <p:pic>
        <p:nvPicPr>
          <p:cNvPr id="15" name="Image 2" descr="formula_imgs/k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970207"/>
            <a:ext cx="2462022" cy="329834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過壓密 K0</a:t>
            </a:r>
            <a:endParaRPr lang="en-US" sz="1050" dirty="0"/>
          </a:p>
        </p:txBody>
      </p:sp>
      <p:pic>
        <p:nvPicPr>
          <p:cNvPr id="19" name="Image 3" descr="formula_imgs/k0oc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1995031"/>
            <a:ext cx="2462022" cy="280187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 K0</a:t>
            </a:r>
            <a:endParaRPr lang="en-US" sz="1050" dirty="0"/>
          </a:p>
        </p:txBody>
      </p:sp>
      <p:pic>
        <p:nvPicPr>
          <p:cNvPr id="23" name="Image 4" descr="formula_imgs/k0nu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1595" y="2971800"/>
            <a:ext cx="2432688" cy="39319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大小順序</a:t>
            </a:r>
            <a:endParaRPr lang="en-US" sz="1050" dirty="0"/>
          </a:p>
        </p:txBody>
      </p:sp>
      <p:pic>
        <p:nvPicPr>
          <p:cNvPr id="27" name="Image 5" descr="formula_imgs/korde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89955" y="2971800"/>
            <a:ext cx="2144684" cy="393192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破壞面角度</a:t>
            </a:r>
            <a:endParaRPr lang="en-US" sz="1050" dirty="0"/>
          </a:p>
        </p:txBody>
      </p:sp>
      <p:pic>
        <p:nvPicPr>
          <p:cNvPr id="31" name="Image 6" descr="formula_imgs/theta_ap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3002809"/>
            <a:ext cx="2462022" cy="33117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587752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587752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679192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砂土側向壓力</a:t>
            </a:r>
            <a:endParaRPr lang="en-US" sz="1050" dirty="0"/>
          </a:p>
        </p:txBody>
      </p:sp>
      <p:pic>
        <p:nvPicPr>
          <p:cNvPr id="35" name="Image 7" descr="formula_imgs/sa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2981173"/>
            <a:ext cx="2462022" cy="374446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被動側向壓力</a:t>
            </a:r>
            <a:endParaRPr lang="en-US" sz="1050" dirty="0"/>
          </a:p>
        </p:txBody>
      </p:sp>
      <p:pic>
        <p:nvPicPr>
          <p:cNvPr id="39" name="Image 8" descr="formula_imgs/sp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0802" y="4005072"/>
            <a:ext cx="2434274" cy="393192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砂土合力</a:t>
            </a:r>
            <a:endParaRPr lang="en-US" sz="1050" dirty="0"/>
          </a:p>
        </p:txBody>
      </p:sp>
      <p:pic>
        <p:nvPicPr>
          <p:cNvPr id="43" name="Image 9" descr="formula_imgs/pa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70128" y="4005072"/>
            <a:ext cx="2384339" cy="39319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被動合力</a:t>
            </a:r>
            <a:endParaRPr lang="en-US" sz="1050" dirty="0"/>
          </a:p>
        </p:txBody>
      </p:sp>
      <p:pic>
        <p:nvPicPr>
          <p:cNvPr id="47" name="Image 10" descr="formula_imgs/pp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38683" y="4005072"/>
            <a:ext cx="2375943" cy="393192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3621024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3621024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3712464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分層有效應力</a:t>
            </a:r>
            <a:endParaRPr lang="en-US" sz="1050" dirty="0"/>
          </a:p>
        </p:txBody>
      </p:sp>
      <p:pic>
        <p:nvPicPr>
          <p:cNvPr id="51" name="Image 11" descr="formula_imgs/sv_eff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61157" y="4005072"/>
            <a:ext cx="1659711" cy="393192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黏土主動</a:t>
            </a:r>
            <a:endParaRPr lang="en-US" sz="1050" dirty="0"/>
          </a:p>
        </p:txBody>
      </p:sp>
      <p:pic>
        <p:nvPicPr>
          <p:cNvPr id="55" name="Image 12" descr="formula_imgs/ca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0068" y="5038344"/>
            <a:ext cx="2235741" cy="393192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黏土被動</a:t>
            </a:r>
            <a:endParaRPr lang="en-US" sz="1050" dirty="0"/>
          </a:p>
        </p:txBody>
      </p:sp>
      <p:pic>
        <p:nvPicPr>
          <p:cNvPr id="59" name="Image 13" descr="formula_imgs/cp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614454" y="5038344"/>
            <a:ext cx="2095687" cy="393192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不排水 φ=0</a:t>
            </a:r>
            <a:endParaRPr lang="en-US" sz="1050" dirty="0"/>
          </a:p>
        </p:txBody>
      </p:sp>
      <p:pic>
        <p:nvPicPr>
          <p:cNvPr id="63" name="Image 14" descr="formula_imgs/clayu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132319"/>
            <a:ext cx="2462022" cy="205242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4654296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4654296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4745736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張力裂縫</a:t>
            </a:r>
            <a:endParaRPr lang="en-US" sz="1050" dirty="0"/>
          </a:p>
        </p:txBody>
      </p:sp>
      <p:pic>
        <p:nvPicPr>
          <p:cNvPr id="67" name="Image 15" descr="formula_imgs/zc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70898" y="5038344"/>
            <a:ext cx="2240230" cy="393192"/>
          </a:xfrm>
          <a:prstGeom prst="rect">
            <a:avLst/>
          </a:prstGeom>
        </p:spPr>
      </p:pic>
      <p:sp>
        <p:nvSpPr>
          <p:cNvPr id="68" name="Shape 50"/>
          <p:cNvSpPr/>
          <p:nvPr/>
        </p:nvSpPr>
        <p:spPr>
          <a:xfrm>
            <a:off x="457200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69" name="Shape 51"/>
          <p:cNvSpPr/>
          <p:nvPr/>
        </p:nvSpPr>
        <p:spPr>
          <a:xfrm>
            <a:off x="457200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0" name="Text 52"/>
          <p:cNvSpPr/>
          <p:nvPr/>
        </p:nvSpPr>
        <p:spPr>
          <a:xfrm>
            <a:off x="566928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臨界深度</a:t>
            </a:r>
            <a:endParaRPr lang="en-US" sz="1050" dirty="0"/>
          </a:p>
        </p:txBody>
      </p:sp>
      <p:pic>
        <p:nvPicPr>
          <p:cNvPr id="71" name="Image 16" descr="formula_imgs/hc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110983" y="6071616"/>
            <a:ext cx="1373912" cy="393192"/>
          </a:xfrm>
          <a:prstGeom prst="rect">
            <a:avLst/>
          </a:prstGeom>
        </p:spPr>
      </p:pic>
      <p:sp>
        <p:nvSpPr>
          <p:cNvPr id="72" name="Shape 53"/>
          <p:cNvSpPr/>
          <p:nvPr/>
        </p:nvSpPr>
        <p:spPr>
          <a:xfrm>
            <a:off x="3321558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73" name="Shape 54"/>
          <p:cNvSpPr/>
          <p:nvPr/>
        </p:nvSpPr>
        <p:spPr>
          <a:xfrm>
            <a:off x="3321558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4" name="Text 55"/>
          <p:cNvSpPr/>
          <p:nvPr/>
        </p:nvSpPr>
        <p:spPr>
          <a:xfrm>
            <a:off x="3431286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裂縫後合力</a:t>
            </a:r>
            <a:endParaRPr lang="en-US" sz="1050" dirty="0"/>
          </a:p>
        </p:txBody>
      </p:sp>
      <p:pic>
        <p:nvPicPr>
          <p:cNvPr id="75" name="Image 17" descr="formula_imgs/pa_crack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31286" y="6112076"/>
            <a:ext cx="2462022" cy="312271"/>
          </a:xfrm>
          <a:prstGeom prst="rect">
            <a:avLst/>
          </a:prstGeom>
        </p:spPr>
      </p:pic>
      <p:sp>
        <p:nvSpPr>
          <p:cNvPr id="76" name="Shape 56"/>
          <p:cNvSpPr/>
          <p:nvPr/>
        </p:nvSpPr>
        <p:spPr>
          <a:xfrm>
            <a:off x="6185916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77" name="Shape 57"/>
          <p:cNvSpPr/>
          <p:nvPr/>
        </p:nvSpPr>
        <p:spPr>
          <a:xfrm>
            <a:off x="6185916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78" name="Text 58"/>
          <p:cNvSpPr/>
          <p:nvPr/>
        </p:nvSpPr>
        <p:spPr>
          <a:xfrm>
            <a:off x="6295644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裂縫後作用點</a:t>
            </a:r>
            <a:endParaRPr lang="en-US" sz="1050" dirty="0"/>
          </a:p>
        </p:txBody>
      </p:sp>
      <p:pic>
        <p:nvPicPr>
          <p:cNvPr id="79" name="Image 18" descr="formula_imgs/ybar_crack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096357" y="6071616"/>
            <a:ext cx="860596" cy="393192"/>
          </a:xfrm>
          <a:prstGeom prst="rect">
            <a:avLst/>
          </a:prstGeom>
        </p:spPr>
      </p:pic>
      <p:sp>
        <p:nvSpPr>
          <p:cNvPr id="80" name="Shape 59"/>
          <p:cNvSpPr/>
          <p:nvPr/>
        </p:nvSpPr>
        <p:spPr>
          <a:xfrm>
            <a:off x="9050274" y="5687568"/>
            <a:ext cx="2681478" cy="850392"/>
          </a:xfrm>
          <a:prstGeom prst="roundRect">
            <a:avLst>
              <a:gd name="adj" fmla="val 6452"/>
            </a:avLst>
          </a:prstGeom>
          <a:solidFill>
            <a:srgbClr val="F4F6F9"/>
          </a:solidFill>
          <a:ln/>
        </p:spPr>
      </p:sp>
      <p:sp>
        <p:nvSpPr>
          <p:cNvPr id="81" name="Shape 60"/>
          <p:cNvSpPr/>
          <p:nvPr/>
        </p:nvSpPr>
        <p:spPr>
          <a:xfrm>
            <a:off x="9050274" y="5687568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82" name="Text 61"/>
          <p:cNvSpPr/>
          <p:nvPr/>
        </p:nvSpPr>
        <p:spPr>
          <a:xfrm>
            <a:off x="9160002" y="5779008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Coulomb 主動</a:t>
            </a:r>
            <a:endParaRPr lang="en-US" sz="1050" dirty="0"/>
          </a:p>
        </p:txBody>
      </p:sp>
      <p:pic>
        <p:nvPicPr>
          <p:cNvPr id="83" name="Image 19" descr="formula_imgs/coul_ka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425544" y="6071616"/>
            <a:ext cx="1930939" cy="39319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· 考前速查 (2/2)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地下水、超載、取矩與延伸檢核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浮單位重</a:t>
            </a:r>
            <a:endParaRPr lang="en-US" sz="1050" dirty="0"/>
          </a:p>
        </p:txBody>
      </p:sp>
      <p:pic>
        <p:nvPicPr>
          <p:cNvPr id="7" name="Image 0" descr="formula_imgs/gamm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78315"/>
            <a:ext cx="2462022" cy="57193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孔隙水壓</a:t>
            </a:r>
            <a:endParaRPr lang="en-US" sz="1050" dirty="0"/>
          </a:p>
        </p:txBody>
      </p:sp>
      <p:pic>
        <p:nvPicPr>
          <p:cNvPr id="11" name="Image 1" descr="formula_imgs/u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2087534"/>
            <a:ext cx="2462022" cy="353497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土壓＋水壓</a:t>
            </a:r>
            <a:endParaRPr lang="en-US" sz="1050" dirty="0"/>
          </a:p>
        </p:txBody>
      </p:sp>
      <p:pic>
        <p:nvPicPr>
          <p:cNvPr id="15" name="Image 2" descr="formula_imgs/sa_wate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2018298"/>
            <a:ext cx="2462022" cy="49197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水壓合力</a:t>
            </a:r>
            <a:endParaRPr lang="en-US" sz="1050" dirty="0"/>
          </a:p>
        </p:txBody>
      </p:sp>
      <p:pic>
        <p:nvPicPr>
          <p:cNvPr id="19" name="Image 3" descr="formula_imgs/pw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60002" y="2045002"/>
            <a:ext cx="2462022" cy="438561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均布超載</a:t>
            </a:r>
            <a:endParaRPr lang="en-US" sz="1050" dirty="0"/>
          </a:p>
        </p:txBody>
      </p:sp>
      <p:pic>
        <p:nvPicPr>
          <p:cNvPr id="23" name="Image 4" descr="formula_imgs/sq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425771"/>
            <a:ext cx="2462022" cy="26020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超載合力</a:t>
            </a:r>
            <a:endParaRPr lang="en-US" sz="1050" dirty="0"/>
          </a:p>
        </p:txBody>
      </p:sp>
      <p:pic>
        <p:nvPicPr>
          <p:cNvPr id="27" name="Image 5" descr="formula_imgs/pq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3340737"/>
            <a:ext cx="2462022" cy="430271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線荷重（彈性解）</a:t>
            </a:r>
            <a:endParaRPr lang="en-US" sz="1050" dirty="0"/>
          </a:p>
        </p:txBody>
      </p:sp>
      <p:pic>
        <p:nvPicPr>
          <p:cNvPr id="31" name="Image 6" descr="formula_imgs/line_loa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3351485"/>
            <a:ext cx="2462022" cy="408775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點荷重（彈性解）</a:t>
            </a:r>
            <a:endParaRPr lang="en-US" sz="1050" dirty="0"/>
          </a:p>
        </p:txBody>
      </p:sp>
      <p:pic>
        <p:nvPicPr>
          <p:cNvPr id="35" name="Image 7" descr="formula_imgs/point_loa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255626"/>
            <a:ext cx="2462022" cy="600493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帶狀載重</a:t>
            </a:r>
            <a:endParaRPr lang="en-US" sz="1050" dirty="0"/>
          </a:p>
        </p:txBody>
      </p:sp>
      <p:pic>
        <p:nvPicPr>
          <p:cNvPr id="39" name="Image 8" descr="formula_imgs/strip_loa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650009"/>
            <a:ext cx="2462022" cy="394907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切方塊面積</a:t>
            </a:r>
            <a:endParaRPr lang="en-US" sz="1050" dirty="0"/>
          </a:p>
        </p:txBody>
      </p:sp>
      <p:pic>
        <p:nvPicPr>
          <p:cNvPr id="43" name="Image 9" descr="formula_imgs/block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680751"/>
            <a:ext cx="2462022" cy="333424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合力與作用點</a:t>
            </a:r>
            <a:endParaRPr lang="en-US" sz="1050" dirty="0"/>
          </a:p>
        </p:txBody>
      </p:sp>
      <p:pic>
        <p:nvPicPr>
          <p:cNvPr id="47" name="Image 10" descr="formula_imgs/psum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523168"/>
            <a:ext cx="2462022" cy="648589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Coulomb 被動</a:t>
            </a:r>
            <a:endParaRPr lang="en-US" sz="1050" dirty="0"/>
          </a:p>
        </p:txBody>
      </p:sp>
      <p:pic>
        <p:nvPicPr>
          <p:cNvPr id="51" name="Image 11" descr="formula_imgs/coul_kp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002" y="4596485"/>
            <a:ext cx="2462022" cy="501956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斜填土 Rankine</a:t>
            </a:r>
            <a:endParaRPr lang="en-US" sz="1050" dirty="0"/>
          </a:p>
        </p:txBody>
      </p:sp>
      <p:pic>
        <p:nvPicPr>
          <p:cNvPr id="55" name="Image 12" descr="formula_imgs/rankine_slope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872186"/>
            <a:ext cx="2462022" cy="533733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斜填土合力</a:t>
            </a:r>
            <a:endParaRPr lang="en-US" sz="1050" dirty="0"/>
          </a:p>
        </p:txBody>
      </p:sp>
      <p:pic>
        <p:nvPicPr>
          <p:cNvPr id="59" name="Image 13" descr="formula_imgs/pa_slope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1286" y="6006902"/>
            <a:ext cx="2462022" cy="264301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延伸：滑動檢核</a:t>
            </a:r>
            <a:endParaRPr lang="en-US" sz="1050" dirty="0"/>
          </a:p>
        </p:txBody>
      </p:sp>
      <p:pic>
        <p:nvPicPr>
          <p:cNvPr id="63" name="Image 14" descr="formula_imgs/fs_slide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934857"/>
            <a:ext cx="2462022" cy="408392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延伸：傾覆檢核</a:t>
            </a:r>
            <a:endParaRPr lang="en-US" sz="1050" dirty="0"/>
          </a:p>
        </p:txBody>
      </p:sp>
      <p:pic>
        <p:nvPicPr>
          <p:cNvPr id="67" name="Image 15" descr="formula_imgs/fs_over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60002" y="5831989"/>
            <a:ext cx="2462022" cy="61412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地下室外牆誤用 Ka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題目出現「地下室外牆、箱涵、沉箱、剛性橋台」＝結構無法位移，必須用 K0=1−sinφ'。用 Ka 會低估 33%。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水壓也乘了 Ka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水無剪力強度、Kw=1。正確順序是：先用 γ' 算 σ'v、乘 Ka，再把 u=γw hw 全額另加。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黏土拿負面積去抵銷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張力區土體已裂開，壓力一律歸零。合力只算 zc 以下三角形，作用點上移到 (H−zc)/3。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黏土總應力法又加了一次水壓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φu=0 時 σv 用 γsat 累加，水重已含在總應力內。界面壓力大幅跳動是正常現象，不是算錯。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反射性把作用點寫成 H/3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只要有水位、超載、分層或張力裂縫，H/3 立刻失效，必須切方塊對牆底取矩。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被動土壓力全額採用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Kp 要 Δ/H≈0.02~0.05 才發揮，且對 φ 極敏感、Coulomb 平面破壞面又會高估 —— 設計務必打折或忽略。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側向土壓力理論｜重點回顧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土壓力是變形的結果：先判斷結構動不動得了，再決定用 Ka、K0 或 Kp。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Ka、Kp 由莫爾圓與破壞包絡線相切導出，Kp=1/Ka；K0 不能用強度公式推導。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三種修正各有招式：黏土減 2c√Ka 並處理張力裂縫；水位以下用 γ' 並全額另加 u；分層在界面各算一次。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四步 SOP：定 K → 列轉折點 → 逐點算壓力 → 切方塊對牆底取矩；H/3 只屬於單一乾砂層。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Rankine 是預設值，出現牆背摩擦／斜牆背／斜填土才換 Coulomb；被動側永遠保守。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考前總複習</dc:creator>
  <cp:lastModifiedBy>考前總複習</cp:lastModifiedBy>
  <cp:revision>1</cp:revision>
  <dcterms:created xsi:type="dcterms:W3CDTF">2026-09-15T05:22:14Z</dcterms:created>
  <dcterms:modified xsi:type="dcterms:W3CDTF">2026-09-15T05:22:14Z</dcterms:modified>
</cp:coreProperties>
</file>