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SM-U1-5　土壤強度｜觀念講義・拼圖四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還是 OC？決定 c′ 是不是 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包絡線過不過原點，決定你能不能用「相似形比例法」秒殺整題；c′ ≠ 0 時，回到萬能式與相減法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7FC8B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776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C8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977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 = 0 → 過原點 → 三大捷徑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F08A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39776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8A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3977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 ≠ 0 → 有截距 → 萬能式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39776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共用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3977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buNone/>
            </a:pPr>
            <a:r>
              <a:rPr lang="en-US" sz="14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互推＋兩組相減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示範題：NC [SM-2018-2]、OC [SM-2024-1]（單組）、[SM-2025-2]（兩組相減）；圖上數字全部由同一支程式算出，可逐一對帳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解題大分岔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讀題第一件事：這顆黏土的包絡線過不過原點？</a:t>
            </a:r>
            <a:endParaRPr lang="en-US" sz="2600" dirty="0"/>
          </a:p>
        </p:txBody>
      </p:sp>
      <p:pic>
        <p:nvPicPr>
          <p:cNvPr id="4" name="Image 0" descr="fig01_fork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995" y="1280160"/>
            <a:ext cx="1085353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關鍵字 → NC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「正常壓密」「OCR = 1」「首次加載」→ 立刻寫下 c′ = 0、c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沒寫、或給了 c′ → OC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題目給 c′、或兩組數據不成比例 → 走萬能式，不准用比例法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底層物理 ① · 應力歷史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與 OC 的差別，在於土壤「記不記得」更大的應力</a:t>
            </a:r>
            <a:endParaRPr lang="en-US" sz="2600" dirty="0"/>
          </a:p>
        </p:txBody>
      </p:sp>
      <p:pic>
        <p:nvPicPr>
          <p:cNvPr id="4" name="Image 0" descr="fig02_histor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630" y="1280160"/>
            <a:ext cx="1073426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NC：OCR = 1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現在的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就是歷史最大有效應力，站在原始壓縮線上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OC：OCR &gt; 1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曾經壓到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再卸載：同樣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之下，孔隙比更小、更密實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底層物理 ② · 微觀真相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「壓密記憶」在包絡線上表現為截距 c′</a:t>
            </a:r>
            <a:endParaRPr lang="en-US" sz="2600" dirty="0"/>
          </a:p>
        </p:txBody>
      </p:sp>
      <p:pic>
        <p:nvPicPr>
          <p:cNvPr id="4" name="Image 0" descr="fig03_micr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630" y="1280160"/>
            <a:ext cx="1073426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顆粒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沒有被更大應力擠壓過 → 無額外咬合 → c′ = 0，包絡線過原點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顆粒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緊密嵌鎖的排列被保留下來 → 重新剪切時多出強度截距 c′ ≠ 0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莫爾圓幾何 ① · NC 位似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包絡線過原點 → 所有破壞圓以原點為位似中心，互為相似形</a:t>
            </a:r>
            <a:endParaRPr lang="en-US" sz="2600" dirty="0"/>
          </a:p>
        </p:txBody>
      </p:sp>
      <p:pic>
        <p:nvPicPr>
          <p:cNvPr id="4" name="Image 0" descr="fig04_hom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630" y="1280160"/>
            <a:ext cx="1073426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幾何相似代表什麼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、C、R、Δσ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、u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全部成固定比例：圍壓 × k，整張圖 × 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[SM-2018-2] 驗證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有效圓 33～118 與 82.5～295：每一格比值都是 2.5，sin φ′ 完全相同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莫爾圓幾何 ② · OC 不相似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有截距 c′：圍壓加倍，軸差應力不會加倍</a:t>
            </a:r>
            <a:endParaRPr lang="en-US" sz="2600" dirty="0"/>
          </a:p>
        </p:txBody>
      </p:sp>
      <p:pic>
        <p:nvPicPr>
          <p:cNvPr id="4" name="Image 0" descr="fig05_o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630" y="1280160"/>
            <a:ext cx="1073426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[SM-2024-1] 正解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200：σ′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599.46，Δσ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399.46 kPa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硬套比例法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240 × 2 = 480：高估 20.2%，圓衝出包絡線，物理上不可能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換個座標看 · σ′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–σ′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平面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比例法 = 假設破壞線過原點；OC 的誤差剛好是一個截距</a:t>
            </a:r>
            <a:endParaRPr lang="en-US" sz="2600" dirty="0"/>
          </a:p>
        </p:txBody>
      </p:sp>
      <p:pic>
        <p:nvPicPr>
          <p:cNvPr id="4" name="Image 0" descr="fig06_lin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630" y="1280160"/>
            <a:ext cx="1073426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一條直線兩個參數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斜率 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（摩擦）、截距 2c′√K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（凝聚）：c′ = 0 才過原點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誤差 = 截距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 × 340 − 599.46 = 80.54 = 2c′√K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：圍壓加倍時截距被多算一次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四大捷徑 · 適用範圍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 1～3 是 NC 專用；捷徑 4 兩邊通用</a:t>
            </a:r>
            <a:endParaRPr lang="en-US" sz="2600" dirty="0"/>
          </a:p>
        </p:txBody>
      </p:sp>
      <p:pic>
        <p:nvPicPr>
          <p:cNvPr id="4" name="Image 0" descr="fig07_matrix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76934"/>
            <a:ext cx="11064240" cy="42412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87959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一句話記住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只要用到「過原點」這個性質的捷徑（正弦式、比例法、S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比值）就是 NC 專用；相減法本來就是為了消去 c′ 而生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 1 · 正弦式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 = 0：半徑 ÷ 圓心距 = sin φ，一秒出角度</a:t>
            </a:r>
            <a:endParaRPr lang="en-US" sz="2600" dirty="0"/>
          </a:p>
        </p:txBody>
      </p:sp>
      <p:pic>
        <p:nvPicPr>
          <p:cNvPr id="4" name="Image 0" descr="fig08_si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169" y="1280160"/>
            <a:ext cx="1025718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3749040" cy="1097280"/>
          </a:xfrm>
          <a:prstGeom prst="roundRect">
            <a:avLst>
              <a:gd name="adj" fmla="val 10000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</a:t>
            </a:r>
            <a:endParaRPr lang="en-US" sz="1400" dirty="0"/>
          </a:p>
        </p:txBody>
      </p:sp>
      <p:pic>
        <p:nvPicPr>
          <p:cNvPr id="8" name="Image 1" descr="m_si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782208"/>
            <a:ext cx="2054657" cy="55138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434840" y="534924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617720" y="5440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總應力（NC 的 c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0）</a:t>
            </a:r>
            <a:endParaRPr lang="en-US" sz="1400" dirty="0"/>
          </a:p>
        </p:txBody>
      </p:sp>
      <p:pic>
        <p:nvPicPr>
          <p:cNvPr id="11" name="Image 2" descr="m_sincu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7720" y="5838444"/>
            <a:ext cx="1555394" cy="4389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863840" y="5349240"/>
            <a:ext cx="374904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046720" y="542239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[SM-2018-2] 第二小題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17.35°、φ′ = 34.26°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硬套：R/C 不等於 sin φ′（拼圖三）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 2 · 相似形比例法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換圍壓求新軸差應力：不查角度，3 秒比例放大</a:t>
            </a:r>
            <a:endParaRPr lang="en-US" sz="2600" dirty="0"/>
          </a:p>
        </p:txBody>
      </p:sp>
      <p:pic>
        <p:nvPicPr>
          <p:cNvPr id="4" name="Image 0" descr="fig09_rati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534" y="1280160"/>
            <a:ext cx="10376452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比例式（c′ = 0 才成立）</a:t>
            </a:r>
            <a:endParaRPr lang="en-US" sz="1400" dirty="0"/>
          </a:p>
        </p:txBody>
      </p:sp>
      <p:pic>
        <p:nvPicPr>
          <p:cNvPr id="8" name="Image 1" descr="m_ratio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06440"/>
            <a:ext cx="1567543" cy="548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257800" y="5394960"/>
            <a:ext cx="6355080" cy="1051560"/>
          </a:xfrm>
          <a:prstGeom prst="roundRect">
            <a:avLst>
              <a:gd name="adj" fmla="val 10435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40680" y="548640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[SM-2018-2] 第一小題</a:t>
            </a:r>
            <a:endParaRPr lang="en-US" sz="1400" dirty="0"/>
          </a:p>
        </p:txBody>
      </p:sp>
      <p:pic>
        <p:nvPicPr>
          <p:cNvPr id="11" name="Image 2" descr="m_n3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0680" y="5861304"/>
            <a:ext cx="291602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 3 · 不排水強度比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/σ′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固定：NC 黏土的 S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隨深度線性成長（SHANSEP 雛形）</a:t>
            </a:r>
            <a:endParaRPr lang="en-US" sz="2600" dirty="0"/>
          </a:p>
        </p:txBody>
      </p:sp>
      <p:pic>
        <p:nvPicPr>
          <p:cNvPr id="4" name="Image 0" descr="fig10_su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169" y="1280160"/>
            <a:ext cx="1025718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課本式（A</a:t>
            </a:r>
            <a:pPr indent="0" marL="0"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1）</a:t>
            </a:r>
            <a:endParaRPr lang="en-US" sz="1400" dirty="0"/>
          </a:p>
        </p:txBody>
      </p:sp>
      <p:pic>
        <p:nvPicPr>
          <p:cNvPr id="8" name="Image 1" descr="m_su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776722"/>
            <a:ext cx="1544422" cy="5623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51960" y="534924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34840" y="5440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一般式（拼圖二推導延伸）</a:t>
            </a:r>
            <a:endParaRPr lang="en-US" sz="1400" dirty="0"/>
          </a:p>
        </p:txBody>
      </p:sp>
      <p:pic>
        <p:nvPicPr>
          <p:cNvPr id="11" name="Image 2" descr="m_su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4840" y="5764378"/>
            <a:ext cx="2328977" cy="58704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412480" y="534924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595360" y="542239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物理前提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課本式假設破壞時有效圓右緣 = σ′</a:t>
            </a:r>
            <a:pPr indent="0" marL="0">
              <a:spcAft>
                <a:spcPts val="200"/>
              </a:spcAft>
              <a:buNone/>
            </a:pPr>
            <a:r>
              <a:rPr lang="en-US" sz="12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題目給了 u</a:t>
            </a:r>
            <a:pPr indent="0" marL="0">
              <a:spcAft>
                <a:spcPts val="200"/>
              </a:spcAft>
              <a:buNone/>
            </a:pPr>
            <a:r>
              <a:rPr lang="en-US" sz="12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或 A</a:t>
            </a:r>
            <a:pPr indent="0" marL="0">
              <a:spcAft>
                <a:spcPts val="200"/>
              </a:spcAft>
              <a:buNone/>
            </a:pPr>
            <a:r>
              <a:rPr lang="en-US" sz="12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用一般式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 4a · K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↔ φ′ 互推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 K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就有 φ′：純三角恆等式，NC、OC 都成立</a:t>
            </a:r>
            <a:endParaRPr lang="en-US" sz="2600" dirty="0"/>
          </a:p>
        </p:txBody>
      </p:sp>
      <p:pic>
        <p:nvPicPr>
          <p:cNvPr id="4" name="Image 0" descr="fig11_k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169" y="1280160"/>
            <a:ext cx="1025718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6035040" cy="109728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正向</a:t>
            </a:r>
            <a:endParaRPr lang="en-US" sz="1400" dirty="0"/>
          </a:p>
        </p:txBody>
      </p:sp>
      <p:pic>
        <p:nvPicPr>
          <p:cNvPr id="8" name="Image 1" descr="m_kp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776722"/>
            <a:ext cx="3187598" cy="5623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20840" y="5349240"/>
            <a:ext cx="4892040" cy="1097280"/>
          </a:xfrm>
          <a:prstGeom prst="roundRect">
            <a:avLst>
              <a:gd name="adj" fmla="val 10000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03720" y="54406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反向（最後報告時才用）</a:t>
            </a:r>
            <a:endParaRPr lang="en-US" sz="1400" dirty="0"/>
          </a:p>
        </p:txBody>
      </p:sp>
      <p:pic>
        <p:nvPicPr>
          <p:cNvPr id="11" name="Image 2" descr="m_phi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03720" y="5772607"/>
            <a:ext cx="1711757" cy="5705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 4b · 兩組試驗相減法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兩點決定一條直線：相減消去截距，一步得到 K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endParaRPr lang="en-US" sz="2600" dirty="0"/>
          </a:p>
        </p:txBody>
      </p:sp>
      <p:pic>
        <p:nvPicPr>
          <p:cNvPr id="4" name="Image 0" descr="fig12_subtrac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169" y="1280160"/>
            <a:ext cx="1025718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pic>
        <p:nvPicPr>
          <p:cNvPr id="7" name="Image 1" descr="m_sa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489829"/>
            <a:ext cx="1979676" cy="304038"/>
          </a:xfrm>
          <a:prstGeom prst="rect">
            <a:avLst/>
          </a:prstGeom>
        </p:spPr>
      </p:pic>
      <p:pic>
        <p:nvPicPr>
          <p:cNvPr id="8" name="Image 2" descr="m_sb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5992749"/>
            <a:ext cx="1954530" cy="30403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806440" y="534924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89320" y="5440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兩式相減</a:t>
            </a:r>
            <a:endParaRPr lang="en-US" sz="1400" dirty="0"/>
          </a:p>
        </p:txBody>
      </p:sp>
      <p:pic>
        <p:nvPicPr>
          <p:cNvPr id="11" name="Image 3" descr="m_sub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9320" y="5782208"/>
            <a:ext cx="1538935" cy="551383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961120" y="534924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9144000" y="542239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再回代任一式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得截距 2c′√K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需要時才拆出 c′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代公式 SOP ① · OC 黏土（c′ ≠ 0）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列萬能式 → 看數據組數 → 保留 K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往下代 → 最後才轉角度</a:t>
            </a:r>
            <a:endParaRPr lang="en-US" sz="2600" dirty="0"/>
          </a:p>
        </p:txBody>
      </p:sp>
      <p:pic>
        <p:nvPicPr>
          <p:cNvPr id="4" name="Image 0" descr="fig14_ocso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76934"/>
            <a:ext cx="11064240" cy="42412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87959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兩組相減、單組解二次；K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不離手，角度最後走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實戰 · [SM-2025-2] 兩組 CU → CD 外推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先扣 u 變有效應力，兩式相減，保留 K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與截距直接代</a:t>
            </a:r>
            <a:endParaRPr lang="en-US" sz="2600" dirty="0"/>
          </a:p>
        </p:txBody>
      </p:sp>
      <p:pic>
        <p:nvPicPr>
          <p:cNvPr id="4" name="Image 0" descr="fig13_2025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8151" y="1280160"/>
            <a:ext cx="8945217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484632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pic>
        <p:nvPicPr>
          <p:cNvPr id="7" name="Image 1" descr="m_q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4959477"/>
            <a:ext cx="3842766" cy="304038"/>
          </a:xfrm>
          <a:prstGeom prst="rect">
            <a:avLst/>
          </a:prstGeom>
        </p:spPr>
      </p:pic>
      <p:pic>
        <p:nvPicPr>
          <p:cNvPr id="8" name="Image 2" descr="m_q2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5477256"/>
            <a:ext cx="4327398" cy="365760"/>
          </a:xfrm>
          <a:prstGeom prst="rect">
            <a:avLst/>
          </a:prstGeom>
        </p:spPr>
      </p:pic>
      <p:pic>
        <p:nvPicPr>
          <p:cNvPr id="9" name="Image 3" descr="m_q3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6030468"/>
            <a:ext cx="3705606" cy="265176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400800" y="4956048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6583680" y="5029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若題目還要報告參數（非本題所問）</a:t>
            </a:r>
            <a:endParaRPr lang="en-US" sz="1300" dirty="0"/>
          </a:p>
        </p:txBody>
      </p:sp>
      <p:pic>
        <p:nvPicPr>
          <p:cNvPr id="12" name="Image 4" descr="m_q4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83680" y="5567553"/>
            <a:ext cx="3970782" cy="4320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實戰 · [SM-2024-1] 單組 CD → 圍壓 200 外推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只有一組數據但已知 c′：令 y = √K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解二次式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1–2　萬能式代入第一組</a:t>
            </a:r>
            <a:endParaRPr lang="en-US" sz="1600" dirty="0"/>
          </a:p>
        </p:txBody>
      </p:sp>
      <p:pic>
        <p:nvPicPr>
          <p:cNvPr id="6" name="Image 0" descr="m_o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3400" y="1777456"/>
            <a:ext cx="6066130" cy="3770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6974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8072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　保留 √K</a:t>
            </a:r>
            <a:pPr indent="0" marL="0">
              <a:buNone/>
            </a:pPr>
            <a:r>
              <a:rPr lang="en-US" sz="16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代新圍壓</a:t>
            </a:r>
            <a:endParaRPr lang="en-US" sz="1600" dirty="0"/>
          </a:p>
        </p:txBody>
      </p:sp>
      <p:pic>
        <p:nvPicPr>
          <p:cNvPr id="9" name="Image 1" descr="m_o2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400" y="3138769"/>
            <a:ext cx="4118732" cy="30614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02336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413308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600" dirty="0"/>
          </a:p>
        </p:txBody>
      </p:sp>
      <p:pic>
        <p:nvPicPr>
          <p:cNvPr id="12" name="Image 2" descr="m_o3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3400" y="4475988"/>
            <a:ext cx="3217316" cy="28346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77240" y="5486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08A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對照：硬套比例法 240 × 2 = 480（高估 20.2%）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φ′ = 26.33° 只在最後報告時計算；若先取 26° 再轉回 K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，σ′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會少 3.9 kPa（拼圖三）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代公式 SOP ② · NC 黏土（c′ = 0）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[SM-2018-2]：宣告 c′ = 0 之後，四小題全部秒殺</a:t>
            </a:r>
            <a:endParaRPr lang="en-US" sz="2600" dirty="0"/>
          </a:p>
        </p:txBody>
      </p:sp>
      <p:pic>
        <p:nvPicPr>
          <p:cNvPr id="4" name="Image 0" descr="fig15_ncso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76934"/>
            <a:ext cx="11064240" cy="42412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87959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先後順序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先做第二小題（角度），第一小題用比例法 3 秒；破壞面只用 φ′；最後 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一併做閉合檢核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黏土硬套比例法：三個考題的實際代價</a:t>
            </a:r>
            <a:endParaRPr lang="en-US" sz="2600" dirty="0"/>
          </a:p>
        </p:txBody>
      </p:sp>
      <p:pic>
        <p:nvPicPr>
          <p:cNvPr id="4" name="Image 0" descr="fig16_trap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630" y="1280160"/>
            <a:ext cx="1073426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為什麼一定高估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比例法把固定截距 2c′√K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也一起放大；c′ &gt; 0 時放大越多、錯越多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考場判斷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兩組數據若 Δσ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不相等（75→40、150→70），就證明不是 NC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取樣擾動與壓密不足：量到的 c′ &gt; 0 可能是「虛擬凝聚力」</a:t>
            </a:r>
            <a:endParaRPr lang="en-US" sz="2600" dirty="0"/>
          </a:p>
        </p:txBody>
      </p:sp>
      <p:pic>
        <p:nvPicPr>
          <p:cNvPr id="4" name="Image 0" descr="fig17_fak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630" y="1280160"/>
            <a:ext cx="1073426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先算 σ′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題目給取樣深度 z →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Σγ′h，再和實驗室壓密壓力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比較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&lt; σ′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試體形同人造 OC：拿假 c′ 去設計現地 NC 土，會高估強度（偏不安全）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 3 ＋ 免費雙重驗算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比值有天花板、切點要在線上、A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要落在合理區間</a:t>
            </a:r>
            <a:endParaRPr lang="en-US" sz="2600" dirty="0"/>
          </a:p>
        </p:txBody>
      </p:sp>
      <p:pic>
        <p:nvPicPr>
          <p:cNvPr id="4" name="Image 0" descr="fig18_check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630" y="1280160"/>
            <a:ext cx="1073426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/σ′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天花板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課本式 &lt; 0.5；一般 NC 約 0.2～0.35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切點檢核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τ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c′ +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tan φ′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檢核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NC：A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u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/Δσ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在 0.5～1.0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考場速查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寫答案前，四格各花 5 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還是 OC？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關鍵字：正常壓密、OCR = 1、首次加載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不確定 → 看兩組 Δσ</a:t>
            </a:r>
            <a:pPr indent="0" marL="0">
              <a:spcAft>
                <a:spcPts val="1000"/>
              </a:spcAft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/σ</a:t>
            </a:r>
            <a:pPr indent="0" marL="0">
              <a:spcAft>
                <a:spcPts val="1000"/>
              </a:spcAft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是否相等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4592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比例法用對了嗎？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38328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 c′ = 0 才能用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硬套：[SM-2024-1] 高估 20.2%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645920"/>
            <a:ext cx="640080" cy="64008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 是真的嗎？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38328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</a:t>
            </a:r>
            <a:pPr indent="0" marL="0">
              <a:spcAft>
                <a:spcPts val="10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&lt; σ′</a:t>
            </a:r>
            <a:pPr indent="0" marL="0">
              <a:spcAft>
                <a:spcPts val="10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虛擬凝聚力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設計會偏於不安全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15400" y="141732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1645920"/>
            <a:ext cx="640080" cy="640080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驗算過了嗎？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38328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10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/σ′</a:t>
            </a:r>
            <a:pPr indent="0" marL="0">
              <a:spcAft>
                <a:spcPts val="10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&lt; 0.5、A</a:t>
            </a:r>
            <a:pPr indent="0" marL="0">
              <a:spcAft>
                <a:spcPts val="10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0.5～1.0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切點落在包絡線上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拼圖四的核心只有一句：先判斷包絡線過不過原點，再決定可以用哪些捷徑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重點回顧：四塊拼圖全景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30352" cy="5303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拼圖一 真參數只有一組：強度只由有效應力決定，φ′、c′ 才是土壤本性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30352" cy="53035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拼圖二 兩個閥門定生死：CD / CU / UU 只是讓莫爾圓平移 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530352" cy="53035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91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0040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拼圖三 一張莫爾圓走天下：C、R、T 推出萬能式、幾何式、正弦式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拼圖四 NC / OC 分岔：c′ = 0 → 相似形三大捷徑；c′ ≠ 0 → 萬能式＋相減法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530352" cy="530352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937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4632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手算主線：保留 K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、√K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往下代，最後才轉 φ′；交卷前做切點與 A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檢核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下一步：挑一題歷屆考題（[SM-2018-2] 或 [SM-2024-1]）在紙上動筆列式，按本篇 SOP 自己走一遍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SM-U1-5 拼圖四：NC / OC 分岔</dc:title>
  <dc:subject>PptxGenJS Presentation</dc:subject>
  <dc:creator>PptxGenJS</dc:creator>
  <cp:lastModifiedBy>PptxGenJS</cp:lastModifiedBy>
  <cp:revision>1</cp:revision>
  <dcterms:created xsi:type="dcterms:W3CDTF">2026-09-25T10:34:00Z</dcterms:created>
  <dcterms:modified xsi:type="dcterms:W3CDTF">2026-09-25T10:34:00Z</dcterms:modified>
</cp:coreProperties>
</file>