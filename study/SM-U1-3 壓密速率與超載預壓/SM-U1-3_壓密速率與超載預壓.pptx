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-4-1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-5-1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-7-1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-8-1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-9-1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-11-1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-12-1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SM-U1-3　土壤力學｜觀念講義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壓密速率與超載預壓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多久會沉完？等不及怎麼辦？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一個示範案例貫穿全篇：黏土 H = 4 m、cv = 3.15 m²/yr、Sc = 86.9 mm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889504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sm13-fig-11 ～ 13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結構技師「土壤力學」｜排水路徑 → U–Tv 兩段式 → 超載預壓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三個問題串成一條解題線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水要走多遠？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判斷單面／雙面排水，決定 Hdr。t ∝ Hdr²，判錯直接差 4 倍。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走到哪裡算完？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與 Tv 以 60% 為界換公式；末期每 1% 愈來愈貴，工程上不等 100%。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等不及怎麼辦？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超載預壓把目標 U 降到 Sc/Scf；排水帶則是真的縮短 Hdr。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30 秒解題 SOP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 Hdr → 定 U → 選 Tv 式 → t = Tv·Hdr²/cv。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時間因數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最貴的一句話：Hdr 必帶平方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無因次時間因數</a:t>
            </a:r>
            <a:endParaRPr lang="en-US" sz="1300" dirty="0"/>
          </a:p>
        </p:txBody>
      </p:sp>
      <p:pic>
        <p:nvPicPr>
          <p:cNvPr id="7" name="Image 0" descr="formula_imgs/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9261" y="1847088"/>
            <a:ext cx="1606199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反推所需時間（t 與 Hdr² 成正比）</a:t>
            </a:r>
            <a:endParaRPr lang="en-US" sz="1300" dirty="0"/>
          </a:p>
        </p:txBody>
      </p:sp>
      <p:pic>
        <p:nvPicPr>
          <p:cNvPr id="11" name="Image 1" descr="formula_imgs/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663" y="3334512"/>
            <a:ext cx="1795395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同一層土：單面 vs 雙面的時間比</a:t>
            </a:r>
            <a:endParaRPr lang="en-US" sz="1300" dirty="0"/>
          </a:p>
        </p:txBody>
      </p:sp>
      <p:pic>
        <p:nvPicPr>
          <p:cNvPr id="15" name="Image 2" descr="formula_imgs/rat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738" y="4821936"/>
            <a:ext cx="3069244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Tv 只由 U 決定、與土層無關；真正讓時間不同的是 cv 與 Hdr。Hdr 是「水最長要走的距離」，不是土層厚度本身。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sm13-fig-11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同一時刻比一比：雙面排水的水壓消散快得多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63524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13-A-drainage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7760" y="1783080"/>
            <a:ext cx="6477000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58200" y="1691640"/>
            <a:ext cx="3182112" cy="4846320"/>
          </a:xfrm>
          <a:prstGeom prst="roundRect">
            <a:avLst>
              <a:gd name="adj" fmla="val 229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8714232" y="189280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14232" y="2313432"/>
            <a:ext cx="267004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等時線以 Terzaghi 級數解畫出：雙面排水的最大水壓在層中央，單面排水在不透水底部。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同樣經過 1 年，雙面已達 U≈88%，單面只到 50%——這就是 Hdr 從 2 m 變 4 m 的代價。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t90：雙面 1.08 年、單面 4.31 年，比值恰為 (4/2)² = 4。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判斷只看黏土層上下邊界：兩側都透水 → H/2；一側岩盤或不透水層 → H。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實驗室 → 現場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cv 可以搬，Hdr 要重判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63524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13-B-lab-fiel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" y="1879092"/>
            <a:ext cx="7452360" cy="4471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58200" y="1691640"/>
            <a:ext cx="3182112" cy="4846320"/>
          </a:xfrm>
          <a:prstGeom prst="roundRect">
            <a:avLst>
              <a:gd name="adj" fmla="val 229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8714232" y="189280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14232" y="2313432"/>
            <a:ext cx="267004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壓密試驗試體上下都有透水石，一律雙面排水：Hdr,lab = Hlab/2。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先用實驗室 t50 或 t90 反推 cv——cv 是土的性質，搬到現場不變。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再看現場邊界重新決定 Hdr,field，代 t = Tv·Hdr²/cv。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最常見的失分不是公式，而是 mm、cm、min 沒換成 m、yr。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U 與 Tv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60% 是分界，過了就要換公式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前段：拋物線近似（U 用小數）</a:t>
            </a:r>
            <a:endParaRPr lang="en-US" sz="1300" dirty="0"/>
          </a:p>
        </p:txBody>
      </p:sp>
      <p:pic>
        <p:nvPicPr>
          <p:cNvPr id="7" name="Image 0" descr="formula_imgs/pa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525" y="2084832"/>
            <a:ext cx="6857670" cy="1188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後段：對數近似（U 用百分比數字）</a:t>
            </a:r>
            <a:endParaRPr lang="en-US" sz="1300" dirty="0"/>
          </a:p>
        </p:txBody>
      </p:sp>
      <p:pic>
        <p:nvPicPr>
          <p:cNvPr id="11" name="Image 1" descr="formula_imgs/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631476"/>
            <a:ext cx="7772400" cy="5577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兩式在 U = 60% 分別給 Tv = 0.283 與 0.286，幾乎接上，所以切換沒有跳階。已知 U 求 t：先看 U 有沒有過 60%；已知 t 求 U：先算 Tv，再看有沒有過 0.286。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sm13-fig-12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兩條近似式各管一段，接點就在 60%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63524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13-C-u-tv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260" y="1783080"/>
            <a:ext cx="6858000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58200" y="1691640"/>
            <a:ext cx="3182112" cy="4846320"/>
          </a:xfrm>
          <a:prstGeom prst="roundRect">
            <a:avLst>
              <a:gd name="adj" fmla="val 229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8714232" y="189280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14232" y="2313432"/>
            <a:ext cx="267004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灰色粗線是 Terzaghi 級數精確解，兩條近似式在各自範圍內幾乎與它重合。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藍虛線：拋物線式硬用到 60% 以上會高估 U，在 Tv≈0.79 就衝到 100%。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紅虛線：對數式用在低 U 時同樣偏離——所以一定要先判斷在哪一段。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在 (π/4)U² 裡是小數、在 log(100−U%) 裡是百分比數字，單位最常錯在這。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壓密末期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為什麼壓密末期「等不起」？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63524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sm13-D-time-bars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715" y="1783080"/>
            <a:ext cx="6373091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58200" y="1691640"/>
            <a:ext cx="3182112" cy="4389120"/>
          </a:xfrm>
          <a:prstGeom prst="roundRect">
            <a:avLst>
              <a:gd name="adj" fmla="val 229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8714232" y="189280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14232" y="2313432"/>
            <a:ext cx="26700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0→50% 花 1.00 年；90→95% 只多 5%，卻要 1.42 年。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下圖把每段時間除以壓密增量：末段每 1% 的代價是前段的 14 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所以工程上不會等 U = 100%，而是想辦法把「需要的 U」降下來。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數字：單面排水 Hdr = 4 m、cv = 3.15 m²/yr；U = 50/60/70/80/90/95% 對應 t = 1.00／1.45／2.05／2.88／4.31／5.73 年。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物理機制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慢的原因：推水出去的梯度愈來愈小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63524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13-E-gradient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947" y="1783080"/>
            <a:ext cx="7286625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58200" y="1691640"/>
            <a:ext cx="3182112" cy="4846320"/>
          </a:xfrm>
          <a:prstGeom prst="roundRect">
            <a:avLst>
              <a:gd name="adj" fmla="val 229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8714232" y="189280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14232" y="2313432"/>
            <a:ext cx="267004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出水速率由排水面的水力梯度決定；U 愈高，等時線愈貼近 u = 0，梯度愈平。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= 90% 時，排水面梯度只剩 U = 50% 時的約 1/5。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末期規律：剩餘沉陷每減半，就要再花 ΔTv ≈ 0.281，本例 ≈ 1.43 年。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80→90% 與 90→95% 都是「剩餘量減半」，所以兩段時間幾乎一樣。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超載預壓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把終點線往前搬：U = Sc / Scf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目標壓密度 = 設計沉陷 ÷ 預壓沉陷</a:t>
            </a:r>
            <a:endParaRPr lang="en-US" sz="1300" dirty="0"/>
          </a:p>
        </p:txBody>
      </p:sp>
      <p:pic>
        <p:nvPicPr>
          <p:cNvPr id="7" name="Image 0" descr="formula_imgs/up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5298" y="1847088"/>
            <a:ext cx="1394123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代入示範案例（Δσ 80 → 125 kPa）</a:t>
            </a:r>
            <a:endParaRPr lang="en-US" sz="1300" dirty="0"/>
          </a:p>
        </p:txBody>
      </p:sp>
      <p:pic>
        <p:nvPicPr>
          <p:cNvPr id="11" name="Image 1" descr="formula_imgs/upre_nu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48720"/>
            <a:ext cx="7772400" cy="6920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預壓所需時間（Hdr = 4 m）</a:t>
            </a:r>
            <a:endParaRPr lang="en-US" sz="1300" dirty="0"/>
          </a:p>
        </p:txBody>
      </p:sp>
      <p:pic>
        <p:nvPicPr>
          <p:cNvPr id="15" name="Image 2" descr="formula_imgs/tp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50" y="4821936"/>
            <a:ext cx="4617620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= 57.7% &lt; 60%，所以走拋物線式。對照不預壓要等 U = 90% 的 4.31 年，工期省下 69%。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sm13-fig-13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超載預壓：不是把土變快，是把目標降下來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63524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13-F-preloa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351" y="1783080"/>
            <a:ext cx="7065818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58200" y="1691640"/>
            <a:ext cx="3182112" cy="4846320"/>
          </a:xfrm>
          <a:prstGeom prst="roundRect">
            <a:avLst>
              <a:gd name="adj" fmla="val 229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8714232" y="189280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14232" y="2313432"/>
            <a:ext cx="267004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紅線是預壓載重下的沉陷，同一條 U(t) 曲線乘上較大的 Scf，所以每一刻都沉得比較多。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紅線碰到 Sc = 86.9 mm 就卸載：此時 U 只有 57.7%，t = 1.33 年。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藍線是不預壓，要到 4.31 年才到 0.9 Sc，而且還沒沉完。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兩條曲線的時間形狀完全相同——cv、Hdr、k 都沒變。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追問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改 U 還是改 Hdr？預壓與排水帶是兩件事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63524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13-G-pre-vs-drain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" y="1879092"/>
            <a:ext cx="7452360" cy="4471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58200" y="1691640"/>
            <a:ext cx="3182112" cy="4846320"/>
          </a:xfrm>
          <a:prstGeom prst="roundRect">
            <a:avLst>
              <a:gd name="adj" fmla="val 229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8714232" y="189280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14232" y="2313432"/>
            <a:ext cx="267004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超載預壓只改變「要跑到哪」：目標 U 從 90% 降到 57.7%。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排水砂樁、塑膠排水帶才真的改變「要跑多遠」：徑向排水，路徑縮到間距的一半。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兩者作用在 t = Tv·Hdr²/cv 的不同項，所以常常併用。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申論追問「加排水帶是不是超載？」答：不是，一個改 Tv、一個改 Hdr。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壓密時間與預壓：30 秒解題 SOP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所有題型都收斂到同一條式子：t = Tv·Hdr²/cv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SM-U1-3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讀題：黏土層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上下邊界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實驗室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轉現場？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13" name="Text 11"/>
          <p:cNvSpPr/>
          <p:nvPr/>
        </p:nvSpPr>
        <p:spPr>
          <a:xfrm>
            <a:off x="5188306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是：Hdr,lab=Hlab/2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先反推 cv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8578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5" name="Text 13"/>
          <p:cNvSpPr/>
          <p:nvPr/>
        </p:nvSpPr>
        <p:spPr>
          <a:xfrm>
            <a:off x="5188306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否：題目直接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 cv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現場 Hdr：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雙面 H/2｜單面 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預壓題？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21" name="Text 19"/>
          <p:cNvSpPr/>
          <p:nvPr/>
        </p:nvSpPr>
        <p:spPr>
          <a:xfrm>
            <a:off x="9763963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是：U = Sc/Scf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54235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3" name="Text 21"/>
          <p:cNvSpPr/>
          <p:nvPr/>
        </p:nvSpPr>
        <p:spPr>
          <a:xfrm>
            <a:off x="9763963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否：U 看題目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5" name="Text 23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&lt; 60%？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78578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7" name="Text 25"/>
          <p:cNvSpPr/>
          <p:nvPr/>
        </p:nvSpPr>
        <p:spPr>
          <a:xfrm>
            <a:off x="5188306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是：Tv=(π/4)U²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78578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29" name="Text 27"/>
          <p:cNvSpPr/>
          <p:nvPr/>
        </p:nvSpPr>
        <p:spPr>
          <a:xfrm>
            <a:off x="5188306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否：Tv=1.781−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0.933log(100−U%)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31" name="Text 29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單位統一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m、yr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822546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822546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110374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110374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654235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654235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366406" y="3200400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366406" y="3200400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078578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078578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80664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790749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7" name="Text 45"/>
          <p:cNvSpPr/>
          <p:nvPr/>
        </p:nvSpPr>
        <p:spPr>
          <a:xfrm>
            <a:off x="2918765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 = Tv·Hdr²/cv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096866" y="4032504"/>
            <a:ext cx="6589166" cy="749808"/>
          </a:xfrm>
          <a:prstGeom prst="roundRect">
            <a:avLst>
              <a:gd name="adj" fmla="val 9756"/>
            </a:avLst>
          </a:prstGeom>
          <a:solidFill>
            <a:srgbClr val="F4F6F9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79746" y="4032504"/>
            <a:ext cx="62234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反向題（已知 t 求 U）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先算 Tv = cv·t/Hdr²；Tv &lt; 0.286 用 U = √(4Tv/π)，否則由對數式反解 U。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51" name="Text 49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三個必做檢查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3" name="Text 51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Hdr 平方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單面／雙面判錯差 4 倍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5" name="Text 53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的單位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拋物線用小數、對數用百分比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7" name="Text 55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cv 單位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實驗室 mm·min → m²/yr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壓密速率與超載預壓｜全公式一頁速查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時間因數</a:t>
            </a:r>
            <a:endParaRPr lang="en-US" sz="1050" dirty="0"/>
          </a:p>
        </p:txBody>
      </p:sp>
      <p:pic>
        <p:nvPicPr>
          <p:cNvPr id="7" name="Image 0" descr="formula_imgs/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291" y="1938528"/>
            <a:ext cx="1888081" cy="1082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所需時間</a:t>
            </a:r>
            <a:endParaRPr lang="en-US" sz="1050" dirty="0"/>
          </a:p>
        </p:txBody>
      </p:sp>
      <p:pic>
        <p:nvPicPr>
          <p:cNvPr id="11" name="Image 1" descr="formula_imgs/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236" y="1938528"/>
            <a:ext cx="2110480" cy="1082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單面／雙面時間比</a:t>
            </a:r>
            <a:endParaRPr lang="en-US" sz="1050" dirty="0"/>
          </a:p>
        </p:txBody>
      </p:sp>
      <p:pic>
        <p:nvPicPr>
          <p:cNvPr id="15" name="Image 2" descr="formula_imgs/rat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216" y="1967181"/>
            <a:ext cx="3416808" cy="102473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實驗室反推 cv</a:t>
            </a:r>
            <a:endParaRPr lang="en-US" sz="1050" dirty="0"/>
          </a:p>
        </p:txBody>
      </p:sp>
      <p:pic>
        <p:nvPicPr>
          <p:cNvPr id="19" name="Image 3" descr="formula_imgs/c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929" y="3660648"/>
            <a:ext cx="2548805" cy="10820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&lt; 60%（U 用小數）</a:t>
            </a:r>
            <a:endParaRPr lang="en-US" sz="1050" dirty="0"/>
          </a:p>
        </p:txBody>
      </p:sp>
      <p:pic>
        <p:nvPicPr>
          <p:cNvPr id="23" name="Image 4" descr="formula_imgs/para_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980" y="3660648"/>
            <a:ext cx="2792991" cy="108204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≥ 60%（U 用百分比數字）</a:t>
            </a:r>
            <a:endParaRPr lang="en-US" sz="1050" dirty="0"/>
          </a:p>
        </p:txBody>
      </p:sp>
      <p:pic>
        <p:nvPicPr>
          <p:cNvPr id="27" name="Image 5" descr="formula_imgs/log_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4034094"/>
            <a:ext cx="3416808" cy="33514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預壓目標壓密度</a:t>
            </a:r>
            <a:endParaRPr lang="en-US" sz="1050" dirty="0"/>
          </a:p>
        </p:txBody>
      </p:sp>
      <p:pic>
        <p:nvPicPr>
          <p:cNvPr id="31" name="Image 6" descr="formula_imgs/up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5938" y="5382768"/>
            <a:ext cx="1638787" cy="108204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末期剩餘量減半</a:t>
            </a:r>
            <a:endParaRPr lang="en-US" sz="1050" dirty="0"/>
          </a:p>
        </p:txBody>
      </p:sp>
      <p:pic>
        <p:nvPicPr>
          <p:cNvPr id="35" name="Image 7" descr="formula_imgs/hal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5548682"/>
            <a:ext cx="3416808" cy="75021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示範：預壓時間</a:t>
            </a:r>
            <a:endParaRPr lang="en-US" sz="1050" dirty="0"/>
          </a:p>
        </p:txBody>
      </p:sp>
      <p:pic>
        <p:nvPicPr>
          <p:cNvPr id="39" name="Image 8" descr="formula_imgs/tpr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5216" y="5583227"/>
            <a:ext cx="3416808" cy="6811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高頻陷阱精選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 H 當 Hdr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Hdr 是排水路徑長。兩側透水取 H/2，一側岩盤取 H；判錯時間差 4 倍。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實驗室 Hdr 沿用到現場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試體固定雙面排水，現場邊界要重判；可以搬的是 cv，不是 Hdr。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過了 60% 還用拋物線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≥ 60% 必須換對數式；硬用拋物線會低估所需時間。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U 的單位混用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(π/4)U² 用小數 0.577；log(100−U%) 用 57.7 這種百分比數字。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以為預壓改變了 cv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預壓只把目標 U 降為 Sc/Scf；cv、Hdr、k 都沒變。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把排水帶當成預壓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排水帶／砂樁改的是排水路徑（徑向排水），與超載是兩個獨立手段。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壓密速率與超載預壓｜重點回顧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Tv·Hdr²/cv：Hdr 帶平方，單面 4.31 年 vs 雙面 1.08 年，恰為 4 倍。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以 60% 為界：前段 (π/4)U²、後段 1.781 − 0.933 log(100−U%)。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末期剩餘量每減半就要 ΔTv ≈ 0.281，所以工程上不等 U = 100%。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超載預壓把目標 U 降到 Sc/Scf = 57.7%，工期 4.31 → 1.33 年，省 69%。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SM-U1-3 壓密速率與超載預壓</dc:title>
  <dc:subject>PptxGenJS Presentation</dc:subject>
  <dc:creator>YJ</dc:creator>
  <cp:lastModifiedBy>YJ</cp:lastModifiedBy>
  <cp:revision>1</cp:revision>
  <dcterms:created xsi:type="dcterms:W3CDTF">2026-09-19T23:23:00Z</dcterms:created>
  <dcterms:modified xsi:type="dcterms:W3CDTF">2026-09-19T23:23:00Z</dcterms:modified>
</cp:coreProperties>
</file>