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　土壤力學｜觀念講義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土壤強度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一組真參數、無限多組表觀角度 —— 用三問決策流程把任何一題定型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 土壤強度｜觀念講義（理解導向）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本單元的四條主軸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真參數只有一組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抗剪強度由有效應力決定：τf = c' + σ' tanφ'。φu、φcu 都是試驗條件的產物，不是土的性質。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兩個閥門定生死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壓密排不排水 × 剪切排不排水 → UU / CU / CD。閥門組合決定孔隙水壓 u 的變化規律。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一張 Mohr 圓走天下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圓心 C、半徑 R、包絡線切點 T，推出三條破壞條件式；破壞面角度 θ = 45° + φ'/2。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NC / OC 分岔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包絡線過不過原點，決定 c' 是否為 0，也決定相似形比例法能不能用。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底層邏輯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為什麼同一種土會量到好幾個摩擦角？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1_effective_st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水是各向同性的，不能傳遞剪應力；剪力只能靠顆粒接觸點的摩擦傳遞，所以強度只跟 σ' 有關。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圖右三條線是同一種土：橘色實線（有效）才是材料性質，兩條虛線是不同試驗條件下的表觀結果。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這就是為什麼「總應力參數」永遠要附註是哪一種試驗量到的，而 c'、φ' 不用。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本單元所有題目的第一步，都是先判斷題目給的是總應力還是有效應力。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基礎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抗剪強度的兩個版本與有效應力原理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有效應力原理</a:t>
            </a:r>
            <a:endParaRPr lang="en-US" sz="1300" dirty="0"/>
          </a:p>
        </p:txBody>
      </p:sp>
      <p:pic>
        <p:nvPicPr>
          <p:cNvPr id="7" name="Image 0" descr="formula_imgs/f_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001" y="1847088"/>
            <a:ext cx="314671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有效應力破壞準則（唯一真式）</a:t>
            </a:r>
            <a:endParaRPr lang="en-US" sz="1300" dirty="0"/>
          </a:p>
        </p:txBody>
      </p:sp>
      <p:pic>
        <p:nvPicPr>
          <p:cNvPr id="11" name="Image 1" descr="formula_imgs/f_m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141" y="3334512"/>
            <a:ext cx="467243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總應力破壞準則（試驗結果的表達）</a:t>
            </a:r>
            <a:endParaRPr lang="en-US" sz="1300" dirty="0"/>
          </a:p>
        </p:txBody>
      </p:sp>
      <p:pic>
        <p:nvPicPr>
          <p:cNvPr id="15" name="Image 2" descr="formula_imgs/f_mc_t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29284"/>
            <a:ext cx="7772400" cy="7057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c'、φ' 是材料常數；cu、φu 只在該試驗的排水條件下成立。飽和土 UU 的 φu = 0，抗剪強度退化成常數 Su。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試驗分類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兩個閥門：壓密排不排水 × 剪切排不排水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2_two_val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第一個閥門決定試體在剪之前有沒有先把 u 消散掉（有沒有壓密）。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第二個閥門決定剪切過程中 u 能不能跑掉：跑得掉 u = 0（CD），跑不掉就累積成 uf（CU、UU）。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沒有「UD」，因為現場若土能排水，早就在圍壓下完成壓密了。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三種試驗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UU / CU / CD 一次看懂：量到什麼、對應什麼現場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2194560"/>
                <a:gridCol w="256032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試驗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孔隙水壓 u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量到的參數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圓的行為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對應現場情境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UU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Δu = Δσ3（全由水承受）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φu = 0、Su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不同圍壓的圓大小完全相同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快速加載、開挖後立即穩定、施工期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CU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壓密時歸零，剪切時累積 uf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φcu（總）與 c'、φ'（有效）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有效圓＝總應力圓左移 uf，半徑不變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既有結構上再快速加載、水位驟降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CD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全程 u = 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c'、φ'（直接量到）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只有一個圓，總應力＝有效應力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長期穩定、砂土、緩慢加載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無圍壓壓縮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不量測（視為 UU 的 σ3 = 0）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qu = 2Su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圓從原點長出來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黏土快速定強度、現場初判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解題 30 秒決策流程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拿到題目先問三個問題，解法就完全固定了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627632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5" name="Text 3"/>
          <p:cNvSpPr/>
          <p:nvPr/>
        </p:nvSpPr>
        <p:spPr>
          <a:xfrm>
            <a:off x="4251960" y="1682496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第一問：哪一種試驗？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2404872"/>
            <a:ext cx="-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9208" y="242316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569208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121152" cy="768096"/>
          </a:xfrm>
          <a:prstGeom prst="roundRect">
            <a:avLst>
              <a:gd name="adj" fmla="val 8333"/>
            </a:avLst>
          </a:prstGeom>
          <a:solidFill>
            <a:srgbClr val="DCE6F0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697480"/>
            <a:ext cx="286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0，總應力＝有效應力，直接畫一個圓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2404872"/>
            <a:ext cx="0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57800" y="242316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0144" y="2697480"/>
            <a:ext cx="3121152" cy="768096"/>
          </a:xfrm>
          <a:prstGeom prst="roundRect">
            <a:avLst>
              <a:gd name="adj" fmla="val 8333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4328160" y="2697480"/>
            <a:ext cx="286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有效圓＝總應力圓左移 uf，半徑不變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0" y="2404872"/>
            <a:ext cx="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46392" y="2423160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46392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77328" y="2697480"/>
            <a:ext cx="3121152" cy="768096"/>
          </a:xfrm>
          <a:prstGeom prst="roundRect">
            <a:avLst>
              <a:gd name="adj" fmla="val 8333"/>
            </a:avLst>
          </a:prstGeom>
          <a:solidFill>
            <a:srgbClr val="DCE6F0"/>
          </a:solidFill>
          <a:ln/>
        </p:spPr>
      </p:sp>
      <p:sp>
        <p:nvSpPr>
          <p:cNvPr id="20" name="Text 18"/>
          <p:cNvSpPr/>
          <p:nvPr/>
        </p:nvSpPr>
        <p:spPr>
          <a:xfrm>
            <a:off x="7705344" y="2697480"/>
            <a:ext cx="286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Δu = Δσ3，各圍壓的圓大小相同，φu = 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383536" y="3465576"/>
            <a:ext cx="3377184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3465576"/>
            <a:ext cx="0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37904" y="3465576"/>
            <a:ext cx="-3377184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14800" y="3721608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3776472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第二問：NC 還是 OC？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4498848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91356" y="4517136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991356" y="4517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791456"/>
            <a:ext cx="4809744" cy="768096"/>
          </a:xfrm>
          <a:prstGeom prst="roundRect">
            <a:avLst>
              <a:gd name="adj" fmla="val 8333"/>
            </a:avLst>
          </a:prstGeom>
          <a:solidFill>
            <a:srgbClr val="DCE6F0"/>
          </a:solidFill>
          <a:ln/>
        </p:spPr>
      </p:sp>
      <p:sp>
        <p:nvSpPr>
          <p:cNvPr id="30" name="Text 28"/>
          <p:cNvSpPr/>
          <p:nvPr/>
        </p:nvSpPr>
        <p:spPr>
          <a:xfrm>
            <a:off x="950976" y="4791456"/>
            <a:ext cx="4553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c' = 0，包絡線過原點 → 四大捷徑全開（正弦公式、比例法、Su/σ'v0）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60720" y="4498848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24244" y="4517136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24244" y="4517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88736" y="4791456"/>
            <a:ext cx="4809744" cy="768096"/>
          </a:xfrm>
          <a:prstGeom prst="roundRect">
            <a:avLst>
              <a:gd name="adj" fmla="val 8333"/>
            </a:avLst>
          </a:prstGeom>
          <a:solidFill>
            <a:srgbClr val="DCE6F0"/>
          </a:solidFill>
          <a:ln/>
        </p:spPr>
      </p:sp>
      <p:sp>
        <p:nvSpPr>
          <p:cNvPr id="35" name="Text 33"/>
          <p:cNvSpPr/>
          <p:nvPr/>
        </p:nvSpPr>
        <p:spPr>
          <a:xfrm>
            <a:off x="6016752" y="4791456"/>
            <a:ext cx="4553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c' ≠ 0，捷徑全部失效 → 回到完整式 σ'1 = σ'3 Kp + 2c'√Kp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27832" y="5559552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293608" y="5559552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22960" y="5815584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" y="5815584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第三問：題目要總應力還是有效應力？問破壞面角度一律只能用 φ'（θ = 45° + φ'/2）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三軸試驗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三軸怎麼加載：先把圓縮成一點，再把圓撐大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3_triaxial_lo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階段①施加各向同性圍壓 σ3，此時 σ1 = σ3，Mohr 圓縮成軸上一點。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階段②施加軸差應力 Δσd，圓往右長大，直到碰上包絡線即破壞。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最常見的失分：把題目給的 Δσd 直接當成 σ1。務必先做 σ1 = σ3 + Δσd。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幾何來源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三條破壞條件式其實是同一張圖的三種寫法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4_mohr_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圓心 C 與半徑 R 是所有題目共用的兩個量；包絡線與圓相切，切點 T 就是破壞面上的應力狀態。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C、R、φ'、c' 的直角三角形直接讀出 R = C sinφ' + c' cosφ'（公式②）。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切點半徑與 +σ 軸夾角恰為 90° + φ'，所以 2θ = 90° + φ' → θ = 45° + φ'/2。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破壞條件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三條破壞條件式與 Kp 的定義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萬能表示式（任何土都能用）</a:t>
            </a:r>
            <a:endParaRPr lang="en-US" sz="1300" dirty="0"/>
          </a:p>
        </p:txBody>
      </p:sp>
      <p:pic>
        <p:nvPicPr>
          <p:cNvPr id="7" name="Image 0" descr="formula_imgs/f_k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6034" y="1847088"/>
            <a:ext cx="3252651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被動土壓係數／流值 Kp</a:t>
            </a:r>
            <a:endParaRPr lang="en-US" sz="1300" dirty="0"/>
          </a:p>
        </p:txBody>
      </p:sp>
      <p:pic>
        <p:nvPicPr>
          <p:cNvPr id="11" name="Image 1" descr="formula_imgs/f_kpd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182" y="2962656"/>
            <a:ext cx="351635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幾何關係式（已知 C、R 時最快）</a:t>
            </a:r>
            <a:endParaRPr lang="en-US" sz="1300" dirty="0"/>
          </a:p>
        </p:txBody>
      </p:sp>
      <p:pic>
        <p:nvPicPr>
          <p:cNvPr id="15" name="Image 2" descr="formula_imgs/f_g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496" y="4078224"/>
            <a:ext cx="379772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NC 專用正弦公式</a:t>
            </a:r>
            <a:endParaRPr lang="en-US" sz="1300" dirty="0"/>
          </a:p>
        </p:txBody>
      </p:sp>
      <p:pic>
        <p:nvPicPr>
          <p:cNvPr id="19" name="Image 3" descr="formula_imgs/f_ncs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308" y="5193792"/>
            <a:ext cx="2212104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手算技巧：解出 √Kp 後直接往下一階段代，不要先轉成角度 φ' 再轉回 Kp，可避開四捨五入的累積誤差。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微型例題①｜CD 砂土：一組數據把整題問完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 CD 三軸，σ3 = 100 kPa，破壞時 Δσd = 200 kPa（c' = 0）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 砂土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σ3 = 100 kPa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Δσd = 200 kPa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σ1 = 100 + 200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300 kPa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200 kPa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100 kPa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c' = 0？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sin φ' = R/C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100/200 = 0.5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φ' = 30°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 = tan²(60°)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3.0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45° + 15°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60°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σ' = C − R sinφ' = 150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τ = R cosφ' = 86.6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φ' = 30°、θ = 60°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完整答案：φ' = 30°、Kp = 3.0、θ = 60°、破壞面 (σ', τ) = (150, 86.6) kPa。驗算：τ = σ' tanφ' = 150 × 0.5774 = 86.6 ✓；σ1 = σ3·Kp = 300 ✓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三個必做的動作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先加回 σ3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Δσd 不是 σ1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 c' = 0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才能用正弦公式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角度用 φ'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45° + φ'/2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CU 試驗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CU：兩個圓、同樣大，只差一個 uf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5_cu_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剪切階段 σ1 與 σ3 同時扣掉同一個 uf，所以圓心左移 uf，半徑 R 完全不變。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兩個圓各自有自己的切線：右邊那條較平的就是 φcu，左邊較陡的才是 φ'。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正孔壓（NC 黏土）讓圓往左移 → φcu &lt; φ'；負孔壓（重壓密 OC）會讓圓往右移，反而 φcu &gt; φ'。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CU 與孔隙水壓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從總應力跳到有效應力：只要扣掉 uf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兩邊同扣 uf</a:t>
            </a:r>
            <a:endParaRPr lang="en-US" sz="1300" dirty="0"/>
          </a:p>
        </p:txBody>
      </p:sp>
      <p:pic>
        <p:nvPicPr>
          <p:cNvPr id="7" name="Image 0" descr="formula_imgs/f_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5075" y="1847088"/>
            <a:ext cx="501457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Skempton 孔壓參數（B = 1 為飽和土）</a:t>
            </a:r>
            <a:endParaRPr lang="en-US" sz="1300" dirty="0"/>
          </a:p>
        </p:txBody>
      </p:sp>
      <p:pic>
        <p:nvPicPr>
          <p:cNvPr id="11" name="Image 1" descr="formula_imgs/f_skempt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918" y="2962656"/>
            <a:ext cx="5174884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破壞時的 A 值（σ3 固定的三軸壓縮）</a:t>
            </a:r>
            <a:endParaRPr lang="en-US" sz="1300" dirty="0"/>
          </a:p>
        </p:txBody>
      </p:sp>
      <p:pic>
        <p:nvPicPr>
          <p:cNvPr id="15" name="Image 2" descr="formula_imgs/f_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907" y="4078224"/>
            <a:ext cx="3856906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黏土的總應力摩擦角</a:t>
            </a:r>
            <a:endParaRPr lang="en-US" sz="1300" dirty="0"/>
          </a:p>
        </p:txBody>
      </p:sp>
      <p:pic>
        <p:nvPicPr>
          <p:cNvPr id="19" name="Image 3" descr="formula_imgs/f_phic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806" y="5193792"/>
            <a:ext cx="426310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值反映剪脹傾向：NC 黏土 A ≈ 0.5～1.0（正孔壓），重壓密 OC 黏土 A 可為負（負孔壓、短期反而較強）。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微型例題②｜CU NC 黏土：兩套參數＋比例法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黏土 CU 試驗，σ3 = 150 kPa，破壞時 Δσd = 120 kPa、uf = 70 kPa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 NC 黏土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σ3 = 150、Δσd = 120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uf = 70 kPa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σ1 = 270 kPa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210、R = 60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 sin φcu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120/420 = 0.2857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φcu = 16.6°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扣掉 uf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σ'1 = 200 kPa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σ'3 = 80 kPa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sin φ' = 120/280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0.4286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φ' = 25.4°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45° + 12.7°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57.7°（用 φ'）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σ3 改 300 kPa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比例法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Δσd = 120 × 2 = 240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φcu = 16.6°、φ' = 25.4°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最常見的扣分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完整答案：φcu = 16.6°、φ' = 25.4°、θ = 57.7°、σ3 = 300 kPa 時 Δσd = 240 kPa。注意：若誤把 φcu 代進角度式會得 53.3°，差 4.4°。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三個檢查點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半徑不變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60 兩個圓都一樣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Af = uf/Δσd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70/120 = 0.58，正常 NC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比例法限 NC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c' = 0 才成立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UU 試驗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UU：為什麼圍壓加再多，強度都不變？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6_uu_same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飽和土 B = 1，圍壓增量全部被孔隙水吃掉（Δu = Δσ3），有效應力完全沒變。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有效應力沒變 → 抗剪強度沒變 → 每個總應力圓的半徑都等於 Su，包絡線水平（φu = 0）。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φu = 0 不代表土沒有摩擦角，而是這個試驗看不到摩擦角。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不排水強度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UU 家族：Su、qu 與現地強度的推估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不排水剪力強度＝莫爾圓半徑</a:t>
            </a:r>
            <a:endParaRPr lang="en-US" sz="1300" dirty="0"/>
          </a:p>
        </p:txBody>
      </p:sp>
      <p:pic>
        <p:nvPicPr>
          <p:cNvPr id="7" name="Image 0" descr="formula_imgs/f_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8711" y="1847088"/>
            <a:ext cx="2167298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無圍壓壓縮試驗（σ3 = 0）</a:t>
            </a:r>
            <a:endParaRPr lang="en-US" sz="1300" dirty="0"/>
          </a:p>
        </p:txBody>
      </p:sp>
      <p:pic>
        <p:nvPicPr>
          <p:cNvPr id="11" name="Image 1" descr="formula_imgs/f_q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28" y="2962656"/>
            <a:ext cx="1580663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黏土：Su 與現地有效覆土壓的固定比值</a:t>
            </a:r>
            <a:endParaRPr lang="en-US" sz="1300" dirty="0"/>
          </a:p>
        </p:txBody>
      </p:sp>
      <p:pic>
        <p:nvPicPr>
          <p:cNvPr id="15" name="Image 2" descr="formula_imgs/f_su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989" y="4078224"/>
            <a:ext cx="147674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黏土的修正（Ladd）</a:t>
            </a:r>
            <a:endParaRPr lang="en-US" sz="1300" dirty="0"/>
          </a:p>
        </p:txBody>
      </p:sp>
      <p:pic>
        <p:nvPicPr>
          <p:cNvPr id="19" name="Image 3" descr="formula_imgs/f_ocrs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711" y="5193792"/>
            <a:ext cx="320529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 隨深度線性成長是 NC 黏土的重要特徵；OC 黏土因為曾受更大壓密應力，同深度的 Su 會偏高。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微型例題③｜從 qu 反推現地有效覆土壓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 NC 黏土無圍壓壓縮 qu = 96 kPa；同層有效應力摩擦角 φ' = 26°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無圍壓壓縮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 = 96 kPa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 = qu/2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48 kPa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同層改做 UU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σ3 = 200 kPa？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φu = 0 → 強度不變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Δσd = 2Su = 96 kPa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該層為 NC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φ' = 26°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Su/σ'v0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sin26°/(1+sin26°)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0.4384/1.4384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0.305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σ'v0 = 48/0.305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157.5 kPa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σ'v0 ≈ 157.5 kPa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延伸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完整答案：Su = 48 kPa；UU 在任何圍壓下 Δσd = 96 kPa；現地 σ'v0 ≈ 157.5 kPa。延伸：若改為 OC（OCR = 4），Su/σ'v0 要乘 OCR^0.8 ≈ 3.03。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三個觀念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 = 2Su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σ3 = 0 的特例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與圍壓無關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Δσd 恆為 2Su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比值法限 NC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要乘 OCR 修正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NC vs OC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包絡線過不過原點，決定你能不能用比例法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7_nc_vs_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黏土的包絡線過原點，所有 Mohr 圓以原點為位似中心互為相似形 → 破壞應力與圍壓成正比。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黏土有截距 c'，圓不再相似，任何「圍壓變 2 倍、應力也變 2 倍」的推論都會出錯。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判斷方法：題目說「正常壓密」「OCR = 1」「首次加載」→ NC；說「過壓密」「曾受更大載重」「OCR &gt; 1」→ OC。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NC 捷徑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NC 黏土的四大捷徑（OC 一律不能用）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1：正弦公式</a:t>
            </a:r>
            <a:endParaRPr lang="en-US" sz="1300" dirty="0"/>
          </a:p>
        </p:txBody>
      </p:sp>
      <p:pic>
        <p:nvPicPr>
          <p:cNvPr id="7" name="Image 0" descr="formula_imgs/f_ncs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6308" y="1847088"/>
            <a:ext cx="221210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2：相似形比例法</a:t>
            </a:r>
            <a:endParaRPr lang="en-US" sz="1300" dirty="0"/>
          </a:p>
        </p:txBody>
      </p:sp>
      <p:pic>
        <p:nvPicPr>
          <p:cNvPr id="11" name="Image 1" descr="formula_imgs/f_p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854" y="2962656"/>
            <a:ext cx="4031012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3：現地不排水強度比值</a:t>
            </a:r>
            <a:endParaRPr lang="en-US" sz="1300" dirty="0"/>
          </a:p>
        </p:txBody>
      </p:sp>
      <p:pic>
        <p:nvPicPr>
          <p:cNvPr id="15" name="Image 2" descr="formula_imgs/f_su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989" y="4078224"/>
            <a:ext cx="147674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4：兩組試驗相減消去 c' 項</a:t>
            </a:r>
            <a:endParaRPr lang="en-US" sz="1300" dirty="0"/>
          </a:p>
        </p:txBody>
      </p:sp>
      <p:pic>
        <p:nvPicPr>
          <p:cNvPr id="19" name="Image 3" descr="formula_imgs/f_tw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259" y="5193792"/>
            <a:ext cx="4690203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捷徑 4 對 OC 也成立，而且正是解 OC 兩組試驗題的標準做法：先相減得 Kp，再回代任一式求 c'。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微型例題④｜兩組 CD 試驗聯立求 c' 與 φ'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黏土 CD 兩組：A（σ'3 = 100, σ'1 = 400）、B（σ'3 = 200, σ'1 = 650）單位 kPa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兩組 CD 數據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A: 100 → 400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B: 200 → 650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列式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σ'1 = σ'3 Kp + 2c'√Kp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c' ≠ 0（OC）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不能用比例法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兩式相減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消去 2c'√Kp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650 − 400 = (200−100)Kp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250 = 100 Kp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 = 2.5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√Kp = 1.5811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 A 式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2c'(1.5811) = 150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c' = 47.4 kPa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sin φ' = (Kp−1)/(Kp+1)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1.5/3.5 = 0.4286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φ' = 25.4°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c' = 47.4 kPa、φ' = 25.4°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 B 式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完整答案：Kp = 2.5、c' = 47.4 kPa、φ' = 25.4°（θ = 57.7°）。驗算 B 式：σ'1 = 200 × 2.5 + 2(47.4)(1.5811) = 500 + 150 = 650 kPa ✓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三個手算要點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留著 √Kp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不要轉成角度再轉回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相減先消 c'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一步得 Kp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回代驗算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用另一組檢查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破壞面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破壞面角度為什麼只能用 φ'？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8_failure_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顆粒是沿著有效應力決定的面滑動，實體破壞面只有一個角度，與你用哪種試驗量它無關。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Mohr 圓上切點半徑與 +σ 軸的夾角為 2θ = 90° + φ'，所以 θ = 45° + φ'/2。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題目若只給 φcu，必須先透過 uf 換算出 φ' 再代入；直接代 φcu 是最常見的送分題失分。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應力路徑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應力路徑：φcu 為什麼不是土壤的固有性質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9_stress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 與 CU 從同一個 p'0 出發卻走不同路徑，但有效應力終點都停在同一條 Kf 線上。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φcu 是「總應力路徑終點」的連線斜率，改變壓密比或加載方式，uf 一變它就跟著變。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Kf 線不是 Mohr–Coulomb 包絡線：tanα' = sinφ'、a = c' cosφ'，要換算才能回到 c'、φ'。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砂土補充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密砂為什麼比較強？尖峰、剪脹與臨界狀態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10_sand_dilata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密砂要剪動必須讓顆粒互相翻越（剪脹），這份額外功表現成尖峰摩擦角 φp。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剪到大變形時密砂鬆開、鬆砂壓實，孔隙比收斂到臨界孔隙比，強度同樣回到 φcv。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密砂 ≈ OC 黏土（剪脹、負孔壓）；鬆砂 ≈ NC 黏土（壓縮、正孔壓），兩者的觀念是同一套。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直剪試驗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直剪試驗：快，但破壞面是你指定的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11_direct_sh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直剪盒把破壞面強制固定在上下盒之間的水平面，不像三軸會自然挑 45° + φ'/2 的弱面。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只量到 σn 與 τ，不是主應力，所以每組試驗只能給包絡線上的一個點，畫不出完整 Mohr 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不能封閉排水也量不到 u，所以飽和黏土的不排水強度一定走三軸或現地十字片剪。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土壤強度｜基礎、Mohr 圓幾何與破壞條件式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有效應力原理</a:t>
            </a:r>
            <a:endParaRPr lang="en-US" sz="1050" dirty="0"/>
          </a:p>
        </p:txBody>
      </p:sp>
      <p:pic>
        <p:nvPicPr>
          <p:cNvPr id="7" name="Image 0" descr="formula_imgs/f_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03235"/>
            <a:ext cx="1889150" cy="5526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8686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2748686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2858414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有效應力破壞準則</a:t>
            </a:r>
            <a:endParaRPr lang="en-US" sz="1050" dirty="0"/>
          </a:p>
        </p:txBody>
      </p:sp>
      <p:pic>
        <p:nvPicPr>
          <p:cNvPr id="11" name="Image 1" descr="formula_imgs/f_m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414" y="2293461"/>
            <a:ext cx="1889150" cy="37217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40173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5040173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149901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總應力破壞準則</a:t>
            </a:r>
            <a:endParaRPr lang="en-US" sz="1050" dirty="0"/>
          </a:p>
        </p:txBody>
      </p:sp>
      <p:pic>
        <p:nvPicPr>
          <p:cNvPr id="15" name="Image 2" descr="formula_imgs/f_mc_t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01" y="2393773"/>
            <a:ext cx="1889150" cy="1715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31659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331659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7441387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圓心</a:t>
            </a:r>
            <a:endParaRPr lang="en-US" sz="1050" dirty="0"/>
          </a:p>
        </p:txBody>
      </p:sp>
      <p:pic>
        <p:nvPicPr>
          <p:cNvPr id="19" name="Image 3" descr="formula_imgs/f_cen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387" y="2110211"/>
            <a:ext cx="1889150" cy="73867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23146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9623146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9732874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半徑</a:t>
            </a:r>
            <a:endParaRPr lang="en-US" sz="1050" dirty="0"/>
          </a:p>
        </p:txBody>
      </p:sp>
      <p:pic>
        <p:nvPicPr>
          <p:cNvPr id="23" name="Image 4" descr="formula_imgs/f_radi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2874" y="2234478"/>
            <a:ext cx="1889150" cy="4901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57200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457200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566928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大主應力</a:t>
            </a:r>
            <a:endParaRPr lang="en-US" sz="1050" dirty="0"/>
          </a:p>
        </p:txBody>
      </p:sp>
      <p:pic>
        <p:nvPicPr>
          <p:cNvPr id="27" name="Image 5" descr="formula_imgs/f_s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000147"/>
            <a:ext cx="1889150" cy="40304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2748686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2748686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2858414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萬能表示式</a:t>
            </a:r>
            <a:endParaRPr lang="en-US" sz="1050" dirty="0"/>
          </a:p>
        </p:txBody>
      </p:sp>
      <p:pic>
        <p:nvPicPr>
          <p:cNvPr id="31" name="Image 6" descr="formula_imgs/f_k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8414" y="4042342"/>
            <a:ext cx="1889150" cy="31865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5040173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5040173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5149901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 定義</a:t>
            </a:r>
            <a:endParaRPr lang="en-US" sz="1050" dirty="0"/>
          </a:p>
        </p:txBody>
      </p:sp>
      <p:pic>
        <p:nvPicPr>
          <p:cNvPr id="35" name="Image 7" descr="formula_imgs/f_kpde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9901" y="4054290"/>
            <a:ext cx="1889150" cy="294755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331659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7331659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7441387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幾何關係式</a:t>
            </a:r>
            <a:endParaRPr lang="en-US" sz="1050" dirty="0"/>
          </a:p>
        </p:txBody>
      </p:sp>
      <p:pic>
        <p:nvPicPr>
          <p:cNvPr id="39" name="Image 8" descr="formula_imgs/f_ge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1387" y="4065210"/>
            <a:ext cx="1889150" cy="272917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9623146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9623146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9732874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NC 正弦公式</a:t>
            </a:r>
            <a:endParaRPr lang="en-US" sz="1050" dirty="0"/>
          </a:p>
        </p:txBody>
      </p:sp>
      <p:pic>
        <p:nvPicPr>
          <p:cNvPr id="43" name="Image 9" descr="formula_imgs/f_ncsi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2874" y="3967397"/>
            <a:ext cx="1889150" cy="46854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57200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57200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566928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破壞面角度</a:t>
            </a:r>
            <a:endParaRPr lang="en-US" sz="1050" dirty="0"/>
          </a:p>
        </p:txBody>
      </p:sp>
      <p:pic>
        <p:nvPicPr>
          <p:cNvPr id="47" name="Image 10" descr="formula_imgs/f_thet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5625248"/>
            <a:ext cx="1889150" cy="597079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2748686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2748686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2858414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破壞面上的應力</a:t>
            </a:r>
            <a:endParaRPr lang="en-US" sz="1050" dirty="0"/>
          </a:p>
        </p:txBody>
      </p:sp>
      <p:pic>
        <p:nvPicPr>
          <p:cNvPr id="51" name="Image 11" descr="formula_imgs/f_plan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8414" y="5837030"/>
            <a:ext cx="1889150" cy="173516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40173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5040173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149901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兩組試驗相減</a:t>
            </a:r>
            <a:endParaRPr lang="en-US" sz="1050" dirty="0"/>
          </a:p>
        </p:txBody>
      </p:sp>
      <p:pic>
        <p:nvPicPr>
          <p:cNvPr id="55" name="Image 12" descr="formula_imgs/f_tw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9901" y="5813296"/>
            <a:ext cx="1889150" cy="220985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7331659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7331659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7441387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不排水剪力強度</a:t>
            </a:r>
            <a:endParaRPr lang="en-US" sz="1050" dirty="0"/>
          </a:p>
        </p:txBody>
      </p:sp>
      <p:pic>
        <p:nvPicPr>
          <p:cNvPr id="59" name="Image 13" descr="formula_imgs/f_su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1387" y="5684674"/>
            <a:ext cx="1889150" cy="478228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9623146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9623146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9732874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無圍壓壓縮</a:t>
            </a:r>
            <a:endParaRPr lang="en-US" sz="1050" dirty="0"/>
          </a:p>
        </p:txBody>
      </p:sp>
      <p:pic>
        <p:nvPicPr>
          <p:cNvPr id="63" name="Image 14" descr="formula_imgs/f_qu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32874" y="5595931"/>
            <a:ext cx="1889150" cy="6557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土壤強度｜UU、CU、應力路徑與砂土補充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UU 的孔壓行為</a:t>
            </a:r>
            <a:endParaRPr lang="en-US" sz="1050" dirty="0"/>
          </a:p>
        </p:txBody>
      </p:sp>
      <p:pic>
        <p:nvPicPr>
          <p:cNvPr id="7" name="Image 0" descr="formula_imgs/f_u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57023"/>
            <a:ext cx="1889150" cy="2450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8686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2748686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2858414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NC：Su 與覆土壓比值</a:t>
            </a:r>
            <a:endParaRPr lang="en-US" sz="1050" dirty="0"/>
          </a:p>
        </p:txBody>
      </p:sp>
      <p:pic>
        <p:nvPicPr>
          <p:cNvPr id="11" name="Image 1" descr="formula_imgs/f_surat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414" y="2128619"/>
            <a:ext cx="1889150" cy="70185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40173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5040173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149901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 修正（Ladd）</a:t>
            </a:r>
            <a:endParaRPr lang="en-US" sz="1050" dirty="0"/>
          </a:p>
        </p:txBody>
      </p:sp>
      <p:pic>
        <p:nvPicPr>
          <p:cNvPr id="15" name="Image 2" descr="formula_imgs/f_ocrs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01" y="2317868"/>
            <a:ext cx="1889150" cy="32335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31659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331659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7441387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Skempton 孔壓參數</a:t>
            </a:r>
            <a:endParaRPr lang="en-US" sz="1050" dirty="0"/>
          </a:p>
        </p:txBody>
      </p:sp>
      <p:pic>
        <p:nvPicPr>
          <p:cNvPr id="19" name="Image 3" descr="formula_imgs/f_skempt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387" y="2379404"/>
            <a:ext cx="1889150" cy="20028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23146" y="155448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9623146" y="155448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9732874" y="164592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破壞時 A 值</a:t>
            </a:r>
            <a:endParaRPr lang="en-US" sz="1050" dirty="0"/>
          </a:p>
        </p:txBody>
      </p:sp>
      <p:pic>
        <p:nvPicPr>
          <p:cNvPr id="23" name="Image 4" descr="formula_imgs/f_a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2874" y="2345183"/>
            <a:ext cx="1889150" cy="26872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57200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457200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566928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CU：兩邊同扣 uf</a:t>
            </a:r>
            <a:endParaRPr lang="en-US" sz="1050" dirty="0"/>
          </a:p>
        </p:txBody>
      </p:sp>
      <p:pic>
        <p:nvPicPr>
          <p:cNvPr id="27" name="Image 5" descr="formula_imgs/f_shi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098323"/>
            <a:ext cx="1889150" cy="20669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2748686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2748686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2858414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總應力摩擦角</a:t>
            </a:r>
            <a:endParaRPr lang="en-US" sz="1050" dirty="0"/>
          </a:p>
        </p:txBody>
      </p:sp>
      <p:pic>
        <p:nvPicPr>
          <p:cNvPr id="31" name="Image 6" descr="formula_imgs/f_phic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8414" y="4080106"/>
            <a:ext cx="1889150" cy="24312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5040173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5040173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5149901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應力路徑座標</a:t>
            </a:r>
            <a:endParaRPr lang="en-US" sz="1050" dirty="0"/>
          </a:p>
        </p:txBody>
      </p:sp>
      <p:pic>
        <p:nvPicPr>
          <p:cNvPr id="35" name="Image 7" descr="formula_imgs/f_pq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9901" y="4043780"/>
            <a:ext cx="1889150" cy="315775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331659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7331659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7441387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Kf 線</a:t>
            </a:r>
            <a:endParaRPr lang="en-US" sz="1050" dirty="0"/>
          </a:p>
        </p:txBody>
      </p:sp>
      <p:pic>
        <p:nvPicPr>
          <p:cNvPr id="39" name="Image 8" descr="formula_imgs/f_k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1387" y="4063411"/>
            <a:ext cx="1889150" cy="27651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9623146" y="327660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9623146" y="327660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9732874" y="336804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Kf 線與包絡線換算</a:t>
            </a:r>
            <a:endParaRPr lang="en-US" sz="1050" dirty="0"/>
          </a:p>
        </p:txBody>
      </p:sp>
      <p:pic>
        <p:nvPicPr>
          <p:cNvPr id="43" name="Image 9" descr="formula_imgs/f_alph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2874" y="4103997"/>
            <a:ext cx="1889150" cy="19534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57200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57200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566928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直剪試驗</a:t>
            </a:r>
            <a:endParaRPr lang="en-US" sz="1050" dirty="0"/>
          </a:p>
        </p:txBody>
      </p:sp>
      <p:pic>
        <p:nvPicPr>
          <p:cNvPr id="47" name="Image 10" descr="formula_imgs/f_d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5749897"/>
            <a:ext cx="1889150" cy="34778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2748686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2748686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2858414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砂土尖峰與臨界</a:t>
            </a:r>
            <a:endParaRPr lang="en-US" sz="1050" dirty="0"/>
          </a:p>
        </p:txBody>
      </p:sp>
      <p:pic>
        <p:nvPicPr>
          <p:cNvPr id="51" name="Image 11" descr="formula_imgs/f_dila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8414" y="5687644"/>
            <a:ext cx="1889150" cy="472288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40173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5040173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149901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殘餘強度（直剪反覆剪）</a:t>
            </a:r>
            <a:endParaRPr lang="en-US" sz="1050" dirty="0"/>
          </a:p>
        </p:txBody>
      </p:sp>
      <p:pic>
        <p:nvPicPr>
          <p:cNvPr id="55" name="Image 12" descr="formula_imgs/f_re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9901" y="5792460"/>
            <a:ext cx="1889150" cy="262657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7331659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7331659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7441387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過壓密比</a:t>
            </a:r>
            <a:endParaRPr lang="en-US" sz="1050" dirty="0"/>
          </a:p>
        </p:txBody>
      </p:sp>
      <p:pic>
        <p:nvPicPr>
          <p:cNvPr id="59" name="Image 13" descr="formula_imgs/f_oc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1387" y="5530119"/>
            <a:ext cx="1889150" cy="787337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9623146" y="4998720"/>
            <a:ext cx="210860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9623146" y="4998720"/>
            <a:ext cx="210860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9732874" y="5090160"/>
            <a:ext cx="18891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 比例法</a:t>
            </a:r>
            <a:endParaRPr lang="en-US" sz="1050" dirty="0"/>
          </a:p>
        </p:txBody>
      </p:sp>
      <p:pic>
        <p:nvPicPr>
          <p:cNvPr id="63" name="Image 14" descr="formula_imgs/f_pro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32874" y="5795227"/>
            <a:ext cx="1889150" cy="25712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軸差應力不是大主應力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三軸題給的 Δσd 是應力差（σ1 − σ3），必須先加上圍壓 σ3 才是 σ1。這是本單元第一名的失分點。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破壞面角度誤用 φcu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φcu 會隨加載路徑跳動，但實體破壞面只有一個角度。θ = 45° + φ'/2 裡只能代有效應力摩擦角。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OC 誤用比例法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只有包絡線過原點的 NC 黏土莫爾圓才互為相似形。OC 有截距 c'，圓不相似，比例法一律失效。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UU 用了不同半徑的圓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飽和土 UU 在不同圍壓下的圓大小完全相同。若算出不同半徑，多半是把總應力與有效應力混用了。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Kf 線斜率當成 φ'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Kf 線是 p–q 平面的線，tanα' = sinφ'、截距 a = c' cosφ'，兩者不是同一條線，一定要換算。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CU 的圓改變了半徑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 uf 是兩個主應力同時扣，圓只平移不縮放。若半徑變了，代表 σ1、σ3 沒有同時扣。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土壤強度｜重點回顧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土壤的真實強度只有一組 (c', φ')，由有效應力決定；φu、φcu 是試驗條件的產物，不是材料性質。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壓密與剪切兩個排水閥門決定 UU / CU / CD，也決定孔隙水壓 u 的變化規律與你量到的參數。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所有題目共用同一張 Mohr 圓：圓心 C、半徑 R、切點 T，推出三條破壞條件式；手算時留著 √Kp 當主線。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NC（c' = 0）開啟正弦公式、比例法與 Su/σ'v0 三大捷徑；OC 一律回到完整式，靠兩式相減消去 c' 項。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問破壞面角度、破壞面應力，一律只能用 φ'：θ = 45° + φ'/2。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觀念講義</dc:creator>
  <cp:lastModifiedBy>觀念講義</cp:lastModifiedBy>
  <cp:revision>1</cp:revision>
  <dcterms:created xsi:type="dcterms:W3CDTF">2026-09-15T06:25:25Z</dcterms:created>
  <dcterms:modified xsi:type="dcterms:W3CDTF">2026-09-15T06:25:25Z</dcterms:modified>
</cp:coreProperties>
</file>