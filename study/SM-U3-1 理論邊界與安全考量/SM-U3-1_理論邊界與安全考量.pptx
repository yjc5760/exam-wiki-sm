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SM-U3-1　側向土壓力理論｜觀念講義・拼圖四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理論邊界：適用條件與安全考量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974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前三塊拼圖給你計算的刀槍；這一塊告訴你公式的物理極限——考場選對公式，設計不過度樂觀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2F54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9776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8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邊界一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3977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Rankine／Coulomb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891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B8520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39776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3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3977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斜填土 β 修正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46720" y="3977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43044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39776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8A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邊界三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89720" y="3977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被動土壓保護傘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示範牆貫穿全篇：H = 6 m、γ = 18 kN/m³、φ = 30°、c = 0；牆趾前埋深 D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1.5 m；圖上數字全部可對帳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拼圖四的角色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最後一片拼圖：不是再多一條公式，而是知道公式能用到哪裡</a:t>
            </a:r>
            <a:endParaRPr lang="en-US" sz="2700" dirty="0"/>
          </a:p>
        </p:txBody>
      </p:sp>
      <p:pic>
        <p:nvPicPr>
          <p:cNvPr id="4" name="Image 0" descr="fig01_ma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32357"/>
            <a:ext cx="11064240" cy="396468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577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三個邊界各管一件事：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選公式（Rankine／Coulomb）→ 修幾何（斜填土 β）→ 守安全（被動抗力不能全信）。本講每個結論都用同一道示範牆算給你看。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邊界一 · RANKINE vs COULOMB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兩大流派差在「看哪裡」：土體內部的應力，還是整塊滑動楔體</a:t>
            </a:r>
            <a:endParaRPr lang="en-US" sz="2700" dirty="0"/>
          </a:p>
        </p:txBody>
      </p:sp>
      <p:pic>
        <p:nvPicPr>
          <p:cNvPr id="4" name="Image 0" descr="fig02_two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2446"/>
            <a:ext cx="11064240" cy="49789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右圖依 Das 教科書定義：θ 為牆背與鉛直線夾角，填土壓在牆背上方為正；β 為填土坡角；δ 為牆背摩擦角。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邊界一 · 比較表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主動時 Rankine 偏保守，被動時 Coulomb 偏危險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29184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項目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Rankine（應力法）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Coulomb（楔體法）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2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考試上的意義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底層假設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牆背垂直 θ = 0、完全光滑 δ = 0、填土水平 β = 0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可含斜牆背 θ、牆背摩擦 δ、斜填土 β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題目給 δ、θ 就是在叫你換公式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推導角度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土體每一點都達極限 → 莫爾圓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滑動楔體當剛體 → 試算求極值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三參數歸零時兩者完全一致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主動 K</a:t>
                      </a:r>
                      <a:pPr algn="ctr" indent="0" marL="0">
                        <a:buNone/>
                      </a:pPr>
                      <a:r>
                        <a:rPr lang="en-US" sz="1300" b="1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忽略摩擦 → 偏大（保守）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δ 分擔一部分 → 較小、較貼近實際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本例 0.333 vs 0.297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被動 K</a:t>
                      </a:r>
                      <a:pPr algn="ctr" indent="0" marL="0">
                        <a:buNone/>
                      </a:pPr>
                      <a:r>
                        <a:rPr lang="en-US" sz="1300" b="1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δ = 0 → 偏小（保守）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平面破壞面 → 高估，δ 大時嚴重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本例 3.00 vs 6.11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合力方向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平行填土面（水平填土即水平）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與牆背法線夾 δ 角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檢核前要先拆水平、垂直分力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40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 Rankine 主動偏保守？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真實牆背有摩擦，會「托住」一部分下滑的土；Rankine 當它不存在，推力就算大了。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72200" y="534924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6B0A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55080" y="5440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 Coulomb 被動偏危險？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被動破壞面實際上是彎的；假設成平面會找不到真正的最小抗力，K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算太大。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邊界一 · COULOMB 的算法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切一刀、解三力、找最大：主動土壓就是所有試算刀中最大的推力</a:t>
            </a:r>
            <a:endParaRPr lang="en-US" sz="2700" dirty="0"/>
          </a:p>
        </p:txBody>
      </p:sp>
      <p:pic>
        <p:nvPicPr>
          <p:cNvPr id="4" name="Image 0" descr="fig03_wed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3208"/>
            <a:ext cx="11064240" cy="47945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同一道示範牆：δ = 20° 時最危險的一刀在 ρ = 56.0°，P</a:t>
            </a:r>
            <a:pPr indent="0" marL="0">
              <a:buNone/>
            </a:pPr>
            <a:r>
              <a:rPr lang="en-US" sz="1400" b="1" baseline="-4000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14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96.3 kN/m；δ = 0 時回到 60° 與 108.0 kN/m。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邊界一 · 示範牆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給了 δ = 20°：推力小了，方向也歪了——水平推力少 16.2%</a:t>
            </a:r>
            <a:endParaRPr lang="en-US" sz="2700" dirty="0"/>
          </a:p>
        </p:txBody>
      </p:sp>
      <p:pic>
        <p:nvPicPr>
          <p:cNvPr id="4" name="Image 0" descr="fig04_demo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5113"/>
            <a:ext cx="11064240" cy="43334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6928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733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水平推力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108.0 → 90.5 kN/m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236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滑動、傾覆的主要來源變小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566928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5733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多了垂直分力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5943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32.9 kN/m 向下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6236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壓在牆背上，反而幫忙抗滑、抗傾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46720" y="5669280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FBF1EA"/>
          </a:solidFill>
          <a:ln w="12700">
            <a:solidFill>
              <a:srgbClr val="E3B89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0" y="5733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 Rankine…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5943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主動側偏保守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6236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安全但可能不經濟；題目沒給 δ 就用它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邊界一 · 考場選用指標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兩個問題決定公式：有沒有 δ、θ？填土斜不斜？</a:t>
            </a:r>
            <a:endParaRPr lang="en-US" sz="2700" dirty="0"/>
          </a:p>
        </p:txBody>
      </p:sp>
      <p:pic>
        <p:nvPicPr>
          <p:cNvPr id="4" name="Image 0" descr="fig05_flow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5306"/>
            <a:ext cx="11064240" cy="49789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邊界一 · COULOMB 公式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長得嚇人，但只是把 δ、θ、β 三個幾何量放進去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FBF1EA"/>
          </a:solidFill>
          <a:ln w="12700">
            <a:solidFill>
              <a:srgbClr val="E3B8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44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主動（楔體往下滑）</a:t>
            </a:r>
            <a:endParaRPr lang="en-US" sz="1400" dirty="0"/>
          </a:p>
        </p:txBody>
      </p:sp>
      <p:pic>
        <p:nvPicPr>
          <p:cNvPr id="6" name="Image 0" descr="m_ka_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984477"/>
            <a:ext cx="3285348" cy="694487"/>
          </a:xfrm>
          <a:prstGeom prst="rect">
            <a:avLst/>
          </a:prstGeom>
        </p:spPr>
      </p:pic>
      <p:pic>
        <p:nvPicPr>
          <p:cNvPr id="7" name="Image 1" descr="m_A_a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3268523"/>
            <a:ext cx="2480310" cy="59527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72200" y="132588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FBECEA"/>
          </a:solidFill>
          <a:ln w="12700">
            <a:solidFill>
              <a:srgbClr val="E6B0A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0" y="1444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被動（楔體被往上推）</a:t>
            </a:r>
            <a:endParaRPr lang="en-US" sz="1400" dirty="0"/>
          </a:p>
        </p:txBody>
      </p:sp>
      <p:pic>
        <p:nvPicPr>
          <p:cNvPr id="10" name="Image 2" descr="m_kp_c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800" y="1980225"/>
            <a:ext cx="3299521" cy="702991"/>
          </a:xfrm>
          <a:prstGeom prst="rect">
            <a:avLst/>
          </a:prstGeom>
        </p:spPr>
      </p:pic>
      <p:pic>
        <p:nvPicPr>
          <p:cNvPr id="11" name="Image 3" descr="m_A_p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0800" y="3268523"/>
            <a:ext cx="2474641" cy="59527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7724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退化檢查</a:t>
            </a:r>
            <a:endParaRPr lang="en-US" sz="1400" dirty="0"/>
          </a:p>
        </p:txBody>
      </p:sp>
      <p:pic>
        <p:nvPicPr>
          <p:cNvPr id="14" name="Image 4" descr="m_degen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7240" y="4970793"/>
            <a:ext cx="3854882" cy="555727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769282" y="50017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＝ tan²(45° − φ/2)</a:t>
            </a:r>
            <a:endParaRPr lang="en-US" sz="200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符號陷阱：各教科書 θ 的量法、正負不一，甚至有人量「牆背與水平」的夾角。考場先看題目附圖，把角度對到公式的定義再代入。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合力拆分：P</a:t>
            </a:r>
            <a:pPr indent="0" marL="0">
              <a:spcAft>
                <a:spcPts val="300"/>
              </a:spcAft>
              <a:buNone/>
            </a:pPr>
            <a:r>
              <a:rPr lang="en-US" sz="1300" b="1" baseline="-4000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P</a:t>
            </a:r>
            <a:pPr indent="0" marL="0">
              <a:spcAft>
                <a:spcPts val="300"/>
              </a:spcAft>
              <a:buNone/>
            </a:pPr>
            <a:r>
              <a:rPr lang="en-US" sz="1300" b="1" baseline="-4000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cos(δ + θ)、P</a:t>
            </a:r>
            <a:pPr indent="0" marL="0">
              <a:spcAft>
                <a:spcPts val="300"/>
              </a:spcAft>
              <a:buNone/>
            </a:pPr>
            <a:r>
              <a:rPr lang="en-US" sz="1300" b="1" baseline="-4000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P</a:t>
            </a:r>
            <a:pPr indent="0" marL="0">
              <a:spcAft>
                <a:spcPts val="300"/>
              </a:spcAft>
              <a:buNone/>
            </a:pPr>
            <a:r>
              <a:rPr lang="en-US" sz="1300" b="1" baseline="-4000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sin(δ + θ)（本講 θ 定義下）。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邊界一 · 退化特性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三個參數各自歸零，Coulomb 都回到 Rankine 的 1/3——兩者不矛盾</a:t>
            </a:r>
            <a:endParaRPr lang="en-US" sz="2700" dirty="0"/>
          </a:p>
        </p:txBody>
      </p:sp>
      <p:pic>
        <p:nvPicPr>
          <p:cNvPr id="4" name="Image 0" descr="fig06_dege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320" y="1280160"/>
            <a:ext cx="1085088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5321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漂亮的對帳：Coulomb 取 θ = 0、δ = β = 15° → K</a:t>
            </a:r>
            <a:pPr indent="0" marL="0">
              <a:spcAft>
                <a:spcPts val="300"/>
              </a:spcAft>
              <a:buNone/>
            </a:pPr>
            <a:r>
              <a:rPr lang="en-US" sz="15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0.373，恰等於 Rankine 斜填土的 0.373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 斜填土＝「牆背摩擦角剛好等於 β」的 Coulomb；若 Coulomb 取 δ = 0（合力垂直牆背），K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反而是 0.402。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邊界二 · RANKINE 斜填土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牆背仍垂直光滑，但地表有坡角 β：K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要修正，合力要轉向</a:t>
            </a:r>
            <a:endParaRPr lang="en-US" sz="2700" dirty="0"/>
          </a:p>
        </p:txBody>
      </p:sp>
      <p:pic>
        <p:nvPicPr>
          <p:cNvPr id="4" name="Image 0" descr="fig07_slop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72184" y="1234440"/>
            <a:ext cx="9217152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212080"/>
            <a:ext cx="5852160" cy="1234440"/>
          </a:xfrm>
          <a:prstGeom prst="roundRect">
            <a:avLst>
              <a:gd name="adj" fmla="val 8889"/>
            </a:avLst>
          </a:prstGeom>
          <a:solidFill>
            <a:srgbClr val="FBF1EA"/>
          </a:solidFill>
          <a:ln w="12700">
            <a:solidFill>
              <a:srgbClr val="E3B894"/>
            </a:solidFill>
            <a:prstDash val="solid"/>
          </a:ln>
        </p:spPr>
      </p:sp>
      <p:pic>
        <p:nvPicPr>
          <p:cNvPr id="6" name="Image 1" descr="m_ka_r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463540"/>
            <a:ext cx="3341218" cy="7406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0" y="521208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766560" y="53035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 = 15°、φ = 30° → K</a:t>
            </a:r>
            <a:pPr indent="0" marL="0">
              <a:spcAft>
                <a:spcPts val="300"/>
              </a:spcAft>
              <a:buNone/>
            </a:pPr>
            <a:r>
              <a:rPr lang="en-US" sz="1500" b="1" baseline="-4000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0.373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3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½ × 0.373 × 18 × 6² = 120.8 kN/m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116.7、P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31.3（合力平行坡面）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邊界二 · 物理邊界 β &lt; 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 越接近 φ，K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越陡；β ≥ φ 時公式直接失效</a:t>
            </a:r>
            <a:endParaRPr lang="en-US" sz="2700" dirty="0"/>
          </a:p>
        </p:txBody>
      </p:sp>
      <p:pic>
        <p:nvPicPr>
          <p:cNvPr id="4" name="Image 0" descr="fig08_beta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8354"/>
            <a:ext cx="11064240" cy="42412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6928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733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水平填土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57058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buNone/>
            </a:pPr>
            <a:r>
              <a:rPr lang="en-US" sz="17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17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0.333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108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108.0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566928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5733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 = 15°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57058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buNone/>
            </a:pPr>
            <a:r>
              <a:rPr lang="en-US" sz="1700" b="1" baseline="-4000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17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0.373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6108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116.7（+8.1%）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6720" y="566928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0" y="5733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 → φ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509760" y="57058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buNone/>
            </a:pPr>
            <a:r>
              <a:rPr lang="en-US" sz="17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0.866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6108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填土即將自己滑動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邊界三 · 被動土壓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被動抗力很大，但要「推得很多」才出得來</a:t>
            </a:r>
            <a:endParaRPr lang="en-US" sz="2700" dirty="0"/>
          </a:p>
        </p:txBody>
      </p:sp>
      <p:pic>
        <p:nvPicPr>
          <p:cNvPr id="4" name="Image 0" descr="fig09_passiv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6068"/>
            <a:ext cx="11064240" cy="47945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位移比例依土性而異（砂土密實者較小）；重點是數量級：被動所需位移是主動的數倍到數十倍，牆常在那之前就已失效或超過使用限度。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邊界三 · 對 φ 極度敏感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高估 10°：K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暴增 53%，K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只變 0.12</a:t>
            </a:r>
            <a:endParaRPr lang="en-US" sz="2700" dirty="0"/>
          </a:p>
        </p:txBody>
      </p:sp>
      <p:pic>
        <p:nvPicPr>
          <p:cNvPr id="4" name="Image 0" descr="fig10_kphi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30833"/>
            <a:ext cx="11064240" cy="43334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BECEA"/>
          </a:solidFill>
          <a:ln w="12700">
            <a:solidFill>
              <a:srgbClr val="E6B0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試驗求得的 φ 本來就有幾度的誤差——在主動側幾乎無感，在被動側卻會讓抗力膨脹一半。所以被動側永遠用保守值。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邊界三 · 幾何過度樂觀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Coulomb 算被動：δ = 20° 時 K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6.11，是 Rankine 的 2.0 倍</a:t>
            </a:r>
            <a:endParaRPr lang="en-US" sz="2700" dirty="0"/>
          </a:p>
        </p:txBody>
      </p:sp>
      <p:pic>
        <p:nvPicPr>
          <p:cNvPr id="4" name="Image 0" descr="fig11_kpdelta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7592"/>
            <a:ext cx="11064240" cy="44256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嚴謹設計：被動側改用對數螺線法（或據此製成的 K</a:t>
            </a:r>
            <a:pPr indent="0" marL="0"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圖表）；考題若只給公式，用 Rankine（δ = 0）最穩。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邊界三 · 設計保護傘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算得出 123.6，敢用的只有 13.5：被動抗力要層層打折</a:t>
            </a:r>
            <a:endParaRPr lang="en-US" sz="2700" dirty="0"/>
          </a:p>
        </p:txBody>
      </p:sp>
      <p:pic>
        <p:nvPicPr>
          <p:cNvPr id="4" name="Image 0" descr="fig12_cu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39393"/>
            <a:ext cx="11064240" cy="43334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6928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5779008"/>
            <a:ext cx="73152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733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折減係數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60716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設計值乘 1/2～1/3，或乾脆不計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566928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7680" y="5779008"/>
            <a:ext cx="73152" cy="603504"/>
          </a:xfrm>
          <a:prstGeom prst="rect">
            <a:avLst/>
          </a:prstGeom>
          <a:solidFill>
            <a:srgbClr val="B8520E"/>
          </a:solidFill>
          <a:ln w="12700">
            <a:solidFill>
              <a:srgbClr val="B8520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5733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表層忽略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60716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開挖、擾動、沖刷後可能不存在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6720" y="566928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46720" y="5779008"/>
            <a:ext cx="73152" cy="603504"/>
          </a:xfrm>
          <a:prstGeom prst="rect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5733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幾何別樂觀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60716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 大時不用 Coulomb 平面解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SYNTHESIS · 四塊拼圖貫通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任何側向土壓題，都照這個順序串起四塊拼圖</a:t>
            </a:r>
            <a:endParaRPr lang="en-US" sz="2700" dirty="0"/>
          </a:p>
        </p:txBody>
      </p:sp>
      <p:pic>
        <p:nvPicPr>
          <p:cNvPr id="4" name="Image 0" descr="fig13_chai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11402"/>
            <a:ext cx="11064240" cy="35036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0292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138928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為什麼「邊界」排在第二步？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的種類定了（拼圖一）之後，立刻要決定用哪一套 K 公式——Rankine 還是 Coulomb、要不要斜填土修正。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這一步錯了，後面畫圖、切方塊再精準也是錯的數字；被動側則在最後檢核時再套一次保護傘。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MISTAKES · 六個失分點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三個邊界各有兩個陷阱，全部用示範牆量化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1920240"/>
          </a:xfrm>
          <a:prstGeom prst="rect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給了 δ 還用 Rankine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水平推力 108.0 vs 90.5，多算 19.3%（偏保守但不是題目要的答案）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600200"/>
            <a:ext cx="82296" cy="1920240"/>
          </a:xfrm>
          <a:prstGeom prst="rect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邊界一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9202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Coulomb 合力當水平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06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96.3 全當水平推力，比 90.5 高估 6.4%，且漏掉向下的 32.9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600200"/>
            <a:ext cx="82296" cy="1920240"/>
          </a:xfrm>
          <a:prstGeom prst="rect">
            <a:avLst/>
          </a:prstGeom>
          <a:solidFill>
            <a:srgbClr val="B8520E"/>
          </a:solidFill>
          <a:ln w="12700">
            <a:solidFill>
              <a:srgbClr val="B8520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邊界二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19202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斜填土合力畫成水平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06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應平行坡面：P</a:t>
            </a:r>
            <a:pPr indent="0" marL="0"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116.7、P</a:t>
            </a:r>
            <a:pPr indent="0" marL="0"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31.3，不是 120.8 全水平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69080"/>
            <a:ext cx="82296" cy="1920240"/>
          </a:xfrm>
          <a:prstGeom prst="rect">
            <a:avLst/>
          </a:prstGeom>
          <a:solidFill>
            <a:srgbClr val="B8520E"/>
          </a:solidFill>
          <a:ln w="12700">
            <a:solidFill>
              <a:srgbClr val="B8520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891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 ≥ φ 還硬代公式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749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根號內為負 → 邊坡本身不穩，應先檢討邊坡穩定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4069080"/>
            <a:ext cx="82296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邊界三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3891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被動抗力全額計入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0749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 30～75 mm 位移；本例設計只剩 13.5（全額 60.8 的 22%）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4069080"/>
            <a:ext cx="82296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邊界三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3891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 大時用 Coulomb 算 K</a:t>
            </a:r>
            <a:pPr indent="0" marL="0">
              <a:buNone/>
            </a:pPr>
            <a:r>
              <a:rPr lang="en-US" sz="18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0749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6.11 是 Rankine 3.00 的 2.0 倍，偏不安全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沒給 δ、θ → Rankine；給了 → Coulomb；三者歸零時兩者相同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2715768"/>
            <a:ext cx="548640" cy="548640"/>
          </a:xfrm>
          <a:prstGeom prst="ellipse">
            <a:avLst/>
          </a:prstGeom>
          <a:solidFill>
            <a:srgbClr val="B8520E"/>
          </a:solidFill>
          <a:ln w="12700">
            <a:solidFill>
              <a:srgbClr val="B8520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715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Coulomb 合力偏牆背法線 δ：本例水平推力 90.5 &lt; Rankine 108.0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3648456"/>
            <a:ext cx="548640" cy="548640"/>
          </a:xfrm>
          <a:prstGeom prst="ellipse">
            <a:avLst/>
          </a:prstGeom>
          <a:solidFill>
            <a:srgbClr val="B8520E"/>
          </a:solidFill>
          <a:ln w="12700">
            <a:solidFill>
              <a:srgbClr val="B8520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6484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斜填土：K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含 cosβ 修正、合力平行坡面、β 必須 &lt; φ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4581144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58114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被動：對 φ 敏感（+53%）、要大位移、平面解高估 → 打折、忽略表層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760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四塊拼圖到齊：變形 → 邊界 → 土質 → SOP，任何側向土壓題都走這一條路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SM-U3-1 拼圖四：理論邊界（適用條件與安全考量）</dc:title>
  <dc:subject>PptxGenJS Presentation</dc:subject>
  <dc:creator>PptxGenJS</dc:creator>
  <cp:lastModifiedBy>PptxGenJS</cp:lastModifiedBy>
  <cp:revision>1</cp:revision>
  <dcterms:created xsi:type="dcterms:W3CDTF">2026-09-25T03:50:03Z</dcterms:created>
  <dcterms:modified xsi:type="dcterms:W3CDTF">2026-09-25T03:50:03Z</dcterms:modified>
</cp:coreProperties>
</file>