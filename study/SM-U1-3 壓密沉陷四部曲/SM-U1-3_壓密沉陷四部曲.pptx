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sv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sv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SM-U1-3　土壤夯實與壓密｜觀念講義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83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壓密沉陷計算四部曲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80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算現況 → 算增量 → 看歷史 → 選公式：順著決策鏈，選對公式不靠背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977640"/>
            <a:ext cx="566928" cy="56692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4023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2200" b="1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304288" y="40233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7C9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80360" y="3977640"/>
            <a:ext cx="566928" cy="5669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8036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4023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Δσ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453128" y="40233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7C9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29200" y="3977640"/>
            <a:ext cx="566928" cy="566928"/>
          </a:xfrm>
          <a:prstGeom prst="ellipse">
            <a:avLst/>
          </a:prstGeom>
          <a:solidFill>
            <a:srgbClr val="B8520E"/>
          </a:solidFill>
          <a:ln w="12700">
            <a:solidFill>
              <a:srgbClr val="B8520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742432" y="4023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2200" b="1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601968" y="40233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7C9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178040" y="3977640"/>
            <a:ext cx="566928" cy="566928"/>
          </a:xfrm>
          <a:prstGeom prst="ellipse">
            <a:avLst/>
          </a:prstGeom>
          <a:solidFill>
            <a:srgbClr val="2F54C8"/>
          </a:solidFill>
          <a:ln w="12700">
            <a:solidFill>
              <a:srgbClr val="2F54C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7804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891272" y="4023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2200" b="1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示範案例貫穿全篇：黏土層 H = 4 m、e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1.05、C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0.32、C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0.045、p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 = 130 kPa；圖上數字全部可對帳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OVERVIEW · 決策鏈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一條決策鏈：每一步的輸出，都是下一步的輸入</a:t>
            </a:r>
            <a:endParaRPr lang="en-US" sz="2800" dirty="0"/>
          </a:p>
        </p:txBody>
      </p:sp>
      <p:pic>
        <p:nvPicPr>
          <p:cNvPr id="4" name="Image 0" descr="fig01_overview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404747"/>
            <a:ext cx="11064240" cy="304266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8006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937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為什麼要照順序？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 算錯 → OCR 與 Case 一定判錯；Δσ 的載重型式判錯 → 沉陷量差一個數量級（本例 5.8 mm vs 86.9 mm）。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所以不背三條長公式，只要把 p</a:t>
            </a:r>
            <a:pPr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′、p</a:t>
            </a:r>
            <a:pPr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′、p</a:t>
            </a:r>
            <a:pPr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 排上同一條對數軸，看路徑走過哪幾段。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1 · 算現況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先定「黏土層中點」，再算現況有效應力 p</a:t>
            </a:r>
            <a:pPr indent="0" marL="0">
              <a:buNone/>
            </a:pPr>
            <a:r>
              <a:rPr lang="en-US" sz="28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</a:t>
            </a:r>
            <a:endParaRPr lang="en-US" sz="2800" dirty="0"/>
          </a:p>
        </p:txBody>
      </p:sp>
      <p:pic>
        <p:nvPicPr>
          <p:cNvPr id="4" name="Image 0" descr="fig02_profil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1770888"/>
            <a:ext cx="7589520" cy="40477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83880" y="1417320"/>
            <a:ext cx="3566160" cy="4846320"/>
          </a:xfrm>
          <a:prstGeom prst="roundRect">
            <a:avLst>
              <a:gd name="adj" fmla="val 3077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逐層累加（水位下用 γ′）</a:t>
            </a:r>
            <a:endParaRPr lang="en-US" sz="1600" dirty="0"/>
          </a:p>
        </p:txBody>
      </p:sp>
      <p:pic>
        <p:nvPicPr>
          <p:cNvPr id="7" name="Image 1" descr="m_p0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66760" y="2021301"/>
            <a:ext cx="3200400" cy="43795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12480" y="265176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砂（水位上） 18.0 × 2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36.00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砂（飽和） (19.5 − 9.81) × 4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38.76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黏土上半 (17.5 − 9.81) × 2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15.38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412480" y="4800600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FBECE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412480" y="48006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algn="ctr" indent="0" marL="0">
              <a:buNone/>
            </a:pPr>
            <a:r>
              <a:rPr lang="en-US" sz="22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 = 90.1 kPa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412480" y="5532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對帳：σ − u = 149.0 − 58.9 = 90.1，兩種算法答案相同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1 · 為什麼取中點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中點一次算，和分 8 層積分只差 0.2%</a:t>
            </a:r>
            <a:endParaRPr lang="en-US" sz="2800" dirty="0"/>
          </a:p>
        </p:txBody>
      </p:sp>
      <p:pic>
        <p:nvPicPr>
          <p:cNvPr id="4" name="Image 0" descr="fig03_midpoin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471168"/>
            <a:ext cx="7498080" cy="39156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83880" y="1463040"/>
            <a:ext cx="3566160" cy="1325880"/>
          </a:xfrm>
          <a:prstGeom prst="roundRect">
            <a:avLst>
              <a:gd name="adj" fmla="val 8276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為什麼中點能代表全層？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9659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σ′ 沿深度線性變化，中點應力代表全層的平均壓縮行為；頂、底兩端的偏差大致互相抵消。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183880" y="2944368"/>
            <a:ext cx="3566160" cy="1325880"/>
          </a:xfrm>
          <a:prstGeom prst="roundRect">
            <a:avLst>
              <a:gd name="adj" fmla="val 8276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30815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本例的證據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344728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中點一次算 86.9 mm，分 8 層 86.75 mm——考場上中點法完全足夠。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183880" y="4425696"/>
            <a:ext cx="3566160" cy="1325880"/>
          </a:xfrm>
          <a:prstGeom prst="roundRect">
            <a:avLst>
              <a:gd name="adj" fmla="val 8276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45628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什麼時候要分層？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4928616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黏土很厚，或 Δσ 隨深度劇烈變化（如小基腳的 2:1 法）時，才分薄層各自算再加總。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80644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取頂或底代替中點：p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 會變成 74.8 或 105.5 kPa，後面 OCR、Case 全部跟著偏。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2 · 算增量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Δσ：先判斷「有限基礎」還是「大面積」</a:t>
            </a:r>
            <a:endParaRPr lang="en-US" sz="2800" dirty="0"/>
          </a:p>
        </p:txBody>
      </p:sp>
      <p:pic>
        <p:nvPicPr>
          <p:cNvPr id="4" name="Image 0" descr="fig04_21geo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1308735"/>
            <a:ext cx="5760720" cy="3920490"/>
          </a:xfrm>
          <a:prstGeom prst="rect">
            <a:avLst/>
          </a:prstGeom>
        </p:spPr>
      </p:pic>
      <p:pic>
        <p:nvPicPr>
          <p:cNvPr id="5" name="Image 1" descr="fig05_depth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52912" y="1280160"/>
            <a:ext cx="3907857" cy="3977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44068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pic>
        <p:nvPicPr>
          <p:cNvPr id="7" name="Image 2" descr="m_21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" y="5590031"/>
            <a:ext cx="2194560" cy="60655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063240" y="5532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有限尺寸基礎：2:1 法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1200 / (8.5 × 9.5) = 14.9 kPa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 從「基礎底面」起算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6217920" y="544068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400800" y="55321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大面積均布載重：全深度不折減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預壓覆土、大範圍回填、地下水位下降 → Δσ = 80 kPa 直達黏土中點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載重面積 ≫ 影響深度，應力無處擴散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 · 看歷史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e-log p′ 曲線：土壤記得自己被壓過多重</a:t>
            </a:r>
            <a:endParaRPr lang="en-US" sz="2800" dirty="0"/>
          </a:p>
        </p:txBody>
      </p:sp>
      <p:pic>
        <p:nvPicPr>
          <p:cNvPr id="4" name="Image 0" descr="fig06_elog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760" y="1353312"/>
            <a:ext cx="7680960" cy="46085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4173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0" y="1536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預壓密應力 p</a:t>
            </a:r>
            <a:pPr indent="0" marL="0">
              <a:buNone/>
            </a:pPr>
            <a:r>
              <a:rPr lang="en-US" sz="15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5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</a:t>
            </a:r>
            <a:endParaRPr lang="en-US" sz="1500" dirty="0"/>
          </a:p>
        </p:txBody>
      </p:sp>
      <p:pic>
        <p:nvPicPr>
          <p:cNvPr id="7" name="Image 1" descr="m_ocr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2480" y="1874520"/>
            <a:ext cx="952264" cy="5486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82980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130 / 90.1 = 1.44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412480" y="2514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OCR = 1 正常壓密 NC；&gt; 1 過壓密 OC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229600" y="315468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41248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記憶內　p′ ≤ p</a:t>
            </a:r>
            <a:pPr indent="0" marL="0">
              <a:buNone/>
            </a:pPr>
            <a:r>
              <a:rPr lang="en-US" sz="15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5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412480" y="35661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走 C</a:t>
            </a:r>
            <a:pPr indent="0" marL="0">
              <a:buNone/>
            </a:pPr>
            <a:r>
              <a:rPr lang="en-US" sz="12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：把以前壓過的結構再壓一次，彈性為主，沉陷極小。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0" y="4178808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412480" y="4270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超過記憶　p′ &gt; p</a:t>
            </a:r>
            <a:pPr indent="0" marL="0">
              <a:buNone/>
            </a:pPr>
            <a:r>
              <a:rPr lang="en-US" sz="15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412480" y="45902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走 C</a:t>
            </a:r>
            <a:pPr indent="0" marL="0">
              <a:buNone/>
            </a:pPr>
            <a:r>
              <a:rPr lang="en-US" sz="12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：顆粒結構首次崩塌重排、不可回復，沉陷大得多。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0" y="5202936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412480" y="52943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斜率差 7.1 倍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8412480" y="561441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 C</a:t>
            </a:r>
            <a:pPr indent="0" marL="0">
              <a:buNone/>
            </a:pPr>
            <a:r>
              <a:rPr lang="en-US" sz="12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/ C</a:t>
            </a:r>
            <a:pPr indent="0" marL="0">
              <a:buNone/>
            </a:pPr>
            <a:r>
              <a:rPr lang="en-US" sz="12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0.32 / 0.045；一般在 5～10 倍之間。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0350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 Case 的唯一依據：把 p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′、p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′、p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 排在這條對數軸上。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 → 4 · 公式的來源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三條公式其實只是同一件事：S = 孔隙比減少量換算成厚度</a:t>
            </a:r>
            <a:endParaRPr lang="en-US" sz="2800" dirty="0"/>
          </a:p>
        </p:txBody>
      </p:sp>
      <p:pic>
        <p:nvPicPr>
          <p:cNvPr id="4" name="Image 0" descr="fig07_phas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457661"/>
            <a:ext cx="5486400" cy="403411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760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土粒體積不變，只有孔隙被擠掉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63640" y="141732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4652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應變 = 孔隙減少 / 原總高</a:t>
            </a:r>
            <a:endParaRPr lang="en-US" sz="1500" dirty="0"/>
          </a:p>
        </p:txBody>
      </p:sp>
      <p:pic>
        <p:nvPicPr>
          <p:cNvPr id="8" name="Image 1" descr="m_S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46520" y="1874520"/>
            <a:ext cx="1871977" cy="685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63640" y="278892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4652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Δe 由 e-log p′ 路徑逐段讀出</a:t>
            </a:r>
            <a:endParaRPr lang="en-US" sz="1500" dirty="0"/>
          </a:p>
        </p:txBody>
      </p:sp>
      <p:pic>
        <p:nvPicPr>
          <p:cNvPr id="11" name="Image 2" descr="m_d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46520" y="3246120"/>
            <a:ext cx="3341848" cy="8686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263640" y="434340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BF1EA"/>
          </a:solidFill>
          <a:ln w="12700">
            <a:solidFill>
              <a:srgbClr val="E3B89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446520" y="4462272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代入本例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Δe = 0.0072 + 0.0374 = 0.0446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300"/>
              </a:spcAft>
              <a:buNone/>
            </a:pPr>
            <a:r>
              <a:rPr lang="en-US" sz="15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0.0446 / 2.05 × 4000 = 86.9 mm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C·log(…) 代入 ① 就得到 Case A / B / C 三條公式——不必背，推得出來。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4 · 選公式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A / B / C：路徑不同，沉陷量可差 30 倍</a:t>
            </a:r>
            <a:endParaRPr lang="en-US" sz="2800" dirty="0"/>
          </a:p>
        </p:txBody>
      </p:sp>
      <p:pic>
        <p:nvPicPr>
          <p:cNvPr id="4" name="Image 0" descr="fig08_case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76975" y="1234440"/>
            <a:ext cx="7807569" cy="5074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4 · 判斷流程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兩個判斷就分完：OCR 是否為 1？p</a:t>
            </a:r>
            <a:pPr indent="0" marL="0">
              <a:buNone/>
            </a:pPr>
            <a:r>
              <a:rPr lang="en-US" sz="28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 有沒有衝破 p</a:t>
            </a:r>
            <a:pPr indent="0" marL="0">
              <a:buNone/>
            </a:pPr>
            <a:r>
              <a:rPr lang="en-US" sz="28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′？</a:t>
            </a:r>
            <a:endParaRPr lang="en-US" sz="2800" dirty="0"/>
          </a:p>
        </p:txBody>
      </p:sp>
      <p:pic>
        <p:nvPicPr>
          <p:cNvPr id="4" name="Image 0" descr="fig09_flow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760" y="1424635"/>
            <a:ext cx="7406640" cy="47402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0" y="1371600"/>
            <a:ext cx="3794760" cy="1481328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38160" y="1481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A（NC）</a:t>
            </a:r>
            <a:endParaRPr lang="en-US" sz="1500" dirty="0"/>
          </a:p>
        </p:txBody>
      </p:sp>
      <p:pic>
        <p:nvPicPr>
          <p:cNvPr id="7" name="Image 1" descr="m_A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7499" y="1828800"/>
            <a:ext cx="3430321" cy="914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955280" y="3017520"/>
            <a:ext cx="3794760" cy="1481328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138160" y="3127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B（OC、未跨越）</a:t>
            </a:r>
            <a:endParaRPr lang="en-US" sz="1500" dirty="0"/>
          </a:p>
        </p:txBody>
      </p:sp>
      <p:pic>
        <p:nvPicPr>
          <p:cNvPr id="10" name="Image 2" descr="m_B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37499" y="3474720"/>
            <a:ext cx="3430321" cy="9144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955280" y="4663440"/>
            <a:ext cx="3794760" cy="1481328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138160" y="47731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C（OC、跨越）</a:t>
            </a:r>
            <a:endParaRPr lang="en-US" sz="1500" dirty="0"/>
          </a:p>
        </p:txBody>
      </p:sp>
      <p:pic>
        <p:nvPicPr>
          <p:cNvPr id="13" name="Image 3" descr="m_C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92440" y="5283878"/>
            <a:ext cx="3520440" cy="58792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· Case 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示範案例完整計算：大面積預壓 80 kPa</a:t>
            </a:r>
            <a:endParaRPr lang="en-US" sz="2800" dirty="0"/>
          </a:p>
        </p:txBody>
      </p:sp>
      <p:pic>
        <p:nvPicPr>
          <p:cNvPr id="4" name="Image 0" descr="fig10_spli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760" y="1348740"/>
            <a:ext cx="7223760" cy="3611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2120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關鍵觀念：沉陷量由「斜率 × 對數長度」決定；C</a:t>
            </a:r>
            <a:pPr indent="0" marL="0">
              <a:buNone/>
            </a:pPr>
            <a:r>
              <a:rPr lang="en-US" sz="15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段即使較短，仍貢獻 84%。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0" y="1417320"/>
            <a:ext cx="3977640" cy="480060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0" y="1600200"/>
            <a:ext cx="36118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判型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2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 = 90.1 &lt; p</a:t>
            </a:r>
            <a:pPr indent="0" marL="0">
              <a:spcAft>
                <a:spcPts val="2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 = 130 &lt; p</a:t>
            </a:r>
            <a:pPr indent="0" marL="0">
              <a:spcAft>
                <a:spcPts val="2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 = 170.1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Case C，拆兩段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C</a:t>
            </a:r>
            <a:pPr indent="0" marL="0">
              <a:spcAft>
                <a:spcPts val="200"/>
              </a:spcAft>
              <a:buNone/>
            </a:pPr>
            <a:r>
              <a:rPr lang="en-US" sz="15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段（p</a:t>
            </a:r>
            <a:pPr indent="0" marL="0">
              <a:spcAft>
                <a:spcPts val="200"/>
              </a:spcAft>
              <a:buNone/>
            </a:pPr>
            <a:r>
              <a:rPr lang="en-US" sz="15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 → p</a:t>
            </a:r>
            <a:pPr indent="0" marL="0">
              <a:spcAft>
                <a:spcPts val="200"/>
              </a:spcAft>
              <a:buNone/>
            </a:pPr>
            <a:r>
              <a:rPr lang="en-US" sz="15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0.045 × 4000 / 2.05 × log(130 / 90.1)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14.0 mm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C</a:t>
            </a:r>
            <a:pPr indent="0" marL="0">
              <a:spcAft>
                <a:spcPts val="200"/>
              </a:spcAft>
              <a:buNone/>
            </a:pPr>
            <a:r>
              <a:rPr lang="en-US" sz="15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段（p</a:t>
            </a:r>
            <a:pPr indent="0" marL="0">
              <a:spcAft>
                <a:spcPts val="200"/>
              </a:spcAft>
              <a:buNone/>
            </a:pPr>
            <a:r>
              <a:rPr lang="en-US" sz="15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 → p</a:t>
            </a:r>
            <a:pPr indent="0" marL="0">
              <a:spcAft>
                <a:spcPts val="200"/>
              </a:spcAft>
              <a:buNone/>
            </a:pPr>
            <a:r>
              <a:rPr lang="en-US" sz="15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0.320 × 4000 / 2.05 × log(170.1 / 130)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73.0 mm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S</a:t>
            </a:r>
            <a:pPr indent="0" marL="0">
              <a:spcAft>
                <a:spcPts val="200"/>
              </a:spcAft>
              <a:buNone/>
            </a:pPr>
            <a:r>
              <a:rPr lang="en-US" sz="1800" b="1" baseline="-4000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14.0 + 73.0 = 86.9 mm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SANITY CHECK · 一秒驗算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C 的答案必定夾在「全套 C</a:t>
            </a:r>
            <a:pPr indent="0" marL="0">
              <a:buNone/>
            </a:pPr>
            <a:r>
              <a:rPr lang="en-US" sz="28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</a:t>
            </a:r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」與「全套 C</a:t>
            </a:r>
            <a:pPr indent="0" marL="0">
              <a:buNone/>
            </a:pPr>
            <a:r>
              <a:rPr lang="en-US" sz="28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」之間</a:t>
            </a:r>
            <a:endParaRPr lang="en-US" sz="2800" dirty="0"/>
          </a:p>
        </p:txBody>
      </p:sp>
      <p:pic>
        <p:nvPicPr>
          <p:cNvPr id="4" name="Image 0" descr="fig11_check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35024"/>
            <a:ext cx="11064240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8463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4937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下限：全套 C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257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24.2 mm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760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假設從頭到尾都在記憶內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48463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80560" y="4937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上限：全套 C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5257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172.3 mm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5760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假設一加載就進入處女壓縮線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46720" y="48463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0" y="4937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同地換成基腳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5257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5.8 mm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5760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2:1 法 Δσ 只剩 14.9 kPa，未達 p</a:t>
            </a:r>
            <a:pPr indent="0" marL="0">
              <a:buNone/>
            </a:pPr>
            <a:r>
              <a:rPr lang="en-US" sz="12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′，為 Case C 的 1/15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 · 高頻陷阱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六個最常見的扣分點（皆以示範案例量化）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263244"/>
          </a:solidFill>
          <a:ln w="12700">
            <a:solidFill>
              <a:srgbClr val="3A4A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18488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3677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2:1 法的 z 從地表起算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031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3E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 應為 6.5 m（基礎底面起）；誤用 8 m 得 10.9 kPa，低估 27%。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263244"/>
          </a:solidFill>
          <a:ln w="12700">
            <a:solidFill>
              <a:srgbClr val="3A4A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73368" y="1618488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73368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163677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大面積載重也拿去折減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1031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3E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預壓覆土、大範圍回填、水位下降一律全深度不折減，Δσ = 80 kPa。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263244"/>
          </a:solidFill>
          <a:ln w="12700">
            <a:solidFill>
              <a:srgbClr val="3A4A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264408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28269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水位下忘記扣 γ</a:t>
            </a:r>
            <a:pPr indent="0" marL="0">
              <a:buNone/>
            </a:pPr>
            <a:r>
              <a:rPr lang="en-US" sz="1700" b="1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7490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3E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用總應力 149.0 當 p</a:t>
            </a:r>
            <a:pPr indent="0" marL="0">
              <a:buNone/>
            </a:pPr>
            <a:r>
              <a:rPr lang="en-US" sz="1300" baseline="-40000" dirty="0">
                <a:solidFill>
                  <a:srgbClr val="C8D3E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C8D3E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′，會誤判 p</a:t>
            </a:r>
            <a:pPr indent="0" marL="0">
              <a:buNone/>
            </a:pPr>
            <a:r>
              <a:rPr lang="en-US" sz="1300" baseline="-40000" dirty="0">
                <a:solidFill>
                  <a:srgbClr val="C8D3E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C8D3E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 &gt; p</a:t>
            </a:r>
            <a:pPr indent="0" marL="0">
              <a:buNone/>
            </a:pPr>
            <a:r>
              <a:rPr lang="en-US" sz="1300" baseline="-40000" dirty="0">
                <a:solidFill>
                  <a:srgbClr val="C8D3E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300" dirty="0">
                <a:solidFill>
                  <a:srgbClr val="C8D3E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′，整個 Case 判錯。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263244"/>
          </a:solidFill>
          <a:ln w="12700">
            <a:solidFill>
              <a:srgbClr val="3A4A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3368" y="3264408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73368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28269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取黏土頂或底代替中點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7490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3E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1300" baseline="-40000" dirty="0">
                <a:solidFill>
                  <a:srgbClr val="C8D3E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C8D3E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 變成 74.8 或 105.5 kPa，OCR 與沉陷量全部跟著偏。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263244"/>
          </a:solidFill>
          <a:ln w="12700">
            <a:solidFill>
              <a:srgbClr val="3A4A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910328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92861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C 只用一條公式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3949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3E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全套 C</a:t>
            </a:r>
            <a:pPr indent="0" marL="0">
              <a:buNone/>
            </a:pPr>
            <a:r>
              <a:rPr lang="en-US" sz="1300" baseline="-40000" dirty="0">
                <a:solidFill>
                  <a:srgbClr val="C8D3E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</a:t>
            </a:r>
            <a:pPr indent="0" marL="0">
              <a:buNone/>
            </a:pPr>
            <a:r>
              <a:rPr lang="en-US" sz="1300" dirty="0">
                <a:solidFill>
                  <a:srgbClr val="C8D3E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得 24.2、全套 C</a:t>
            </a:r>
            <a:pPr indent="0" marL="0">
              <a:buNone/>
            </a:pPr>
            <a:r>
              <a:rPr lang="en-US" sz="1300" baseline="-40000" dirty="0">
                <a:solidFill>
                  <a:srgbClr val="C8D3E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300" dirty="0">
                <a:solidFill>
                  <a:srgbClr val="C8D3E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得 172.3，正解 86.9 mm。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470916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263244"/>
          </a:solidFill>
          <a:ln w="12700">
            <a:solidFill>
              <a:srgbClr val="3A4A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73368" y="4910328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73368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492861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log 按成 ln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53949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3E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自然對數會放大 2.303 倍：86.9 → 200.2 mm。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四部曲全公式一頁速查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160520" cy="123444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4173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現況有效應力</a:t>
            </a:r>
            <a:endParaRPr lang="en-US" sz="1300" dirty="0"/>
          </a:p>
        </p:txBody>
      </p:sp>
      <p:pic>
        <p:nvPicPr>
          <p:cNvPr id="6" name="Image 0" descr="m_p0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5774" y="1879169"/>
            <a:ext cx="3206252" cy="43875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46320" y="1325880"/>
            <a:ext cx="3337560" cy="123444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10912" y="1417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2:1 應力傳佈（z 從基底起）</a:t>
            </a:r>
            <a:endParaRPr lang="en-US" sz="1300" dirty="0"/>
          </a:p>
        </p:txBody>
      </p:sp>
      <p:pic>
        <p:nvPicPr>
          <p:cNvPr id="9" name="Image 1" descr="m_2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58018" y="1778742"/>
            <a:ext cx="2314164" cy="63961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321040" y="1325880"/>
            <a:ext cx="3337560" cy="123444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485632" y="1417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過壓密比</a:t>
            </a:r>
            <a:endParaRPr lang="en-US" sz="1300" dirty="0"/>
          </a:p>
        </p:txBody>
      </p:sp>
      <p:pic>
        <p:nvPicPr>
          <p:cNvPr id="12" name="Image 2" descr="m_ocr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00581" y="1759062"/>
            <a:ext cx="1178479" cy="67897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48640" y="2697480"/>
            <a:ext cx="4160520" cy="123444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13232" y="27889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最終有效應力</a:t>
            </a:r>
            <a:endParaRPr lang="en-US" sz="1300" dirty="0"/>
          </a:p>
        </p:txBody>
      </p:sp>
      <p:pic>
        <p:nvPicPr>
          <p:cNvPr id="15" name="Image 3" descr="m_pf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0006" y="3277897"/>
            <a:ext cx="1497787" cy="38450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846320" y="2697480"/>
            <a:ext cx="3337560" cy="123444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010912" y="2788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沉陷的本質</a:t>
            </a:r>
            <a:endParaRPr lang="en-US" sz="1300" dirty="0"/>
          </a:p>
        </p:txBody>
      </p:sp>
      <p:pic>
        <p:nvPicPr>
          <p:cNvPr id="18" name="Image 4" descr="m_S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34934" y="3184334"/>
            <a:ext cx="1560332" cy="571629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8321040" y="2697480"/>
            <a:ext cx="3337560" cy="123444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8485632" y="2788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Δe 分段讀取</a:t>
            </a:r>
            <a:endParaRPr lang="en-US" sz="1300" dirty="0"/>
          </a:p>
        </p:txBody>
      </p:sp>
      <p:pic>
        <p:nvPicPr>
          <p:cNvPr id="21" name="Image 5" descr="m_d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00664" y="3109051"/>
            <a:ext cx="2778313" cy="722195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4069080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713232" y="4160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A（NC，全程 C</a:t>
            </a:r>
            <a:pPr indent="0" marL="0">
              <a:buNone/>
            </a:pPr>
            <a:r>
              <a:rPr lang="en-US" sz="1300" b="1" baseline="-4000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3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）</a:t>
            </a:r>
            <a:endParaRPr lang="en-US" sz="1300" dirty="0"/>
          </a:p>
        </p:txBody>
      </p:sp>
      <p:pic>
        <p:nvPicPr>
          <p:cNvPr id="24" name="Image 6" descr="m_A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01439" y="4497774"/>
            <a:ext cx="2580803" cy="687949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6172200" y="4069080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6336792" y="4160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B（OC 未跨越，全程 C</a:t>
            </a:r>
            <a:pPr indent="0" marL="0">
              <a:buNone/>
            </a:pPr>
            <a:r>
              <a:rPr lang="en-US" sz="1300" b="1" baseline="-40000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</a:t>
            </a:r>
            <a:pPr indent="0" marL="0">
              <a:buNone/>
            </a:pPr>
            <a:r>
              <a:rPr lang="en-US" sz="13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）</a:t>
            </a:r>
            <a:endParaRPr lang="en-US" sz="1300" dirty="0"/>
          </a:p>
        </p:txBody>
      </p:sp>
      <p:pic>
        <p:nvPicPr>
          <p:cNvPr id="27" name="Image 7" descr="m_B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624999" y="4497774"/>
            <a:ext cx="2580803" cy="687949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548640" y="5440680"/>
            <a:ext cx="11109960" cy="914400"/>
          </a:xfrm>
          <a:prstGeom prst="roundRect">
            <a:avLst>
              <a:gd name="adj" fmla="val 12000"/>
            </a:avLst>
          </a:prstGeom>
          <a:solidFill>
            <a:srgbClr val="FBF1EA"/>
          </a:solidFill>
          <a:ln w="12700">
            <a:solidFill>
              <a:srgbClr val="E3B894"/>
            </a:solidFill>
            <a:prstDash val="solid"/>
          </a:ln>
        </p:spPr>
      </p:sp>
      <p:sp>
        <p:nvSpPr>
          <p:cNvPr id="29" name="Text 19"/>
          <p:cNvSpPr txBox="1"/>
          <p:nvPr/>
        </p:nvSpPr>
        <p:spPr>
          <a:xfrm>
            <a:off x="731520" y="5504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520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C（OC 跨越）</a:t>
            </a:r>
            <a:endParaRPr lang="en-US" sz="1300" dirty="0"/>
          </a:p>
        </p:txBody>
      </p:sp>
      <p:pic>
        <p:nvPicPr>
          <p:cNvPr id="30" name="Image 8" descr="m_C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845453" y="5486400"/>
            <a:ext cx="4927814" cy="82296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783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 取黏土層中點，水位下用浮單位重逐層累加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2715768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7157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Δσ 先判型式：基腳 2:1 法（z 從基底起算），大面積全深度不折減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3648456"/>
            <a:ext cx="548640" cy="548640"/>
          </a:xfrm>
          <a:prstGeom prst="ellipse">
            <a:avLst/>
          </a:prstGeom>
          <a:solidFill>
            <a:srgbClr val="B8520E"/>
          </a:solidFill>
          <a:ln w="12700">
            <a:solidFill>
              <a:srgbClr val="B8520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6484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OCR = p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 / p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′ 判 NC / OC；C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約為 C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 5～10 倍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31520" y="4581144"/>
            <a:ext cx="548640" cy="548640"/>
          </a:xfrm>
          <a:prstGeom prst="ellipse">
            <a:avLst/>
          </a:prstGeom>
          <a:solidFill>
            <a:srgbClr val="2F54C8"/>
          </a:solidFill>
          <a:ln w="12700">
            <a:solidFill>
              <a:srgbClr val="2F54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581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58114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三點排上對數軸看路徑；Case C 拆兩段，答案必夾在全套 C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與全套 C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之間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760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建議演練：SM-2003-2（2:1 應力傳佈 ＋ Case C 跨越段）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SM-U1-3 壓密沉陷計算四部曲</dc:title>
  <dc:subject>PptxGenJS Presentation</dc:subject>
  <dc:creator>PptxGenJS</dc:creator>
  <cp:lastModifiedBy>PptxGenJS</cp:lastModifiedBy>
  <cp:revision>1</cp:revision>
  <dcterms:created xsi:type="dcterms:W3CDTF">2026-09-19T23:06:12Z</dcterms:created>
  <dcterms:modified xsi:type="dcterms:W3CDTF">2026-09-19T23:06:12Z</dcterms:modified>
</cp:coreProperties>
</file>