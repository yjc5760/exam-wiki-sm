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image" Target="../media/image-11-3.png"/><Relationship Id="rId4" Type="http://schemas.openxmlformats.org/officeDocument/2006/relationships/image" Target="../media/image-11-4.svg"/><Relationship Id="rId5" Type="http://schemas.openxmlformats.org/officeDocument/2006/relationships/image" Target="../media/image-11-5.png"/><Relationship Id="rId6" Type="http://schemas.openxmlformats.org/officeDocument/2006/relationships/image" Target="../media/image-11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svg"/><Relationship Id="rId3" Type="http://schemas.openxmlformats.org/officeDocument/2006/relationships/image" Target="../media/image-14-3.png"/><Relationship Id="rId4" Type="http://schemas.openxmlformats.org/officeDocument/2006/relationships/image" Target="../media/image-14-4.svg"/><Relationship Id="rId5" Type="http://schemas.openxmlformats.org/officeDocument/2006/relationships/image" Target="../media/image-14-5.png"/><Relationship Id="rId6" Type="http://schemas.openxmlformats.org/officeDocument/2006/relationships/image" Target="../media/image-14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svg"/><Relationship Id="rId3" Type="http://schemas.openxmlformats.org/officeDocument/2006/relationships/image" Target="../media/image-15-3.png"/><Relationship Id="rId4" Type="http://schemas.openxmlformats.org/officeDocument/2006/relationships/image" Target="../media/image-15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svg"/><Relationship Id="rId3" Type="http://schemas.openxmlformats.org/officeDocument/2006/relationships/image" Target="../media/image-16-3.png"/><Relationship Id="rId4" Type="http://schemas.openxmlformats.org/officeDocument/2006/relationships/image" Target="../media/image-16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svg"/><Relationship Id="rId3" Type="http://schemas.openxmlformats.org/officeDocument/2006/relationships/image" Target="../media/image-18-3.png"/><Relationship Id="rId4" Type="http://schemas.openxmlformats.org/officeDocument/2006/relationships/image" Target="../media/image-18-4.svg"/><Relationship Id="rId5" Type="http://schemas.openxmlformats.org/officeDocument/2006/relationships/image" Target="../media/image-18-5.png"/><Relationship Id="rId6" Type="http://schemas.openxmlformats.org/officeDocument/2006/relationships/image" Target="../media/image-18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svg"/><Relationship Id="rId3" Type="http://schemas.openxmlformats.org/officeDocument/2006/relationships/image" Target="../media/image-20-3.png"/><Relationship Id="rId4" Type="http://schemas.openxmlformats.org/officeDocument/2006/relationships/image" Target="../media/image-20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svg"/><Relationship Id="rId3" Type="http://schemas.openxmlformats.org/officeDocument/2006/relationships/image" Target="../media/image-21-3.png"/><Relationship Id="rId4" Type="http://schemas.openxmlformats.org/officeDocument/2006/relationships/image" Target="../media/image-21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4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0972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9FB3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SM-U1-5　土壤強度｜觀念講義・拼圖二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645920"/>
            <a:ext cx="10789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兩個閥門定生死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7432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D6DEE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壓密排不排水 × 剪切排不排水：閥門的開關組合決定孔隙水壓 u 怎麼變，也決定你量到的是哪一組強度參數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1520" y="3977640"/>
            <a:ext cx="3383280" cy="731520"/>
          </a:xfrm>
          <a:prstGeom prst="roundRect">
            <a:avLst>
              <a:gd name="adj" fmla="val 12500"/>
            </a:avLst>
          </a:prstGeom>
          <a:solidFill>
            <a:srgbClr val="243044"/>
          </a:solidFill>
          <a:ln w="25400">
            <a:solidFill>
              <a:srgbClr val="7CC4A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39776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CC4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CD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397764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u = 0，直接量 c′、φ′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89120" y="3977640"/>
            <a:ext cx="3383280" cy="731520"/>
          </a:xfrm>
          <a:prstGeom prst="roundRect">
            <a:avLst>
              <a:gd name="adj" fmla="val 12500"/>
            </a:avLst>
          </a:prstGeom>
          <a:solidFill>
            <a:srgbClr val="243044"/>
          </a:solidFill>
          <a:ln w="25400">
            <a:solidFill>
              <a:srgbClr val="F2A65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0" y="39776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A6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CU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5257800" y="397764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有效圓 = 總應力圓左移 u</a:t>
            </a:r>
            <a:pPr indent="0" marL="0">
              <a:buNone/>
            </a:pPr>
            <a:r>
              <a:rPr lang="en-US" sz="1400" b="1" baseline="-400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046720" y="3977640"/>
            <a:ext cx="3383280" cy="731520"/>
          </a:xfrm>
          <a:prstGeom prst="roundRect">
            <a:avLst>
              <a:gd name="adj" fmla="val 12500"/>
            </a:avLst>
          </a:prstGeom>
          <a:solidFill>
            <a:srgbClr val="243044"/>
          </a:solidFill>
          <a:ln w="25400">
            <a:solidFill>
              <a:srgbClr val="F08A6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0" y="39776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8A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UU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8915400" y="397764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圓一樣大，φ</a:t>
            </a:r>
            <a:pPr indent="0" marL="0">
              <a:buNone/>
            </a:pPr>
            <a:r>
              <a:rPr lang="en-US" sz="1400" b="1" baseline="-400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u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0、S</a:t>
            </a:r>
            <a:pPr indent="0" marL="0">
              <a:buNone/>
            </a:pPr>
            <a:r>
              <a:rPr lang="en-US" sz="1400" b="1" baseline="-400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u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R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576072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FB3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示範黏土 A 沿用拼圖一：NC、c′ = 0、φ′ = 30°、σ</a:t>
            </a:r>
            <a:pPr indent="0" marL="0">
              <a:buNone/>
            </a:pPr>
            <a:r>
              <a:rPr lang="en-US" sz="1400" baseline="-40000" dirty="0">
                <a:solidFill>
                  <a:srgbClr val="9FB3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</a:t>
            </a:r>
            <a:pPr indent="0" marL="0">
              <a:buNone/>
            </a:pPr>
            <a:r>
              <a:rPr lang="en-US" sz="1400" dirty="0">
                <a:solidFill>
                  <a:srgbClr val="9FB3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100 kPa、A</a:t>
            </a:r>
            <a:pPr indent="0" marL="0">
              <a:buNone/>
            </a:pPr>
            <a:r>
              <a:rPr lang="en-US" sz="1400" baseline="-40000" dirty="0">
                <a:solidFill>
                  <a:srgbClr val="9FB3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</a:t>
            </a:r>
            <a:pPr indent="0" marL="0">
              <a:buNone/>
            </a:pPr>
            <a:r>
              <a:rPr lang="en-US" sz="1400" dirty="0">
                <a:solidFill>
                  <a:srgbClr val="9FB3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0.75；圖上數字全部由同一支程式算出，可逐一對帳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4572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OVERVIEW · 兩個閥門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壓密閥 × 剪切閥：四種組合，實際只有三種試驗</a:t>
            </a:r>
            <a:endParaRPr lang="en-US" sz="2600" dirty="0"/>
          </a:p>
        </p:txBody>
      </p:sp>
      <p:pic>
        <p:nvPicPr>
          <p:cNvPr id="4" name="Image 0" descr="fig01_valves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80110" y="1280160"/>
            <a:ext cx="10401300" cy="41605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5532120"/>
            <a:ext cx="3596640" cy="914400"/>
          </a:xfrm>
          <a:prstGeom prst="roundRect">
            <a:avLst>
              <a:gd name="adj" fmla="val 12000"/>
            </a:avLst>
          </a:prstGeom>
          <a:solidFill>
            <a:srgbClr val="E6F2EF"/>
          </a:solidFill>
          <a:ln w="12700">
            <a:solidFill>
              <a:srgbClr val="9CC7BC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5605272"/>
            <a:ext cx="3276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2E7D6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閥門①：壓密階段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決定剪切前骨架有多緊（起跑點）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4282440" y="5532120"/>
            <a:ext cx="3596640" cy="914400"/>
          </a:xfrm>
          <a:prstGeom prst="roundRect">
            <a:avLst>
              <a:gd name="adj" fmla="val 12000"/>
            </a:avLst>
          </a:prstGeom>
          <a:solidFill>
            <a:srgbClr val="FDF1E7"/>
          </a:solidFill>
          <a:ln w="12700">
            <a:solidFill>
              <a:srgbClr val="F2C7A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465320" y="5605272"/>
            <a:ext cx="3276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E07B3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閥門②：剪切階段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決定剪切時體積變化會不會變成 u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8016240" y="5532120"/>
            <a:ext cx="3596640" cy="914400"/>
          </a:xfrm>
          <a:prstGeom prst="roundRect">
            <a:avLst>
              <a:gd name="adj" fmla="val 12000"/>
            </a:avLst>
          </a:prstGeom>
          <a:solidFill>
            <a:srgbClr val="F4F6F9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199120" y="5605272"/>
            <a:ext cx="3276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讀圖方法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先問兩個閥門開或關，再推 u 怎麼走，最後才畫圓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4572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機制 ① · 儀器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其實只有一顆排水閥，只是在兩個階段各決定一次開或關</a:t>
            </a:r>
            <a:endParaRPr lang="en-US" sz="2600" dirty="0"/>
          </a:p>
        </p:txBody>
      </p:sp>
      <p:pic>
        <p:nvPicPr>
          <p:cNvPr id="4" name="Image 0" descr="fig02_apparatus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88136" y="1280160"/>
            <a:ext cx="9985248" cy="41605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5532120"/>
            <a:ext cx="3596640" cy="914400"/>
          </a:xfrm>
          <a:prstGeom prst="roundRect">
            <a:avLst>
              <a:gd name="adj" fmla="val 12000"/>
            </a:avLst>
          </a:prstGeom>
          <a:solidFill>
            <a:srgbClr val="F4F6F9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5605272"/>
            <a:ext cx="3276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縮寫的讀法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第一個字母 = 壓密階段（C／U）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第二個字母 = 剪切階段（D／U）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4282440" y="5532120"/>
            <a:ext cx="3596640" cy="914400"/>
          </a:xfrm>
          <a:prstGeom prst="roundRect">
            <a:avLst>
              <a:gd name="adj" fmla="val 12000"/>
            </a:avLst>
          </a:prstGeom>
          <a:solidFill>
            <a:srgbClr val="E6F2EF"/>
          </a:solidFill>
          <a:ln w="12700">
            <a:solidFill>
              <a:srgbClr val="9CC7B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465320" y="5605272"/>
            <a:ext cx="3276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2E7D6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閥開時量什麼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量管讀體積變化 ΔV（u ≈ 0）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8016240" y="5532120"/>
            <a:ext cx="3596640" cy="914400"/>
          </a:xfrm>
          <a:prstGeom prst="roundRect">
            <a:avLst>
              <a:gd name="adj" fmla="val 12000"/>
            </a:avLst>
          </a:prstGeom>
          <a:solidFill>
            <a:srgbClr val="FBECEA"/>
          </a:solidFill>
          <a:ln w="12700">
            <a:solidFill>
              <a:srgbClr val="EBB4A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199120" y="5605272"/>
            <a:ext cx="3276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閥關時量什麼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孔壓計讀 u（ΔV = 0）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4572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機制 ② · 壓密閥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閥門① 決定起跑點：剪切前骨架承受多少有效應力</a:t>
            </a:r>
            <a:endParaRPr lang="en-US" sz="2600" dirty="0"/>
          </a:p>
        </p:txBody>
      </p:sp>
      <p:pic>
        <p:nvPicPr>
          <p:cNvPr id="4" name="Image 0" descr="fig03_consol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86190" y="1280160"/>
            <a:ext cx="10389140" cy="40690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5440680"/>
            <a:ext cx="5463540" cy="1005840"/>
          </a:xfrm>
          <a:prstGeom prst="roundRect">
            <a:avLst>
              <a:gd name="adj" fmla="val 10909"/>
            </a:avLst>
          </a:prstGeom>
          <a:solidFill>
            <a:srgbClr val="E6F2EF"/>
          </a:solidFill>
          <a:ln w="12700">
            <a:solidFill>
              <a:srgbClr val="9CC7BC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5513832"/>
            <a:ext cx="51435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2E7D6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開（C）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加圍壓 100 kPa 後等 u 消散：σ′</a:t>
            </a:r>
            <a:pPr indent="0" marL="0">
              <a:spcAft>
                <a:spcPts val="2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σ</a:t>
            </a:r>
            <a:pPr indent="0" marL="0">
              <a:spcAft>
                <a:spcPts val="2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100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骨架被壓緊 → 強度隨圍壓增加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149340" y="5440680"/>
            <a:ext cx="5463540" cy="1005840"/>
          </a:xfrm>
          <a:prstGeom prst="roundRect">
            <a:avLst>
              <a:gd name="adj" fmla="val 10909"/>
            </a:avLst>
          </a:prstGeom>
          <a:solidFill>
            <a:srgbClr val="FBECEA"/>
          </a:solidFill>
          <a:ln w="12700">
            <a:solidFill>
              <a:srgbClr val="EBB4A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332220" y="5513832"/>
            <a:ext cx="51435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關（U）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圍壓增量全部由水扛：Δu = Δσ</a:t>
            </a:r>
            <a:pPr indent="0" marL="0">
              <a:spcAft>
                <a:spcPts val="2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（飽和 B = 1）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σ′ 維持取樣時的值 → 加再多圍壓也沒用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4572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機制 ③ · 剪切閥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閥門② 決定體積變化傾向去哪裡：變成 ΔV，還是變成 u</a:t>
            </a:r>
            <a:endParaRPr lang="en-US" sz="2600" dirty="0"/>
          </a:p>
        </p:txBody>
      </p:sp>
      <p:pic>
        <p:nvPicPr>
          <p:cNvPr id="4" name="Image 0" descr="fig04_shear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86190" y="1280160"/>
            <a:ext cx="10389140" cy="40690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5440680"/>
            <a:ext cx="5463540" cy="1005840"/>
          </a:xfrm>
          <a:prstGeom prst="roundRect">
            <a:avLst>
              <a:gd name="adj" fmla="val 10909"/>
            </a:avLst>
          </a:prstGeom>
          <a:solidFill>
            <a:srgbClr val="F4F6F9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5513832"/>
            <a:ext cx="51435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同一個傾向，兩種表現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NC 想剪縮：排水 → 體積縮；不排水 → 正孔壓 +u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OC 想剪脹：排水 → 體積脹；不排水 → 負孔壓 −u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149340" y="5440680"/>
            <a:ext cx="5463540" cy="1005840"/>
          </a:xfrm>
          <a:prstGeom prst="roundRect">
            <a:avLst>
              <a:gd name="adj" fmla="val 10909"/>
            </a:avLst>
          </a:prstGeom>
          <a:solidFill>
            <a:srgbClr val="FDEDE8"/>
          </a:solidFill>
          <a:ln w="12700">
            <a:solidFill>
              <a:srgbClr val="F2B8A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332220" y="5513832"/>
            <a:ext cx="51435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E4572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考試關鍵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不排水時 ΔV = 0，但 u ≠ 0：u 讓有效應力改變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 這就是 CU、UU 強度不同於 CD 的根源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4572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機制 ④ · 缺席的組合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為什麼沒有 UD？因為「不壓密卻排水剪」在現場找不到對應</a:t>
            </a:r>
            <a:endParaRPr lang="en-US" sz="2600" dirty="0"/>
          </a:p>
        </p:txBody>
      </p:sp>
      <p:pic>
        <p:nvPicPr>
          <p:cNvPr id="4" name="Image 0" descr="fig05_noud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8640" y="1287780"/>
            <a:ext cx="11064240" cy="36880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5074920"/>
            <a:ext cx="11064240" cy="137160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5148072"/>
            <a:ext cx="1074420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一句話記住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能排水的土早就壓密完了；UD 等於邊壓密邊剪，量到的東西無法解讀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4572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總整理 · 三大試驗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CD／CU／UU 一張表：閥門、孔壓、莫爾圓、參數、現場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64240" cy="502920"/>
          </a:xfrm>
          <a:prstGeom prst="rect">
            <a:avLst/>
          </a:prstGeom>
          <a:solidFill>
            <a:srgbClr val="1B2432"/>
          </a:solidFill>
          <a:ln w="12700">
            <a:solidFill>
              <a:srgbClr val="1B243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37160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試驗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691640" y="13716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閥門①／閥門②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3246120" y="13716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孔隙水壓 u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349240" y="137160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莫爾圓行為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635240" y="13716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量到的參數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555480" y="13716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對應現場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1965960"/>
            <a:ext cx="11064240" cy="1143000"/>
          </a:xfrm>
          <a:prstGeom prst="roundRect">
            <a:avLst>
              <a:gd name="adj" fmla="val 6400"/>
            </a:avLst>
          </a:prstGeom>
          <a:solidFill>
            <a:srgbClr val="E6F2EF"/>
          </a:solidFill>
          <a:ln w="19050">
            <a:solidFill>
              <a:srgbClr val="2E7D6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2075688"/>
            <a:ext cx="822960" cy="914400"/>
          </a:xfrm>
          <a:prstGeom prst="roundRect">
            <a:avLst>
              <a:gd name="adj" fmla="val 8889"/>
            </a:avLst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2075688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CD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1691640" y="1965960"/>
            <a:ext cx="1371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開／開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3246120" y="1965960"/>
            <a:ext cx="1920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全程 u = 0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總應力 = 有效應力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5349240" y="1965960"/>
            <a:ext cx="2103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只有一個圓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不必平移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7635240" y="1965960"/>
            <a:ext cx="1737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2E7D6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c′、φ′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2E7D6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（真參數）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555480" y="1965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長期穩定、砂土、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緩慢加載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48640" y="3200400"/>
            <a:ext cx="11064240" cy="1143000"/>
          </a:xfrm>
          <a:prstGeom prst="roundRect">
            <a:avLst>
              <a:gd name="adj" fmla="val 6400"/>
            </a:avLst>
          </a:prstGeom>
          <a:solidFill>
            <a:srgbClr val="FDF1E7"/>
          </a:solidFill>
          <a:ln w="19050">
            <a:solidFill>
              <a:srgbClr val="E07B3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" y="3310128"/>
            <a:ext cx="822960" cy="914400"/>
          </a:xfrm>
          <a:prstGeom prst="roundRect">
            <a:avLst>
              <a:gd name="adj" fmla="val 8889"/>
            </a:avLst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" y="3310128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CU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1691640" y="3200400"/>
            <a:ext cx="1371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開／關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3246120" y="3200400"/>
            <a:ext cx="1920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壓密時歸零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剪切時累積 u</a:t>
            </a:r>
            <a:pPr indent="0" marL="0">
              <a:spcAft>
                <a:spcPts val="200"/>
              </a:spcAft>
              <a:buNone/>
            </a:pPr>
            <a:r>
              <a:rPr lang="en-US" sz="14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5349240" y="3200400"/>
            <a:ext cx="2103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有效圓 = 總應力圓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左移 u</a:t>
            </a:r>
            <a:pPr indent="0" marL="0">
              <a:spcAft>
                <a:spcPts val="200"/>
              </a:spcAft>
              <a:buNone/>
            </a:pPr>
            <a:r>
              <a:rPr lang="en-US" sz="14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</a:t>
            </a:r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，R 不變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7635240" y="3200400"/>
            <a:ext cx="1737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E07B3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φ</a:t>
            </a:r>
            <a:pPr indent="0" marL="0">
              <a:spcAft>
                <a:spcPts val="200"/>
              </a:spcAft>
              <a:buNone/>
            </a:pPr>
            <a:r>
              <a:rPr lang="en-US" sz="1400" b="1" baseline="-40000" dirty="0">
                <a:solidFill>
                  <a:srgbClr val="E07B3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cu</a:t>
            </a:r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E07B3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（總）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E07B3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c′、φ′（有效）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9555480" y="320040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既有結構上快速加載、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水位驟降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548640" y="4434840"/>
            <a:ext cx="11064240" cy="1143000"/>
          </a:xfrm>
          <a:prstGeom prst="roundRect">
            <a:avLst>
              <a:gd name="adj" fmla="val 6400"/>
            </a:avLst>
          </a:prstGeom>
          <a:solidFill>
            <a:srgbClr val="FBECEA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0080" y="4544568"/>
            <a:ext cx="822960" cy="914400"/>
          </a:xfrm>
          <a:prstGeom prst="roundRect">
            <a:avLst>
              <a:gd name="adj" fmla="val 8889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40080" y="4544568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UU</a:t>
            </a:r>
            <a:endParaRPr lang="en-US" sz="2200" dirty="0"/>
          </a:p>
        </p:txBody>
      </p:sp>
      <p:sp>
        <p:nvSpPr>
          <p:cNvPr id="30" name="Text 28"/>
          <p:cNvSpPr txBox="1"/>
          <p:nvPr/>
        </p:nvSpPr>
        <p:spPr>
          <a:xfrm>
            <a:off x="1691640" y="4434840"/>
            <a:ext cx="1371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關／關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3246120" y="4434840"/>
            <a:ext cx="1920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Δu = Δσ</a:t>
            </a:r>
            <a:pPr indent="0" marL="0">
              <a:spcAft>
                <a:spcPts val="200"/>
              </a:spcAft>
              <a:buNone/>
            </a:pPr>
            <a:r>
              <a:rPr lang="en-US" sz="14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σ′ 完全不變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5349240" y="4434840"/>
            <a:ext cx="2103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不同圍壓的圓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一樣大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7635240" y="4434840"/>
            <a:ext cx="1737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φ</a:t>
            </a:r>
            <a:pPr indent="0" marL="0">
              <a:spcAft>
                <a:spcPts val="200"/>
              </a:spcAft>
              <a:buNone/>
            </a:pPr>
            <a:r>
              <a:rPr lang="en-US" sz="1400" b="1" baseline="-40000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u</a:t>
            </a:r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0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</a:t>
            </a:r>
            <a:pPr indent="0" marL="0">
              <a:spcAft>
                <a:spcPts val="200"/>
              </a:spcAft>
              <a:buNone/>
            </a:pPr>
            <a:r>
              <a:rPr lang="en-US" sz="1400" b="1" baseline="-40000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u</a:t>
            </a:r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R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9555480" y="443484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施工期、開挖後立即、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快速填土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548640" y="5760720"/>
            <a:ext cx="11064240" cy="685800"/>
          </a:xfrm>
          <a:prstGeom prst="roundRect">
            <a:avLst>
              <a:gd name="adj" fmla="val 16000"/>
            </a:avLst>
          </a:prstGeom>
          <a:solidFill>
            <a:srgbClr val="F4F6F9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77240" y="576072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記憶口訣：閥門只管 u；u 只管「圓在哪」，不管「圓多大」。圓多大由骨架的有效應力決定。</a:t>
            </a:r>
            <a:endParaRPr lang="en-US" sz="1500" dirty="0"/>
          </a:p>
        </p:txBody>
      </p:sp>
      <p:sp>
        <p:nvSpPr>
          <p:cNvPr id="37" name="Text 35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4572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示範黏土 A · 同一個 σ</a:t>
            </a:r>
            <a:pPr indent="0" marL="0">
              <a:buNone/>
            </a:pPr>
            <a:r>
              <a:rPr lang="en-US" sz="1200" b="1" baseline="-40000" spc="200" kern="0" dirty="0">
                <a:solidFill>
                  <a:srgbClr val="E4572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</a:t>
            </a:r>
            <a:pPr indent="0" marL="0">
              <a:buNone/>
            </a:pPr>
            <a:r>
              <a:rPr lang="en-US" sz="1200" b="1" spc="200" kern="0" dirty="0">
                <a:solidFill>
                  <a:srgbClr val="E4572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100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同一塊土、同一個圍壓，三個試驗量到三種破壞圓</a:t>
            </a:r>
            <a:endParaRPr lang="en-US" sz="2600" dirty="0"/>
          </a:p>
        </p:txBody>
      </p:sp>
      <p:pic>
        <p:nvPicPr>
          <p:cNvPr id="4" name="Image 0" descr="fig06_thre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9458" y="1280160"/>
            <a:ext cx="10622604" cy="41605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5532120"/>
            <a:ext cx="3596640" cy="914400"/>
          </a:xfrm>
          <a:prstGeom prst="roundRect">
            <a:avLst>
              <a:gd name="adj" fmla="val 12000"/>
            </a:avLst>
          </a:prstGeom>
          <a:solidFill>
            <a:srgbClr val="E6F2EF"/>
          </a:solidFill>
          <a:ln w="12700">
            <a:solidFill>
              <a:srgbClr val="9CC7BC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5605272"/>
            <a:ext cx="3276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2E7D6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CD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u = 0，σ′</a:t>
            </a:r>
            <a:pPr indent="0" marL="0">
              <a:spcAft>
                <a:spcPts val="2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維持 100，可以一路剪到 σ</a:t>
            </a:r>
            <a:pPr indent="0" marL="0">
              <a:spcAft>
                <a:spcPts val="2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300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4282440" y="5532120"/>
            <a:ext cx="3596640" cy="914400"/>
          </a:xfrm>
          <a:prstGeom prst="roundRect">
            <a:avLst>
              <a:gd name="adj" fmla="val 12000"/>
            </a:avLst>
          </a:prstGeom>
          <a:solidFill>
            <a:srgbClr val="FDF1E7"/>
          </a:solidFill>
          <a:ln w="12700">
            <a:solidFill>
              <a:srgbClr val="F2C7A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465320" y="5605272"/>
            <a:ext cx="3276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E07B3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CU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u</a:t>
            </a:r>
            <a:pPr indent="0" marL="0">
              <a:spcAft>
                <a:spcPts val="2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+60 把 σ′</a:t>
            </a:r>
            <a:pPr indent="0" marL="0">
              <a:spcAft>
                <a:spcPts val="2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從 100 拉到 40，只剪到 Δσ</a:t>
            </a:r>
            <a:pPr indent="0" marL="0">
              <a:spcAft>
                <a:spcPts val="2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80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8016240" y="5532120"/>
            <a:ext cx="3596640" cy="914400"/>
          </a:xfrm>
          <a:prstGeom prst="roundRect">
            <a:avLst>
              <a:gd name="adj" fmla="val 12000"/>
            </a:avLst>
          </a:prstGeom>
          <a:solidFill>
            <a:srgbClr val="FBECEA"/>
          </a:solidFill>
          <a:ln w="12700">
            <a:solidFill>
              <a:srgbClr val="EBB4A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199120" y="5605272"/>
            <a:ext cx="3276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UU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試體有效應力同為 100，破壞圓與 CU 相同；只報 S</a:t>
            </a:r>
            <a:pPr indent="0" marL="0">
              <a:spcAft>
                <a:spcPts val="2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u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40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4572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試驗 ① · CD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CD：u 全程為零，畫一個圓就是有效應力圓</a:t>
            </a:r>
            <a:endParaRPr lang="en-US" sz="2600" dirty="0"/>
          </a:p>
        </p:txBody>
      </p:sp>
      <p:pic>
        <p:nvPicPr>
          <p:cNvPr id="4" name="Image 0" descr="fig07_cd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86190" y="1280160"/>
            <a:ext cx="10389140" cy="40690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5440680"/>
            <a:ext cx="5463540" cy="1005840"/>
          </a:xfrm>
          <a:prstGeom prst="roundRect">
            <a:avLst>
              <a:gd name="adj" fmla="val 10909"/>
            </a:avLst>
          </a:prstGeom>
          <a:solidFill>
            <a:srgbClr val="E6F2EF"/>
          </a:solidFill>
          <a:ln w="12700">
            <a:solidFill>
              <a:srgbClr val="9CC7BC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5513832"/>
            <a:ext cx="51435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2E7D6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直接讀出真參數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K</a:t>
            </a:r>
            <a:pPr indent="0" marL="0">
              <a:spcAft>
                <a:spcPts val="2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σ</a:t>
            </a:r>
            <a:pPr indent="0" marL="0">
              <a:spcAft>
                <a:spcPts val="2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/σ</a:t>
            </a:r>
            <a:pPr indent="0" marL="0">
              <a:spcAft>
                <a:spcPts val="2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3 → sin φ′ = (K</a:t>
            </a:r>
            <a:pPr indent="0" marL="0">
              <a:spcAft>
                <a:spcPts val="2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− 1)/(K</a:t>
            </a:r>
            <a:pPr indent="0" marL="0">
              <a:spcAft>
                <a:spcPts val="2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+ 1) = 0.5 → φ′ = 30°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149340" y="5440680"/>
            <a:ext cx="5463540" cy="1005840"/>
          </a:xfrm>
          <a:prstGeom prst="roundRect">
            <a:avLst>
              <a:gd name="adj" fmla="val 10909"/>
            </a:avLst>
          </a:prstGeom>
          <a:solidFill>
            <a:srgbClr val="F4F6F9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332220" y="5513832"/>
            <a:ext cx="51435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為什麼不常做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黏土透水性低，剪切要夠慢才能讓 u ≈ 0，一組常要數天；工程上多用 CU 加孔壓量測代替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4572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試驗 ② · CU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CU：有效應力圓就是總應力圓整個往左平移 u</a:t>
            </a:r>
            <a:pPr indent="0" marL="0">
              <a:buNone/>
            </a:pPr>
            <a:r>
              <a:rPr lang="en-US" sz="2600" b="1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</a:t>
            </a:r>
            <a:endParaRPr lang="en-US" sz="2600" dirty="0"/>
          </a:p>
        </p:txBody>
      </p:sp>
      <p:pic>
        <p:nvPicPr>
          <p:cNvPr id="4" name="Image 0" descr="fig08_cu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491175" y="1280160"/>
            <a:ext cx="9179169" cy="39776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5349240"/>
            <a:ext cx="5463540" cy="1097280"/>
          </a:xfrm>
          <a:prstGeom prst="roundRect">
            <a:avLst>
              <a:gd name="adj" fmla="val 10000"/>
            </a:avLst>
          </a:prstGeom>
          <a:solidFill>
            <a:srgbClr val="FDEDE8"/>
          </a:solidFill>
          <a:ln w="12700">
            <a:solidFill>
              <a:srgbClr val="F2B8A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5422392"/>
            <a:ext cx="51435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E4572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同一個破壞事件，兩套座標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總應力 100～180；有效 40～120；兩者都是 2R = 80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149340" y="5349240"/>
            <a:ext cx="5463540" cy="1097280"/>
          </a:xfrm>
          <a:prstGeom prst="roundRect">
            <a:avLst>
              <a:gd name="adj" fmla="val 10000"/>
            </a:avLst>
          </a:prstGeom>
          <a:solidFill>
            <a:srgbClr val="EEF2FB"/>
          </a:solidFill>
          <a:ln w="12700">
            <a:solidFill>
              <a:srgbClr val="B9C6E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332220" y="5422392"/>
            <a:ext cx="51435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φ</a:t>
            </a:r>
            <a:pPr indent="0" marL="0">
              <a:spcAft>
                <a:spcPts val="200"/>
              </a:spcAft>
              <a:buNone/>
            </a:pPr>
            <a:r>
              <a:rPr lang="en-US" sz="1400" b="1" baseline="-40000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cu</a:t>
            </a:r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與 φ′ 的比例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16.6° / 30° = 0.55，落在 NC 黏土常見的 0.5～0.7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4572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推導 · 黃金跳躍法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兩邊同扣 u</a:t>
            </a:r>
            <a:pPr indent="0" marL="0">
              <a:buNone/>
            </a:pPr>
            <a:r>
              <a:rPr lang="en-US" sz="2600" b="1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</a:t>
            </a:r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：圓心移動、半徑不變，三行代數說完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852160" cy="5029200"/>
          </a:xfrm>
          <a:prstGeom prst="roundRect">
            <a:avLst>
              <a:gd name="adj" fmla="val 2182"/>
            </a:avLst>
          </a:prstGeom>
          <a:solidFill>
            <a:srgbClr val="F4F6F9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508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4572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① 主應力同時扣掉 u</a:t>
            </a:r>
            <a:pPr indent="0" marL="0">
              <a:buNone/>
            </a:pPr>
            <a:r>
              <a:rPr lang="en-US" sz="1600" b="1" baseline="-40000" dirty="0">
                <a:solidFill>
                  <a:srgbClr val="E4572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</a:t>
            </a:r>
            <a:endParaRPr lang="en-US" sz="1600" dirty="0"/>
          </a:p>
        </p:txBody>
      </p:sp>
      <p:pic>
        <p:nvPicPr>
          <p:cNvPr id="6" name="Image 0" descr="m_shift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7240" y="2019681"/>
            <a:ext cx="2425446" cy="25831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2651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② 圓心往左移 u</a:t>
            </a:r>
            <a:pPr indent="0" marL="0">
              <a:buNone/>
            </a:pPr>
            <a:r>
              <a:rPr lang="en-US" sz="1600" b="1" baseline="-40000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</a:t>
            </a:r>
            <a:endParaRPr lang="en-US" sz="1600" dirty="0"/>
          </a:p>
        </p:txBody>
      </p:sp>
      <p:pic>
        <p:nvPicPr>
          <p:cNvPr id="8" name="Image 1" descr="m_center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7240" y="3224403"/>
            <a:ext cx="1853946" cy="40919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777240" y="40233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E7D6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③ 半徑：u</a:t>
            </a:r>
            <a:pPr indent="0" marL="0">
              <a:buNone/>
            </a:pPr>
            <a:r>
              <a:rPr lang="en-US" sz="1600" b="1" baseline="-40000" dirty="0">
                <a:solidFill>
                  <a:srgbClr val="2E7D6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</a:t>
            </a:r>
            <a:pPr indent="0" marL="0">
              <a:buNone/>
            </a:pPr>
            <a:r>
              <a:rPr lang="en-US" sz="1600" b="1" dirty="0">
                <a:solidFill>
                  <a:srgbClr val="2E7D6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相減時抵消</a:t>
            </a:r>
            <a:endParaRPr lang="en-US" sz="1600" dirty="0"/>
          </a:p>
        </p:txBody>
      </p:sp>
      <p:pic>
        <p:nvPicPr>
          <p:cNvPr id="10" name="Image 2" descr="m_rad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77240" y="4586859"/>
            <a:ext cx="3166110" cy="427482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777240" y="557784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物理意義：水不承剪，所以 u 改變不了「最大剪應力 = R」</a:t>
            </a:r>
            <a:endParaRPr lang="en-US" sz="1400" dirty="0"/>
          </a:p>
        </p:txBody>
      </p:sp>
      <p:sp>
        <p:nvSpPr>
          <p:cNvPr id="12" name="Shape 7"/>
          <p:cNvSpPr/>
          <p:nvPr/>
        </p:nvSpPr>
        <p:spPr>
          <a:xfrm>
            <a:off x="6583680" y="1371600"/>
            <a:ext cx="5029200" cy="2377440"/>
          </a:xfrm>
          <a:prstGeom prst="roundRect">
            <a:avLst>
              <a:gd name="adj" fmla="val 4615"/>
            </a:avLst>
          </a:prstGeom>
          <a:solidFill>
            <a:srgbClr val="FDEDE8"/>
          </a:solidFill>
          <a:ln w="12700">
            <a:solidFill>
              <a:srgbClr val="F2B8A6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6812280" y="15087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4572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代入示範黏土 A</a:t>
            </a:r>
            <a:endParaRPr lang="en-US" sz="1600" dirty="0"/>
          </a:p>
        </p:txBody>
      </p:sp>
      <p:sp>
        <p:nvSpPr>
          <p:cNvPr id="14" name="Text 9"/>
          <p:cNvSpPr txBox="1"/>
          <p:nvPr/>
        </p:nvSpPr>
        <p:spPr>
          <a:xfrm>
            <a:off x="6812280" y="1920240"/>
            <a:ext cx="4572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σ′</a:t>
            </a:r>
            <a:pPr indent="0" marL="0">
              <a:spcAft>
                <a:spcPts val="800"/>
              </a:spcAft>
              <a:buNone/>
            </a:pPr>
            <a:r>
              <a:rPr lang="en-US" sz="1600" b="1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100 − 60 = 40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σ′</a:t>
            </a:r>
            <a:pPr indent="0" marL="0">
              <a:spcAft>
                <a:spcPts val="800"/>
              </a:spcAft>
              <a:buNone/>
            </a:pPr>
            <a:r>
              <a:rPr lang="en-US" sz="1600" b="1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180 − 60 = 120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E4572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C：140 → 80　R：40 → 40</a:t>
            </a:r>
            <a:endParaRPr lang="en-US" sz="1500" dirty="0"/>
          </a:p>
        </p:txBody>
      </p:sp>
      <p:sp>
        <p:nvSpPr>
          <p:cNvPr id="15" name="Shape 10"/>
          <p:cNvSpPr/>
          <p:nvPr/>
        </p:nvSpPr>
        <p:spPr>
          <a:xfrm>
            <a:off x="6583680" y="3931920"/>
            <a:ext cx="5029200" cy="2468880"/>
          </a:xfrm>
          <a:prstGeom prst="roundRect">
            <a:avLst>
              <a:gd name="adj" fmla="val 4444"/>
            </a:avLst>
          </a:prstGeom>
          <a:solidFill>
            <a:srgbClr val="EEF2FB"/>
          </a:solidFill>
          <a:ln w="12700">
            <a:solidFill>
              <a:srgbClr val="B9C6EA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6812280" y="4069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所以 NC 黏土 φ′ &gt; φ</a:t>
            </a:r>
            <a:pPr indent="0" marL="0">
              <a:buNone/>
            </a:pPr>
            <a:r>
              <a:rPr lang="en-US" sz="1600" b="1" baseline="-40000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cu</a:t>
            </a:r>
            <a:pPr indent="0" marL="0">
              <a:buNone/>
            </a:pPr>
            <a:r>
              <a:rPr lang="en-US" sz="1600" b="1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恆成立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6812280" y="4480560"/>
            <a:ext cx="4572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兩個圓一樣大、有效圓在左（較靠近原點）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從原點畫切線，越近的圓切線越陡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 φ′ = 30° &gt; φ</a:t>
            </a:r>
            <a:pPr indent="0" marL="0">
              <a:spcAft>
                <a:spcPts val="600"/>
              </a:spcAft>
              <a:buNone/>
            </a:pPr>
            <a:r>
              <a:rPr lang="en-US" sz="1500" b="1" baseline="-40000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cu</a:t>
            </a:r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16.6°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檢查：算出的有效圓半徑 ≠ 總應力圓 → 一定只扣了一邊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4572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CU 延伸 · u</a:t>
            </a:r>
            <a:pPr indent="0" marL="0">
              <a:buNone/>
            </a:pPr>
            <a:r>
              <a:rPr lang="en-US" sz="1200" b="1" baseline="-40000" spc="200" kern="0" dirty="0">
                <a:solidFill>
                  <a:srgbClr val="E4572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</a:t>
            </a:r>
            <a:pPr indent="0" marL="0">
              <a:buNone/>
            </a:pPr>
            <a:r>
              <a:rPr lang="en-US" sz="1200" b="1" spc="200" kern="0" dirty="0">
                <a:solidFill>
                  <a:srgbClr val="E4572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的正負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u</a:t>
            </a:r>
            <a:pPr indent="0" marL="0">
              <a:buNone/>
            </a:pPr>
            <a:r>
              <a:rPr lang="en-US" sz="2600" b="1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</a:t>
            </a:r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的符號決定圓往哪移：NC 往左、重 OC 往右</a:t>
            </a:r>
            <a:endParaRPr lang="en-US" sz="2600" dirty="0"/>
          </a:p>
        </p:txBody>
      </p:sp>
      <p:pic>
        <p:nvPicPr>
          <p:cNvPr id="4" name="Image 0" descr="fig09_sign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86190" y="1280160"/>
            <a:ext cx="10389140" cy="40690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5440680"/>
            <a:ext cx="3596640" cy="1005840"/>
          </a:xfrm>
          <a:prstGeom prst="roundRect">
            <a:avLst>
              <a:gd name="adj" fmla="val 10909"/>
            </a:avLst>
          </a:prstGeom>
          <a:solidFill>
            <a:srgbClr val="EEF2FB"/>
          </a:solidFill>
          <a:ln w="12700">
            <a:solidFill>
              <a:srgbClr val="B9C6E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5513832"/>
            <a:ext cx="3276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NC（A</a:t>
            </a:r>
            <a:pPr indent="0" marL="0">
              <a:spcAft>
                <a:spcPts val="200"/>
              </a:spcAft>
              <a:buNone/>
            </a:pPr>
            <a:r>
              <a:rPr lang="en-US" sz="1400" b="1" baseline="-40000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</a:t>
            </a:r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&gt; 0）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u</a:t>
            </a:r>
            <a:pPr indent="0" marL="0">
              <a:spcAft>
                <a:spcPts val="2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+60 → φ</a:t>
            </a:r>
            <a:pPr indent="0" marL="0">
              <a:spcAft>
                <a:spcPts val="2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cu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16.6°，比 φ′ 小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4282440" y="5440680"/>
            <a:ext cx="3596640" cy="1005840"/>
          </a:xfrm>
          <a:prstGeom prst="roundRect">
            <a:avLst>
              <a:gd name="adj" fmla="val 10909"/>
            </a:avLst>
          </a:prstGeom>
          <a:solidFill>
            <a:srgbClr val="F1EDFA"/>
          </a:solidFill>
          <a:ln w="12700">
            <a:solidFill>
              <a:srgbClr val="C9BCE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465320" y="5513832"/>
            <a:ext cx="3276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6D4BC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重 OC（A</a:t>
            </a:r>
            <a:pPr indent="0" marL="0">
              <a:spcAft>
                <a:spcPts val="200"/>
              </a:spcAft>
              <a:buNone/>
            </a:pPr>
            <a:r>
              <a:rPr lang="en-US" sz="1400" b="1" baseline="-40000" dirty="0">
                <a:solidFill>
                  <a:srgbClr val="6D4BC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</a:t>
            </a:r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6D4BC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&lt; 0）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u</a:t>
            </a:r>
            <a:pPr indent="0" marL="0">
              <a:spcAft>
                <a:spcPts val="2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-66.7 → φ</a:t>
            </a:r>
            <a:pPr indent="0" marL="0">
              <a:spcAft>
                <a:spcPts val="2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cu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38.7°，比 φ′ 大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8016240" y="5440680"/>
            <a:ext cx="3596640" cy="1005840"/>
          </a:xfrm>
          <a:prstGeom prst="roundRect">
            <a:avLst>
              <a:gd name="adj" fmla="val 10909"/>
            </a:avLst>
          </a:prstGeom>
          <a:solidFill>
            <a:srgbClr val="F4F6F9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199120" y="5513832"/>
            <a:ext cx="3276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結論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φ</a:t>
            </a:r>
            <a:pPr indent="0" marL="0">
              <a:spcAft>
                <a:spcPts val="2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cu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是「土＋試驗路徑」的產物，不是土的性質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4572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試驗 ③ · UU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UU：圍壓加再多，圓還是一樣大</a:t>
            </a:r>
            <a:endParaRPr lang="en-US" sz="2600" dirty="0"/>
          </a:p>
        </p:txBody>
      </p:sp>
      <p:pic>
        <p:nvPicPr>
          <p:cNvPr id="4" name="Image 0" descr="fig10_uu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86190" y="1280160"/>
            <a:ext cx="10389140" cy="40690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5440680"/>
            <a:ext cx="3596640" cy="1005840"/>
          </a:xfrm>
          <a:prstGeom prst="roundRect">
            <a:avLst>
              <a:gd name="adj" fmla="val 10909"/>
            </a:avLst>
          </a:prstGeom>
          <a:solidFill>
            <a:srgbClr val="FBECEA"/>
          </a:solidFill>
          <a:ln w="12700">
            <a:solidFill>
              <a:srgbClr val="EBB4A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5513832"/>
            <a:ext cx="3276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閥門全關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室壓增量 100 全進水：Δu = Δσ</a:t>
            </a:r>
            <a:pPr indent="0" marL="0">
              <a:spcAft>
                <a:spcPts val="2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（B = 1），σ′ 一點都沒變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4282440" y="5440680"/>
            <a:ext cx="3596640" cy="1005840"/>
          </a:xfrm>
          <a:prstGeom prst="roundRect">
            <a:avLst>
              <a:gd name="adj" fmla="val 10909"/>
            </a:avLst>
          </a:prstGeom>
          <a:solidFill>
            <a:srgbClr val="F4F6F9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465320" y="5513832"/>
            <a:ext cx="3276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強度鎖死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有效應力不變 → 抗剪強度不變 → 每個圓的半徑都 = S</a:t>
            </a:r>
            <a:pPr indent="0" marL="0">
              <a:spcAft>
                <a:spcPts val="2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u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40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8016240" y="5440680"/>
            <a:ext cx="3596640" cy="1005840"/>
          </a:xfrm>
          <a:prstGeom prst="roundRect">
            <a:avLst>
              <a:gd name="adj" fmla="val 10909"/>
            </a:avLst>
          </a:prstGeom>
          <a:solidFill>
            <a:srgbClr val="E8F2F9"/>
          </a:solidFill>
          <a:ln w="12700">
            <a:solidFill>
              <a:srgbClr val="A9CBE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199120" y="5513832"/>
            <a:ext cx="3276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2C6E9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破壞時的 u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σ</a:t>
            </a:r>
            <a:pPr indent="0" marL="0">
              <a:spcAft>
                <a:spcPts val="2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100／200／300 → u = 60／160／260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UU 延伸 · φ</a:t>
            </a:r>
            <a:pPr indent="0" marL="0">
              <a:buNone/>
            </a:pPr>
            <a:r>
              <a:rPr lang="en-US" sz="1200" b="1" baseline="-40000" spc="200" kern="0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u</a:t>
            </a:r>
            <a:pPr indent="0" marL="0">
              <a:buNone/>
            </a:pPr>
            <a:r>
              <a:rPr lang="en-US" sz="1200" b="1" spc="200" kern="0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0 與 UC 試驗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φ</a:t>
            </a:r>
            <a:pPr indent="0" marL="0">
              <a:buNone/>
            </a:pPr>
            <a:r>
              <a:rPr lang="en-US" sz="2600" b="1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u</a:t>
            </a:r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0 不是「土沒有摩擦角」，而是「這個試驗看不到摩擦角」</a:t>
            </a:r>
            <a:endParaRPr lang="en-US" sz="2600" dirty="0"/>
          </a:p>
        </p:txBody>
      </p:sp>
      <p:pic>
        <p:nvPicPr>
          <p:cNvPr id="4" name="Image 0" descr="fig11_uc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8640" y="1560576"/>
            <a:ext cx="6949440" cy="25481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80960" y="1325880"/>
            <a:ext cx="3931920" cy="3063240"/>
          </a:xfrm>
          <a:prstGeom prst="roundRect">
            <a:avLst>
              <a:gd name="adj" fmla="val 3582"/>
            </a:avLst>
          </a:prstGeom>
          <a:solidFill>
            <a:srgbClr val="FBECEA"/>
          </a:solidFill>
          <a:ln w="12700">
            <a:solidFill>
              <a:srgbClr val="EBB4A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863840" y="1417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UU 家族三條公式</a:t>
            </a:r>
            <a:endParaRPr lang="en-US" sz="1500" dirty="0"/>
          </a:p>
        </p:txBody>
      </p:sp>
      <p:pic>
        <p:nvPicPr>
          <p:cNvPr id="7" name="Image 1" descr="m_su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63840" y="1957959"/>
            <a:ext cx="2123694" cy="427482"/>
          </a:xfrm>
          <a:prstGeom prst="rect">
            <a:avLst/>
          </a:prstGeom>
        </p:spPr>
      </p:pic>
      <p:pic>
        <p:nvPicPr>
          <p:cNvPr id="8" name="Image 2" descr="m_qu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863840" y="2788920"/>
            <a:ext cx="713232" cy="22860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7863840" y="3200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無圍壓壓縮（UC）= σ</a:t>
            </a:r>
            <a:pPr indent="0" marL="0">
              <a:buNone/>
            </a:pPr>
            <a:r>
              <a:rPr lang="en-US" sz="1300" baseline="-400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</a:t>
            </a:r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0 的 UU</a:t>
            </a:r>
            <a:endParaRPr lang="en-US" sz="1300" dirty="0"/>
          </a:p>
        </p:txBody>
      </p:sp>
      <p:sp>
        <p:nvSpPr>
          <p:cNvPr id="10" name="Text 5"/>
          <p:cNvSpPr txBox="1"/>
          <p:nvPr/>
        </p:nvSpPr>
        <p:spPr>
          <a:xfrm>
            <a:off x="7863840" y="3611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示範黏土 A：q</a:t>
            </a:r>
            <a:pPr indent="0" marL="0">
              <a:buNone/>
            </a:pPr>
            <a:r>
              <a:rPr lang="en-US" sz="1500" b="1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u</a:t>
            </a:r>
            <a:pPr indent="0" marL="0">
              <a:buNone/>
            </a:pPr>
            <a:r>
              <a:rPr lang="en-US" sz="15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2 × 40 = 80 kPa</a:t>
            </a:r>
            <a:endParaRPr lang="en-US" sz="1500" dirty="0"/>
          </a:p>
        </p:txBody>
      </p:sp>
      <p:sp>
        <p:nvSpPr>
          <p:cNvPr id="11" name="Shape 6"/>
          <p:cNvSpPr/>
          <p:nvPr/>
        </p:nvSpPr>
        <p:spPr>
          <a:xfrm>
            <a:off x="548640" y="4572000"/>
            <a:ext cx="3611880" cy="1874520"/>
          </a:xfrm>
          <a:prstGeom prst="roundRect">
            <a:avLst>
              <a:gd name="adj" fmla="val 5854"/>
            </a:avLst>
          </a:prstGeom>
          <a:solidFill>
            <a:srgbClr val="FDEDE8"/>
          </a:solidFill>
          <a:ln w="12700">
            <a:solidFill>
              <a:srgbClr val="F2B8A6"/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731520" y="4681728"/>
            <a:ext cx="32918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E4572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摩擦其實還在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骨架仍靠 σ′ tan φ′ 抗剪，只是 σ′ 被「鎖」在同一個值</a:t>
            </a:r>
            <a:endParaRPr lang="en-US" sz="1500" dirty="0"/>
          </a:p>
        </p:txBody>
      </p:sp>
      <p:sp>
        <p:nvSpPr>
          <p:cNvPr id="13" name="Shape 8"/>
          <p:cNvSpPr/>
          <p:nvPr/>
        </p:nvSpPr>
        <p:spPr>
          <a:xfrm>
            <a:off x="4270248" y="4572000"/>
            <a:ext cx="3611880" cy="1874520"/>
          </a:xfrm>
          <a:prstGeom prst="roundRect">
            <a:avLst>
              <a:gd name="adj" fmla="val 5854"/>
            </a:avLst>
          </a:prstGeom>
          <a:solidFill>
            <a:srgbClr val="FBECEA"/>
          </a:solidFill>
          <a:ln w="12700">
            <a:solidFill>
              <a:srgbClr val="EBB4AE"/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4453128" y="4681728"/>
            <a:ext cx="32918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φ</a:t>
            </a:r>
            <a:pPr indent="0" marL="0">
              <a:spcAft>
                <a:spcPts val="600"/>
              </a:spcAft>
              <a:buNone/>
            </a:pPr>
            <a:r>
              <a:rPr lang="en-US" sz="1500" b="1" baseline="-40000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u</a:t>
            </a:r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0 的用法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只能用在「不排水、總應力」分析：τ</a:t>
            </a:r>
            <a:pPr indent="0" marL="0">
              <a:spcAft>
                <a:spcPts val="600"/>
              </a:spcAft>
              <a:buNone/>
            </a:pPr>
            <a:r>
              <a:rPr lang="en-US" sz="14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S</a:t>
            </a:r>
            <a:pPr indent="0" marL="0">
              <a:spcAft>
                <a:spcPts val="600"/>
              </a:spcAft>
              <a:buNone/>
            </a:pPr>
            <a:r>
              <a:rPr lang="en-US" sz="14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u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，與 σ 無關</a:t>
            </a:r>
            <a:endParaRPr lang="en-US" sz="1500" dirty="0"/>
          </a:p>
        </p:txBody>
      </p:sp>
      <p:sp>
        <p:nvSpPr>
          <p:cNvPr id="15" name="Shape 10"/>
          <p:cNvSpPr/>
          <p:nvPr/>
        </p:nvSpPr>
        <p:spPr>
          <a:xfrm>
            <a:off x="7991856" y="4572000"/>
            <a:ext cx="3611880" cy="1874520"/>
          </a:xfrm>
          <a:prstGeom prst="roundRect">
            <a:avLst>
              <a:gd name="adj" fmla="val 5854"/>
            </a:avLst>
          </a:prstGeom>
          <a:solidFill>
            <a:srgbClr val="F4F6F9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8174736" y="4681728"/>
            <a:ext cx="32918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不可以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拿 φ</a:t>
            </a:r>
            <a:pPr indent="0" marL="0">
              <a:spcAft>
                <a:spcPts val="600"/>
              </a:spcAft>
              <a:buNone/>
            </a:pPr>
            <a:r>
              <a:rPr lang="en-US" sz="14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u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0 算破壞面（45°）或做長期穩定分析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4572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核心公式 · Skempton 孔壓參數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孔隙水壓從哪來：一個 B 管飽和、一個 A 管剪縮剪脹</a:t>
            </a:r>
            <a:endParaRPr lang="en-US" sz="2600" dirty="0"/>
          </a:p>
        </p:txBody>
      </p:sp>
      <p:pic>
        <p:nvPicPr>
          <p:cNvPr id="4" name="Image 0" descr="fig12_skempton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1288" y="1280160"/>
            <a:ext cx="10038945" cy="3931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15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5349240"/>
            <a:ext cx="5760720" cy="1097280"/>
          </a:xfrm>
          <a:prstGeom prst="roundRect">
            <a:avLst>
              <a:gd name="adj" fmla="val 10000"/>
            </a:avLst>
          </a:prstGeom>
          <a:solidFill>
            <a:srgbClr val="EEF2FB"/>
          </a:solidFill>
          <a:ln w="12700">
            <a:solidFill>
              <a:srgbClr val="B9C6EA"/>
            </a:solidFill>
            <a:prstDash val="solid"/>
          </a:ln>
        </p:spPr>
      </p:sp>
      <p:pic>
        <p:nvPicPr>
          <p:cNvPr id="7" name="Image 1" descr="m_skp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7240" y="5747644"/>
            <a:ext cx="3058577" cy="300472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446520" y="5349240"/>
            <a:ext cx="5166360" cy="1097280"/>
          </a:xfrm>
          <a:prstGeom prst="roundRect">
            <a:avLst>
              <a:gd name="adj" fmla="val 10000"/>
            </a:avLst>
          </a:prstGeom>
          <a:solidFill>
            <a:srgbClr val="F4F6F9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6629400" y="5422392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2C6E9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不飽和例：B = 0.8，室壓加 100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Δu = 80，Δσ′ = 20 → UU 的圓會隨圍壓略為變大、包絡線不再水平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4572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核心公式 · A 參數的物理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 的正負：顆粒想「掉進去」還是想「爬過去」</a:t>
            </a:r>
            <a:endParaRPr lang="en-US" sz="2600" dirty="0"/>
          </a:p>
        </p:txBody>
      </p:sp>
      <p:pic>
        <p:nvPicPr>
          <p:cNvPr id="4" name="Image 0" descr="fig13_dilat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169" y="1280160"/>
            <a:ext cx="10257183" cy="3931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16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5349240"/>
            <a:ext cx="4937760" cy="1097280"/>
          </a:xfrm>
          <a:prstGeom prst="roundRect">
            <a:avLst>
              <a:gd name="adj" fmla="val 10000"/>
            </a:avLst>
          </a:prstGeom>
          <a:solidFill>
            <a:srgbClr val="F4F6F9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5422392"/>
            <a:ext cx="4663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常規三軸剪切：σ</a:t>
            </a:r>
            <a:pPr indent="0" marL="0">
              <a:spcAft>
                <a:spcPts val="400"/>
              </a:spcAft>
              <a:buNone/>
            </a:pPr>
            <a:r>
              <a:rPr lang="en-US" sz="1400" b="1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</a:t>
            </a:r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固定、飽和 B = 1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Δσ</a:t>
            </a:r>
            <a:pPr indent="0" marL="0">
              <a:spcAft>
                <a:spcPts val="4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0，Skempton 式只剩 A 那一項 →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623560" y="5349240"/>
            <a:ext cx="5989320" cy="1097280"/>
          </a:xfrm>
          <a:prstGeom prst="roundRect">
            <a:avLst>
              <a:gd name="adj" fmla="val 10000"/>
            </a:avLst>
          </a:prstGeom>
          <a:solidFill>
            <a:srgbClr val="EEF2FB"/>
          </a:solidFill>
          <a:ln w="12700">
            <a:solidFill>
              <a:srgbClr val="B9C6EA"/>
            </a:solidFill>
            <a:prstDash val="solid"/>
          </a:ln>
        </p:spPr>
      </p:sp>
      <p:pic>
        <p:nvPicPr>
          <p:cNvPr id="9" name="Image 1" descr="m_af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52160" y="5648249"/>
            <a:ext cx="2457907" cy="49926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4572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核心公式 · A</a:t>
            </a:r>
            <a:pPr indent="0" marL="0">
              <a:buNone/>
            </a:pPr>
            <a:r>
              <a:rPr lang="en-US" sz="1200" b="1" baseline="-40000" spc="200" kern="0" dirty="0">
                <a:solidFill>
                  <a:srgbClr val="E4572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</a:t>
            </a:r>
            <a:pPr indent="0" marL="0">
              <a:buNone/>
            </a:pPr>
            <a:r>
              <a:rPr lang="en-US" sz="1200" b="1" spc="200" kern="0" dirty="0">
                <a:solidFill>
                  <a:srgbClr val="E4572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的合理範圍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</a:t>
            </a:r>
            <a:pPr indent="0" marL="0">
              <a:buNone/>
            </a:pPr>
            <a:r>
              <a:rPr lang="en-US" sz="2600" b="1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</a:t>
            </a:r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的典型範圍：算完回頭對照，就知道有沒有算錯</a:t>
            </a:r>
            <a:endParaRPr lang="en-US" sz="2600" dirty="0"/>
          </a:p>
        </p:txBody>
      </p:sp>
      <p:pic>
        <p:nvPicPr>
          <p:cNvPr id="4" name="Image 0" descr="fig14_arang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8640" y="1332357"/>
            <a:ext cx="11064240" cy="396468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5440680"/>
            <a:ext cx="5463540" cy="1005840"/>
          </a:xfrm>
          <a:prstGeom prst="roundRect">
            <a:avLst>
              <a:gd name="adj" fmla="val 10909"/>
            </a:avLst>
          </a:prstGeom>
          <a:solidFill>
            <a:srgbClr val="EEF2FB"/>
          </a:solidFill>
          <a:ln w="12700">
            <a:solidFill>
              <a:srgbClr val="B9C6E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5513832"/>
            <a:ext cx="51435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示範黏土 A 回推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</a:t>
            </a:r>
            <a:pPr indent="0" marL="0">
              <a:spcAft>
                <a:spcPts val="2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u</a:t>
            </a:r>
            <a:pPr indent="0" marL="0">
              <a:spcAft>
                <a:spcPts val="2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/ Δσ</a:t>
            </a:r>
            <a:pPr indent="0" marL="0">
              <a:spcAft>
                <a:spcPts val="2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60 / 80 = 0.75 ✓（NC 範圍內）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149340" y="5440680"/>
            <a:ext cx="5463540" cy="1005840"/>
          </a:xfrm>
          <a:prstGeom prst="roundRect">
            <a:avLst>
              <a:gd name="adj" fmla="val 10909"/>
            </a:avLst>
          </a:prstGeom>
          <a:solidFill>
            <a:srgbClr val="FBECEA"/>
          </a:solidFill>
          <a:ln w="12700">
            <a:solidFill>
              <a:srgbClr val="EBB4A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332220" y="5513832"/>
            <a:ext cx="51435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警訊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NC 題目算出負的 A</a:t>
            </a:r>
            <a:pPr indent="0" marL="0">
              <a:spcAft>
                <a:spcPts val="2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→ 多半是 u</a:t>
            </a:r>
            <a:pPr indent="0" marL="0">
              <a:spcAft>
                <a:spcPts val="2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正負號或 Δσ</a:t>
            </a:r>
            <a:pPr indent="0" marL="0">
              <a:spcAft>
                <a:spcPts val="2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用錯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4572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UU 延伸 · NC 黏土的強度比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</a:t>
            </a:r>
            <a:pPr indent="0" marL="0">
              <a:buNone/>
            </a:pPr>
            <a:r>
              <a:rPr lang="en-US" sz="2600" b="1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u</a:t>
            </a:r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/ σ′</a:t>
            </a:r>
            <a:pPr indent="0" marL="0">
              <a:buNone/>
            </a:pPr>
            <a:r>
              <a:rPr lang="en-US" sz="2600" b="1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v0</a:t>
            </a:r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：把破壞圓右端釘在 σ′</a:t>
            </a:r>
            <a:pPr indent="0" marL="0">
              <a:buNone/>
            </a:pPr>
            <a:r>
              <a:rPr lang="en-US" sz="2600" b="1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v0</a:t>
            </a:r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，再往左長到切 φ′</a:t>
            </a:r>
            <a:endParaRPr lang="en-US" sz="2600" dirty="0"/>
          </a:p>
        </p:txBody>
      </p:sp>
      <p:pic>
        <p:nvPicPr>
          <p:cNvPr id="4" name="Image 0" descr="fig15_surat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65860" y="1280160"/>
            <a:ext cx="9829800" cy="3931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5349240"/>
            <a:ext cx="3657600" cy="1097280"/>
          </a:xfrm>
          <a:prstGeom prst="roundRect">
            <a:avLst>
              <a:gd name="adj" fmla="val 10000"/>
            </a:avLst>
          </a:prstGeom>
          <a:solidFill>
            <a:srgbClr val="FDEDE8"/>
          </a:solidFill>
          <a:ln w="12700">
            <a:solidFill>
              <a:srgbClr val="F2B8A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53949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4572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</a:t>
            </a:r>
            <a:pPr indent="0" marL="0">
              <a:buNone/>
            </a:pPr>
            <a:r>
              <a:rPr lang="en-US" sz="1300" b="1" baseline="-40000" dirty="0">
                <a:solidFill>
                  <a:srgbClr val="E4572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</a:t>
            </a:r>
            <a:pPr indent="0" marL="0">
              <a:buNone/>
            </a:pPr>
            <a:r>
              <a:rPr lang="en-US" sz="1300" b="1" dirty="0">
                <a:solidFill>
                  <a:srgbClr val="E4572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1 的捷徑（課本式）</a:t>
            </a:r>
            <a:endParaRPr lang="en-US" sz="1300" dirty="0"/>
          </a:p>
        </p:txBody>
      </p:sp>
      <p:pic>
        <p:nvPicPr>
          <p:cNvPr id="7" name="Image 1" descr="m_surat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1520" y="5800725"/>
            <a:ext cx="1287018" cy="46863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343400" y="5349240"/>
            <a:ext cx="3931920" cy="1097280"/>
          </a:xfrm>
          <a:prstGeom prst="roundRect">
            <a:avLst>
              <a:gd name="adj" fmla="val 10000"/>
            </a:avLst>
          </a:prstGeom>
          <a:solidFill>
            <a:srgbClr val="F4F6F9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4526280" y="5394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一般式（任意 A</a:t>
            </a:r>
            <a:pPr indent="0" marL="0">
              <a:buNone/>
            </a:pPr>
            <a:r>
              <a:rPr lang="en-US" sz="1300" b="1" baseline="-400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</a:t>
            </a:r>
            <a:pPr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）</a:t>
            </a:r>
            <a:endParaRPr lang="en-US" sz="1300" dirty="0"/>
          </a:p>
        </p:txBody>
      </p:sp>
      <p:pic>
        <p:nvPicPr>
          <p:cNvPr id="10" name="Image 2" descr="m_surgen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26280" y="5790438"/>
            <a:ext cx="2009394" cy="48920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8412480" y="5349240"/>
            <a:ext cx="3200400" cy="1097280"/>
          </a:xfrm>
          <a:prstGeom prst="roundRect">
            <a:avLst>
              <a:gd name="adj" fmla="val 10000"/>
            </a:avLst>
          </a:prstGeom>
          <a:solidFill>
            <a:srgbClr val="EEF2FB"/>
          </a:solidFill>
          <a:ln w="12700">
            <a:solidFill>
              <a:srgbClr val="B9C6EA"/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8595360" y="5413248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對帳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</a:t>
            </a:r>
            <a:pPr indent="0" marL="0">
              <a:spcAft>
                <a:spcPts val="200"/>
              </a:spcAft>
              <a:buNone/>
            </a:pPr>
            <a:r>
              <a:rPr lang="en-US" sz="1300" b="1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</a:t>
            </a:r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1：0.333 → S</a:t>
            </a:r>
            <a:pPr indent="0" marL="0">
              <a:spcAft>
                <a:spcPts val="200"/>
              </a:spcAft>
              <a:buNone/>
            </a:pPr>
            <a:r>
              <a:rPr lang="en-US" sz="1300" b="1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u</a:t>
            </a:r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33.3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</a:t>
            </a:r>
            <a:pPr indent="0" marL="0">
              <a:spcAft>
                <a:spcPts val="200"/>
              </a:spcAft>
              <a:buNone/>
            </a:pPr>
            <a:r>
              <a:rPr lang="en-US" sz="1300" b="1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</a:t>
            </a:r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0.75：0.400 → S</a:t>
            </a:r>
            <a:pPr indent="0" marL="0">
              <a:spcAft>
                <a:spcPts val="200"/>
              </a:spcAft>
              <a:buNone/>
            </a:pPr>
            <a:r>
              <a:rPr lang="en-US" sz="1300" b="1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u</a:t>
            </a:r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40</a:t>
            </a:r>
            <a:endParaRPr lang="en-US" sz="1500" dirty="0"/>
          </a:p>
        </p:txBody>
      </p:sp>
      <p:sp>
        <p:nvSpPr>
          <p:cNvPr id="13" name="Text 8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4572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UU 延伸 · 現地剖面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NC 黏土的不排水強度隨深度線性成長</a:t>
            </a:r>
            <a:endParaRPr lang="en-US" sz="2600" dirty="0"/>
          </a:p>
        </p:txBody>
      </p:sp>
      <p:pic>
        <p:nvPicPr>
          <p:cNvPr id="4" name="Image 0" descr="fig16_depth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86190" y="1280160"/>
            <a:ext cx="10389140" cy="40690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5440680"/>
            <a:ext cx="5463540" cy="1005840"/>
          </a:xfrm>
          <a:prstGeom prst="roundRect">
            <a:avLst>
              <a:gd name="adj" fmla="val 10909"/>
            </a:avLst>
          </a:prstGeom>
          <a:solidFill>
            <a:srgbClr val="F4F6F9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5513832"/>
            <a:ext cx="51435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前提（完美取樣）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試體有效應力 = 現地 σ′</a:t>
            </a:r>
            <a:pPr indent="0" marL="0">
              <a:spcAft>
                <a:spcPts val="2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v0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；A</a:t>
            </a:r>
            <a:pPr indent="0" marL="0">
              <a:spcAft>
                <a:spcPts val="2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1 時破壞圓右端 σ′</a:t>
            </a:r>
            <a:pPr indent="0" marL="0">
              <a:spcAft>
                <a:spcPts val="2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1f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σ′</a:t>
            </a:r>
            <a:pPr indent="0" marL="0">
              <a:spcAft>
                <a:spcPts val="2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v0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149340" y="5440680"/>
            <a:ext cx="5463540" cy="1005840"/>
          </a:xfrm>
          <a:prstGeom prst="roundRect">
            <a:avLst>
              <a:gd name="adj" fmla="val 10909"/>
            </a:avLst>
          </a:prstGeom>
          <a:solidFill>
            <a:srgbClr val="FBECEA"/>
          </a:solidFill>
          <a:ln w="12700">
            <a:solidFill>
              <a:srgbClr val="EBB4A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332220" y="5513832"/>
            <a:ext cx="51435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比值永遠 &lt; 0.5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sin φ′/(1 + sin φ′) 在 φ′ → 90° 時才趨近 0.5；φ′ = 30° 只有 0.333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4572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考場速算 ① · CU 題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兩邊同扣 u</a:t>
            </a:r>
            <a:pPr indent="0" marL="0">
              <a:buNone/>
            </a:pPr>
            <a:r>
              <a:rPr lang="en-US" sz="2600" b="1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</a:t>
            </a:r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，直接建有效應力圓：四步收工</a:t>
            </a:r>
            <a:endParaRPr lang="en-US" sz="2600" dirty="0"/>
          </a:p>
        </p:txBody>
      </p:sp>
      <p:pic>
        <p:nvPicPr>
          <p:cNvPr id="4" name="Image 0" descr="fig17_cuflow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4360" y="1280160"/>
            <a:ext cx="10972800" cy="36576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20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5120640"/>
            <a:ext cx="5486400" cy="1325880"/>
          </a:xfrm>
          <a:prstGeom prst="roundRect">
            <a:avLst>
              <a:gd name="adj" fmla="val 8276"/>
            </a:avLst>
          </a:prstGeom>
          <a:solidFill>
            <a:srgbClr val="F4F6F9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5175504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NC 黏土（c′ = 0）的正弦捷徑</a:t>
            </a:r>
            <a:endParaRPr lang="en-US" sz="1300" dirty="0"/>
          </a:p>
        </p:txBody>
      </p:sp>
      <p:pic>
        <p:nvPicPr>
          <p:cNvPr id="8" name="Image 1" descr="m_sin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1520" y="5668023"/>
            <a:ext cx="1491158" cy="505435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172200" y="5120640"/>
            <a:ext cx="5440680" cy="1325880"/>
          </a:xfrm>
          <a:prstGeom prst="roundRect">
            <a:avLst>
              <a:gd name="adj" fmla="val 8276"/>
            </a:avLst>
          </a:prstGeom>
          <a:solidFill>
            <a:srgbClr val="FDEDE8"/>
          </a:solidFill>
          <a:ln w="12700">
            <a:solidFill>
              <a:srgbClr val="F2B8A6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355080" y="5193792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E4572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為什麼要先扣 u</a:t>
            </a:r>
            <a:pPr indent="0" marL="0">
              <a:spcAft>
                <a:spcPts val="300"/>
              </a:spcAft>
              <a:buNone/>
            </a:pPr>
            <a:r>
              <a:rPr lang="en-US" sz="1400" b="1" baseline="-40000" dirty="0">
                <a:solidFill>
                  <a:srgbClr val="E4572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</a:t>
            </a:r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E4572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再算角度？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直接用總應力代正弦式得到的是 φ</a:t>
            </a:r>
            <a:pPr indent="0" marL="0">
              <a:spcAft>
                <a:spcPts val="3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cu</a:t>
            </a:r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，不是 φ′；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本例會算成 16.6°，差了 13.4°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4572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考場速算 ② · NC 比例法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同一 NC 黏土換圍壓：整張莫爾圖從原點等比例放大</a:t>
            </a:r>
            <a:endParaRPr lang="en-US" sz="2600" dirty="0"/>
          </a:p>
        </p:txBody>
      </p:sp>
      <p:pic>
        <p:nvPicPr>
          <p:cNvPr id="4" name="Image 0" descr="fig18_ratio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65860" y="1280160"/>
            <a:ext cx="9829800" cy="3931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21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5349240"/>
            <a:ext cx="6400800" cy="1097280"/>
          </a:xfrm>
          <a:prstGeom prst="roundRect">
            <a:avLst>
              <a:gd name="adj" fmla="val 10000"/>
            </a:avLst>
          </a:prstGeom>
          <a:solidFill>
            <a:srgbClr val="F4F6F9"/>
          </a:solidFill>
          <a:ln w="12700">
            <a:solidFill>
              <a:srgbClr val="D5DAE1"/>
            </a:solidFill>
            <a:prstDash val="solid"/>
          </a:ln>
        </p:spPr>
      </p:sp>
      <p:pic>
        <p:nvPicPr>
          <p:cNvPr id="7" name="Image 1" descr="m_ratio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1520" y="5653278"/>
            <a:ext cx="2798064" cy="489204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086600" y="5349240"/>
            <a:ext cx="4526280" cy="1097280"/>
          </a:xfrm>
          <a:prstGeom prst="roundRect">
            <a:avLst>
              <a:gd name="adj" fmla="val 10000"/>
            </a:avLst>
          </a:prstGeom>
          <a:solidFill>
            <a:srgbClr val="FBF3E4"/>
          </a:solidFill>
          <a:ln w="12700">
            <a:solidFill>
              <a:srgbClr val="E6CFA0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7269480" y="5413248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B7791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 秒算出新破壞軸差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σ</a:t>
            </a:r>
            <a:pPr indent="0" marL="0">
              <a:spcAft>
                <a:spcPts val="200"/>
              </a:spcAft>
              <a:buNone/>
            </a:pPr>
            <a:r>
              <a:rPr lang="en-US" sz="1300" b="1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</a:t>
            </a:r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200：Δσ</a:t>
            </a:r>
            <a:pPr indent="0" marL="0">
              <a:spcAft>
                <a:spcPts val="200"/>
              </a:spcAft>
              <a:buNone/>
            </a:pPr>
            <a:r>
              <a:rPr lang="en-US" sz="1300" b="1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</a:t>
            </a:r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0.8 × 200 = 160、u</a:t>
            </a:r>
            <a:pPr indent="0" marL="0">
              <a:spcAft>
                <a:spcPts val="200"/>
              </a:spcAft>
              <a:buNone/>
            </a:pPr>
            <a:r>
              <a:rPr lang="en-US" sz="1300" b="1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</a:t>
            </a:r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120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OC 黏土（c′ ≠ 0）包絡線不過原點 → 不可用</a:t>
            </a:r>
            <a:endParaRPr lang="en-US" sz="1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4572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考場三大檢查點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算完別急著交：三個 10 秒就能做的檢查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611880" cy="4572000"/>
          </a:xfrm>
          <a:prstGeom prst="roundRect">
            <a:avLst>
              <a:gd name="adj" fmla="val 3038"/>
            </a:avLst>
          </a:prstGeom>
          <a:solidFill>
            <a:srgbClr val="FDEDE8"/>
          </a:solidFill>
          <a:ln w="12700">
            <a:solidFill>
              <a:srgbClr val="F2B8A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645920"/>
            <a:ext cx="640080" cy="64008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46888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4572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兩個圓的半徑必須一樣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291840"/>
            <a:ext cx="32004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CU 的總應力圓與有效圓 R 相同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本例：R = 40（兩者）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不同 → σ</a:t>
            </a:r>
            <a:pPr indent="0" marL="0">
              <a:spcAft>
                <a:spcPts val="1000"/>
              </a:spcAft>
              <a:buNone/>
            </a:pPr>
            <a:r>
              <a:rPr lang="en-US" sz="1500" baseline="-400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、σ</a:t>
            </a:r>
            <a:pPr indent="0" marL="0">
              <a:spcAft>
                <a:spcPts val="1000"/>
              </a:spcAft>
              <a:buNone/>
            </a:pPr>
            <a:r>
              <a:rPr lang="en-US" sz="1500" baseline="-400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沒有同時扣 u</a:t>
            </a:r>
            <a:pPr indent="0" marL="0">
              <a:spcAft>
                <a:spcPts val="1000"/>
              </a:spcAft>
              <a:buNone/>
            </a:pPr>
            <a:r>
              <a:rPr lang="en-US" sz="1500" baseline="-400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270248" y="1417320"/>
            <a:ext cx="3611880" cy="4572000"/>
          </a:xfrm>
          <a:prstGeom prst="roundRect">
            <a:avLst>
              <a:gd name="adj" fmla="val 3038"/>
            </a:avLst>
          </a:prstGeom>
          <a:solidFill>
            <a:srgbClr val="EEF2FB"/>
          </a:solidFill>
          <a:ln w="12700">
            <a:solidFill>
              <a:srgbClr val="B9C6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98848" y="1645920"/>
            <a:ext cx="640080" cy="640080"/>
          </a:xfrm>
          <a:prstGeom prst="ellipse">
            <a:avLst/>
          </a:prstGeom>
          <a:solidFill>
            <a:srgbClr val="2F54C8"/>
          </a:solidFill>
          <a:ln w="12700">
            <a:solidFill>
              <a:srgbClr val="2F54C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498848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4498848" y="246888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</a:t>
            </a:r>
            <a:pPr indent="0" marL="0">
              <a:buNone/>
            </a:pPr>
            <a:r>
              <a:rPr lang="en-US" sz="1800" b="1" baseline="-40000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</a:t>
            </a:r>
            <a:pPr indent="0" marL="0">
              <a:buNone/>
            </a:pPr>
            <a:r>
              <a:rPr lang="en-US" sz="1800" b="1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與強度比落在合理範圍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498848" y="3291840"/>
            <a:ext cx="32004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NC：A</a:t>
            </a:r>
            <a:pPr indent="0" marL="0">
              <a:spcAft>
                <a:spcPts val="1000"/>
              </a:spcAft>
              <a:buNone/>
            </a:pPr>
            <a:r>
              <a:rPr lang="en-US" sz="15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u</a:t>
            </a:r>
            <a:pPr indent="0" marL="0">
              <a:spcAft>
                <a:spcPts val="1000"/>
              </a:spcAft>
              <a:buNone/>
            </a:pPr>
            <a:r>
              <a:rPr lang="en-US" sz="15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/Δσ</a:t>
            </a:r>
            <a:pPr indent="0" marL="0">
              <a:spcAft>
                <a:spcPts val="1000"/>
              </a:spcAft>
              <a:buNone/>
            </a:pPr>
            <a:r>
              <a:rPr lang="en-US" sz="15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應在 0.5～1.0（本例 0.75）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NC：S</a:t>
            </a:r>
            <a:pPr indent="0" marL="0">
              <a:spcAft>
                <a:spcPts val="1000"/>
              </a:spcAft>
              <a:buNone/>
            </a:pPr>
            <a:r>
              <a:rPr lang="en-US" sz="1500" b="1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u</a:t>
            </a:r>
            <a:pPr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/σ′</a:t>
            </a:r>
            <a:pPr indent="0" marL="0">
              <a:spcAft>
                <a:spcPts val="1000"/>
              </a:spcAft>
              <a:buNone/>
            </a:pPr>
            <a:r>
              <a:rPr lang="en-US" sz="1500" b="1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v0</a:t>
            </a:r>
            <a:pPr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&lt; 0.5（本例 0.333）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超出 → 幾乎一定代錯公式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991856" y="1417320"/>
            <a:ext cx="3611880" cy="4572000"/>
          </a:xfrm>
          <a:prstGeom prst="roundRect">
            <a:avLst>
              <a:gd name="adj" fmla="val 3038"/>
            </a:avLst>
          </a:prstGeom>
          <a:solidFill>
            <a:srgbClr val="FBECEA"/>
          </a:solidFill>
          <a:ln w="12700">
            <a:solidFill>
              <a:srgbClr val="EBB4A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0456" y="1645920"/>
            <a:ext cx="640080" cy="64008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0456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8220456" y="246888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破壞面只用 φ′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220456" y="3291840"/>
            <a:ext cx="32004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θ = 45° + φ′/2 = 60°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誤用 φ</a:t>
            </a:r>
            <a:pPr indent="0" marL="0">
              <a:spcAft>
                <a:spcPts val="1000"/>
              </a:spcAft>
              <a:buNone/>
            </a:pPr>
            <a:r>
              <a:rPr lang="en-US" sz="1500" b="1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cu</a:t>
            </a:r>
            <a:pPr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會得 53.3°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題目只給 φ</a:t>
            </a:r>
            <a:pPr indent="0" marL="0">
              <a:spcAft>
                <a:spcPts val="1000"/>
              </a:spcAft>
              <a:buNone/>
            </a:pPr>
            <a:r>
              <a:rPr lang="en-US" sz="1500" baseline="-400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cu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→ 先用 u</a:t>
            </a:r>
            <a:pPr indent="0" marL="0">
              <a:spcAft>
                <a:spcPts val="1000"/>
              </a:spcAft>
              <a:buNone/>
            </a:pPr>
            <a:r>
              <a:rPr lang="en-US" sz="1500" baseline="-400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換回 φ′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0807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三項全過，再寫答案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高頻陷阱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破壞面角度嚴禁用 φ</a:t>
            </a:r>
            <a:pPr indent="0" marL="0">
              <a:buNone/>
            </a:pPr>
            <a:r>
              <a:rPr lang="en-US" sz="2600" b="1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cu</a:t>
            </a:r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或 φ</a:t>
            </a:r>
            <a:pPr indent="0" marL="0">
              <a:buNone/>
            </a:pPr>
            <a:r>
              <a:rPr lang="en-US" sz="2600" b="1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u</a:t>
            </a:r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：實體破壞面只有一個</a:t>
            </a:r>
            <a:endParaRPr lang="en-US" sz="2600" dirty="0"/>
          </a:p>
        </p:txBody>
      </p:sp>
      <p:pic>
        <p:nvPicPr>
          <p:cNvPr id="4" name="Image 0" descr="fig19_plan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86190" y="1280160"/>
            <a:ext cx="10389140" cy="40690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5440680"/>
            <a:ext cx="5463540" cy="1005840"/>
          </a:xfrm>
          <a:prstGeom prst="roundRect">
            <a:avLst>
              <a:gd name="adj" fmla="val 10909"/>
            </a:avLst>
          </a:prstGeom>
          <a:solidFill>
            <a:srgbClr val="FBECEA"/>
          </a:solidFill>
          <a:ln w="12700">
            <a:solidFill>
              <a:srgbClr val="EBB4A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5513832"/>
            <a:ext cx="51435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為什麼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顆粒沿哪個面滑是骨架摩擦決定的，只看有效應力；φ</a:t>
            </a:r>
            <a:pPr indent="0" marL="0">
              <a:spcAft>
                <a:spcPts val="2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cu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隨加載路徑跳動，不能代表實體面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149340" y="5440680"/>
            <a:ext cx="5463540" cy="1005840"/>
          </a:xfrm>
          <a:prstGeom prst="roundRect">
            <a:avLst>
              <a:gd name="adj" fmla="val 10909"/>
            </a:avLst>
          </a:prstGeom>
          <a:solidFill>
            <a:srgbClr val="E6F2EF"/>
          </a:solidFill>
          <a:ln w="12700">
            <a:solidFill>
              <a:srgbClr val="9CC7B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332220" y="5513832"/>
            <a:ext cx="51435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2E7D6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標準動作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只給 φ</a:t>
            </a:r>
            <a:pPr indent="0" marL="0">
              <a:spcAft>
                <a:spcPts val="2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cu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+ u</a:t>
            </a:r>
            <a:pPr indent="0" marL="0">
              <a:spcAft>
                <a:spcPts val="2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→ 扣 u</a:t>
            </a:r>
            <a:pPr indent="0" marL="0">
              <a:spcAft>
                <a:spcPts val="2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建有效圓 → 求 φ′ → θ = 45° + φ′/2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4572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回到工程 · 選哪種試驗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現場情境決定閥門：先問「水來不來得及排」</a:t>
            </a:r>
            <a:endParaRPr lang="en-US" sz="2600" dirty="0"/>
          </a:p>
        </p:txBody>
      </p:sp>
      <p:pic>
        <p:nvPicPr>
          <p:cNvPr id="4" name="Image 0" descr="fig20_field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92534" y="1280160"/>
            <a:ext cx="10376452" cy="39776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5349240"/>
            <a:ext cx="5463540" cy="1097280"/>
          </a:xfrm>
          <a:prstGeom prst="roundRect">
            <a:avLst>
              <a:gd name="adj" fmla="val 10000"/>
            </a:avLst>
          </a:prstGeom>
          <a:solidFill>
            <a:srgbClr val="FBECEA"/>
          </a:solidFill>
          <a:ln w="12700">
            <a:solidFill>
              <a:srgbClr val="EBB4A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5422392"/>
            <a:ext cx="51435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短期（不排水）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黏土快速加載：用總應力法 S</a:t>
            </a:r>
            <a:pPr indent="0" marL="0">
              <a:spcAft>
                <a:spcPts val="2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u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（UU）或 φ</a:t>
            </a:r>
            <a:pPr indent="0" marL="0">
              <a:spcAft>
                <a:spcPts val="2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cu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（CU）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149340" y="5349240"/>
            <a:ext cx="5463540" cy="1097280"/>
          </a:xfrm>
          <a:prstGeom prst="roundRect">
            <a:avLst>
              <a:gd name="adj" fmla="val 10000"/>
            </a:avLst>
          </a:prstGeom>
          <a:solidFill>
            <a:srgbClr val="E6F2EF"/>
          </a:solidFill>
          <a:ln w="12700">
            <a:solidFill>
              <a:srgbClr val="9CC7B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332220" y="5422392"/>
            <a:ext cx="51435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2E7D6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長期（排水）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超額孔壓已消散：用有效應力法 c′、φ′（CD 或 CU 量孔壓）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B24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重點回顧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691640"/>
            <a:ext cx="530352" cy="530352"/>
          </a:xfrm>
          <a:prstGeom prst="ellipse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69164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1463040" y="1691640"/>
            <a:ext cx="10241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兩個閥門：壓密閥決定起跑點，剪切閥決定體積傾向變成 ΔV 還是 u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31520" y="2514600"/>
            <a:ext cx="530352" cy="53035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25146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2514600"/>
            <a:ext cx="10241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CD：u = 0，一個圓直接量 c′、φ′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337560"/>
            <a:ext cx="530352" cy="530352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333756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1463040" y="3337560"/>
            <a:ext cx="10241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CU：σ</a:t>
            </a:r>
            <a:pPr indent="0" marL="0">
              <a:buNone/>
            </a:pPr>
            <a:r>
              <a:rPr lang="en-US" sz="1700" baseline="-400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</a:t>
            </a:r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、σ</a:t>
            </a:r>
            <a:pPr indent="0" marL="0">
              <a:buNone/>
            </a:pPr>
            <a:r>
              <a:rPr lang="en-US" sz="1700" baseline="-400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</a:t>
            </a:r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同扣 u</a:t>
            </a:r>
            <a:pPr indent="0" marL="0">
              <a:buNone/>
            </a:pPr>
            <a:r>
              <a:rPr lang="en-US" sz="1700" baseline="-400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</a:t>
            </a:r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，圓左移不縮放；NC 的 φ′ &gt; φ</a:t>
            </a:r>
            <a:pPr indent="0" marL="0">
              <a:buNone/>
            </a:pPr>
            <a:r>
              <a:rPr lang="en-US" sz="1700" baseline="-400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cu</a:t>
            </a:r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（30° vs 16.6°）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530352" cy="530352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416052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4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1463040" y="4160520"/>
            <a:ext cx="10241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UU：Δu = Δσ</a:t>
            </a:r>
            <a:pPr indent="0" marL="0">
              <a:buNone/>
            </a:pPr>
            <a:r>
              <a:rPr lang="en-US" sz="1700" baseline="-400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</a:t>
            </a:r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，圓一樣大，φ</a:t>
            </a:r>
            <a:pPr indent="0" marL="0">
              <a:buNone/>
            </a:pPr>
            <a:r>
              <a:rPr lang="en-US" sz="1700" baseline="-400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u</a:t>
            </a:r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0、S</a:t>
            </a:r>
            <a:pPr indent="0" marL="0">
              <a:buNone/>
            </a:pPr>
            <a:r>
              <a:rPr lang="en-US" sz="1700" baseline="-400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u</a:t>
            </a:r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R；UC：q</a:t>
            </a:r>
            <a:pPr indent="0" marL="0">
              <a:buNone/>
            </a:pPr>
            <a:r>
              <a:rPr lang="en-US" sz="1700" baseline="-400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u</a:t>
            </a:r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2S</a:t>
            </a:r>
            <a:pPr indent="0" marL="0">
              <a:buNone/>
            </a:pPr>
            <a:r>
              <a:rPr lang="en-US" sz="1700" baseline="-400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u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4983480"/>
            <a:ext cx="530352" cy="530352"/>
          </a:xfrm>
          <a:prstGeom prst="ellipse">
            <a:avLst/>
          </a:prstGeom>
          <a:solidFill>
            <a:srgbClr val="2F54C8"/>
          </a:solidFill>
          <a:ln w="12700">
            <a:solidFill>
              <a:srgbClr val="2F54C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498348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5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1463040" y="4983480"/>
            <a:ext cx="10241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Δu = B[Δσ</a:t>
            </a:r>
            <a:pPr indent="0" marL="0">
              <a:buNone/>
            </a:pPr>
            <a:r>
              <a:rPr lang="en-US" sz="1700" baseline="-400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</a:t>
            </a:r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+ A(Δσ</a:t>
            </a:r>
            <a:pPr indent="0" marL="0">
              <a:buNone/>
            </a:pPr>
            <a:r>
              <a:rPr lang="en-US" sz="1700" baseline="-400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</a:t>
            </a:r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− Δσ</a:t>
            </a:r>
            <a:pPr indent="0" marL="0">
              <a:buNone/>
            </a:pPr>
            <a:r>
              <a:rPr lang="en-US" sz="1700" baseline="-400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</a:t>
            </a:r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)]；NC 的 A</a:t>
            </a:r>
            <a:pPr indent="0" marL="0">
              <a:buNone/>
            </a:pPr>
            <a:r>
              <a:rPr lang="en-US" sz="1700" baseline="-400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</a:t>
            </a:r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≈ 0.5～1.0、S</a:t>
            </a:r>
            <a:pPr indent="0" marL="0">
              <a:buNone/>
            </a:pPr>
            <a:r>
              <a:rPr lang="en-US" sz="1700" baseline="-400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u</a:t>
            </a:r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/σ′</a:t>
            </a:r>
            <a:pPr indent="0" marL="0">
              <a:buNone/>
            </a:pPr>
            <a:r>
              <a:rPr lang="en-US" sz="1700" baseline="-400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v0</a:t>
            </a:r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&lt; 0.5；θ 只用 φ′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594360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2A6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下一步：用「同扣 u</a:t>
            </a:r>
            <a:pPr indent="0" marL="0">
              <a:buNone/>
            </a:pPr>
            <a:r>
              <a:rPr lang="en-US" sz="1600" b="1" baseline="-40000" dirty="0">
                <a:solidFill>
                  <a:srgbClr val="F2A6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</a:t>
            </a:r>
            <a:pPr indent="0" marL="0">
              <a:buNone/>
            </a:pPr>
            <a:r>
              <a:rPr lang="en-US" sz="1600" b="1" dirty="0">
                <a:solidFill>
                  <a:srgbClr val="F2A6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平移法」與「S</a:t>
            </a:r>
            <a:pPr indent="0" marL="0">
              <a:buNone/>
            </a:pPr>
            <a:r>
              <a:rPr lang="en-US" sz="1600" b="1" baseline="-40000" dirty="0">
                <a:solidFill>
                  <a:srgbClr val="F2A6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u</a:t>
            </a:r>
            <a:pPr indent="0" marL="0">
              <a:buNone/>
            </a:pPr>
            <a:r>
              <a:rPr lang="en-US" sz="1600" b="1" dirty="0">
                <a:solidFill>
                  <a:srgbClr val="F2A6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/σ′</a:t>
            </a:r>
            <a:pPr indent="0" marL="0">
              <a:buNone/>
            </a:pPr>
            <a:r>
              <a:rPr lang="en-US" sz="1600" b="1" baseline="-40000" dirty="0">
                <a:solidFill>
                  <a:srgbClr val="F2A6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v0</a:t>
            </a:r>
            <a:pPr indent="0" marL="0">
              <a:buNone/>
            </a:pPr>
            <a:r>
              <a:rPr lang="en-US" sz="1600" b="1" dirty="0">
                <a:solidFill>
                  <a:srgbClr val="F2A6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捷徑」實際拆解 CU、UU 考古題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SM-U1-5 拼圖二：兩個閥門定生死</dc:title>
  <dc:subject>PptxGenJS Presentation</dc:subject>
  <dc:creator>PptxGenJS</dc:creator>
  <cp:lastModifiedBy>PptxGenJS</cp:lastModifiedBy>
  <cp:revision>1</cp:revision>
  <dcterms:created xsi:type="dcterms:W3CDTF">2026-09-25T09:19:14Z</dcterms:created>
  <dcterms:modified xsi:type="dcterms:W3CDTF">2026-09-25T09:19:14Z</dcterms:modified>
</cp:coreProperties>
</file>