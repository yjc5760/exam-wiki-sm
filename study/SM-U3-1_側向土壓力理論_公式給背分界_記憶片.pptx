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子項有一個很奇怪的現象：主考點四題，九十三、九十九、一百零四、一百零八年，供給率百分之零。而二十四年來的四次供給，全部落在副考點的年份，而且都是因為題目本身變複雜——傾斜、牆土摩擦、地震、四次方程——才附帶給的。越基本，越不給，這是本單元最該記住的一句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十四條紅、四條橘、一條綠。唯一的綠色是 Mononobe-Okabe 的動態土壓力係數全式，長到不可能默寫，一百零五年唯一考到的時候整組印在參考資料裡。四條橘色都有一個共同點：它們是「題目變複雜時才會給」的那幾條。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只能記住一句：印出來的是大家都會的那一條，真正的分水嶺從不印。三個實例：一百零五年給了地震土壓力係數全式，卻沒給動態增量的作用點，而題目問的正是位置；一百零七年給了傾斜填土的主動土壓力係數，卻沒給虛擬牆背的建立規則，那才是真正的關卡；一百一十四年給了主動土壓力係數，卻沒告訴你基礎是黏土時抗滑力等於不排水強度乘底寬、跟牆重無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十九條公式歸成六個家族。第一個家族決定這面牆該用哪個係數，是所有題目的入口。第二第三個是分布圖怎麼畫。第四個是 Rankine 不成立時的替代方案。第五個是地震。最後一個是接到擋土牆穩定分析的介面——那也是本子項十三題副考點的去處。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開題三十秒，先問這面牆往哪動。被樓版夾住不能動就是靜止土壓力；離開填土就是主動；推向填土就是被動，而且通常要折減。再問 Rankine 三條件成立嗎——牆背垂直、光滑、填土水平。任一條不成立就改庫倫，但懸臂式有例外：先建虛擬牆背，Rankine 就重新可用。最後數轉折點：地表、超載、水位、層界要算兩次、張力裂縫深度、牆底。漏一個，合力跟作用點就全錯。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牆完全不動的時候是靜止土壓力，phi 等於三十度時係數是零點五。牆只要離開填土千分之一到千分之四的牆高，土壓力就掉到主動值零點三三——所以主動狀態幾乎一定會發生。但要充分發揮被動土壓力，牆要推向填土百分之二到五的牆高，是主動側的十倍以上。實務上這個位移量通常不被允許，會拉裂鄰房，所以被動土壓力常再除以安全係數或直接取一半。這張圖同時回答了為什麼被動要折減、以及為什麼設計時幾乎都用主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第一張回想卡。主動、被動、靜止三個土壓力係數各是什麼？phi 等於三十度時三個各是多少？提示：這三個數是全單元最該記熟的一組。按暫停。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主動土壓力係數等於一減 sin phi 除以一加 sin phi，被動是它的倒數。phi 等於三十度時是三分之一跟三，差九倍。靜止土壓力係數用 Jaky 公式，一減 sin phi，等於零點五，剛好夾在中間偏主動側。過壓密土的靜止係數會變大，乘上根號過壓密比，因為卸載之後水平應力還記得曾經被壓過。使用時機很重要：地下室外牆、被樓版夾住的擋土壁不能自由變位，要用靜止土壓力，用主動會低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第二張回想卡。帶凝聚力的土，主動土壓力怎麼寫？上面算出來是負值那一段怎麼處理？還有張力裂縫深度是多少？提示：一百零四年跟一百零八年兩年直接考，零供給。按暫停。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凝聚力讓土自己站得住，所以主動壓力被減掉二倍 c 乘根號 Ka；被動則被加上二倍 c 乘根號 Kp，同一個凝聚力，效果相反。算出來是負的那一段代表土在拉牆，但土不能受拉，所以負值一律歸零。歸零之後，土壓力分布只剩下面那個三角形，合力作用點就上移到 H 減 zc 再除以三，不是 H 除以三。一百零四年明白要求合力及作用位置，反射性寫 H 除以三就錯了。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灰虛線是理論值，含負值；深色線才是採用值，負的那一段歸零。歸零的深度就是張力裂縫深度。土壓力的合力只剩下面那個三角形。但真正危險的是藍線：裂縫如果積滿水，會多出一個二分之一 gamma w 乘 zc 平方的三角形水壓。而且這個水壓通常比土壓還大——本例裂縫深三點八五公尺時水壓合力約七十三 kN 每公尺，遠大於土壓的二十一。這就是為什麼擋土牆設計要求填土面排水、牆背設濾層跟洩水孔。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第三張回想卡。水位以下，土壓力跟水壓力要怎麼處理？而且水位每下降一公尺，牆背的總壓力會多增加多少？提示：四個年份要用，零供給，九十三年整題二十五分就是這條結論的反算。按暫停。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土的側壓力係數小於一，但水沒有剪力強度，各方向壓力相同，側壓力係數恆為一。所以水位以下每一公尺，土壓少增加一減 Ka 乘有效單位重，水壓多增加 gamma w，淨結果是每公尺多出 gamma w 乘一減 Ka，phi 等於三十度時大約六點五 kPa。這也是九十三年那題的核心：問地下水位升到多高牆才會滑動，就是解這條線性關係。另外提醒，超載的影響是矩形，從地表到牆底都一樣，不是三角形。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橘線是土壓，水位以上用濕單位重、以下用有效單位重，都要乘主動係數，所以水位以下的斜率反而變小。藍線是水壓，從水位開始以水的單位重全額增加，完全不打折。深色線是兩者相加，也就是實際畫在牆背上的分布，水位以下斜率明顯變陡。最常見的兩個錯誤：一個是水位以下仍用飽和單位重乘係數而不另加水壓，嚴重低估；另一個是用飽和單位重乘係數之後又另加全額水壓，那是重複計算浮力。檢查動作很簡單：畫完分布圖，看水位那一點有沒有折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第四張回想卡。畫土壓力分布圖時，要在哪些深度設轉折點？請列出完整清單。提示：漏一個，合力跟作用點就全錯。而且其中有一個深度要算兩次。按暫停。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清單有六項：地表、超載起訖、地下水位、每一個層界而且要算兩次、張力裂縫深度、牆底。為什麼層界要算兩次？因為層界上下的內摩擦角不同、主動係數不同，但垂直有效應力是連續的，所以同一個深度會有兩個水平壓力值，分布圖在那裡是跳躍的，不是連續的。這是最常漏的一個。畫完之後數一數折點個數，跟清單對照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第五張回想卡。分布圖畫好之後，合力跟作用位置怎麼求？為什麼不能反射性寫 H 除以三？提示：九十九年跟一百零四年兩年明白要求合力及作用位置。按暫停。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動作只有一個：把分布圖切成矩形跟三角形，每一塊算出面積跟自己的形心高度，然後用力矩總和除以合力得到作用點。一律對牆底取矩，中途不要換基準點。H 除以三只有在單一均質土、無水、無超載、無裂縫的純三角形分布時才成立，有任何一個轉折點作用點就不在那裡。順帶記一件事：牆底的揚水壓要從牆重裡扣掉，才是有效自重，抗滑力要用有效自重而不是全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第六張回想卡。庫倫試驗楔法的三個步驟是什麼？主動的時候對破壞面角度取極大還是極小？為什麼？提示：一百零八年整題二十五分就是考這個流程，而且不要求任何數字。按暫停。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三個步驟。第一，假設一個破壞面傾角，切出楔體。第二，三個力——楔體自重、破壞面反力與法線夾 phi、牆背反力與法線夾 delta——構成封閉力多邊形，解出這個角度對應的主動推力。第三，對角度取極值。主動取極大、被動取極小。為什麼？因為主動是土推牆，土會沿著最省力的面破壞，而牆必須擋得住所有可能破壞面裡最大的那一個推力；被動剛好相反。全式不必背，要背的是三個角度的定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步假設一個破壞面角度，切出三角形楔體，算出自重。第二步三力閉合：自重的大小方向都知道，另外兩個力只知道方向，兩個方向兩個未知量，力多邊形就解得出來。第三步換不同角度重算，畫出曲線取極大值。順帶講一件重要的事：Rankine 其實是庫倫的特例，當牆背垂直、無牆土摩擦、填土水平的時候，庫倫的結果就退化成 Rankine。庫倫唯一能做而 Rankine 做不到的，就是牆背傾斜跟牆土摩擦。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最後三張的第一張。懸臂式擋土牆的牆背有牆踵、牆面也不光滑，Rankine 三條件明明不成立，為什麼還能用 Rankine？虛擬牆背要怎麼建？提示：一百零七年給了傾斜填土的主動係數，卻沒給這個規則，那才是那題真正的關卡。按暫停。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作法是：從牆踵垂直向上作一條線，這條線就是虛擬牆背。在這條線上是土對土的界面，自然滿足垂直、光滑、填土按坡角傾斜，Rankine 三條件重新成立。兩個最常漏的細節：第一，H prime 要量到基礎版的底，不是牆身底；第二，牆踵正上方那塊土的重量要計入牆重，因為它跟牆體一起移動。另外，填土傾斜時主動推力的方向平行於填土面，不是水平，這也是一百零七年的扣分點。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橘色虛線就是虛擬牆背，從牆踵垂直向上一路到填土面。要注意兩件事：H prime 量到基礎版的底，少量了版厚土壓力合力會偏小；牆踵正上方那塊土要計入牆重，它是抗滑動跟抗傾覆的免費本錢。另外，在虛擬牆背上算出的主動推力方向平行填土面，要分解成水平跟垂直分量，垂直分量會加到牆重上讓抗滑動變好，忘記分解等於白白丟掉抵抗力。最後提醒一件事：一百零七年那題的傾斜填土係數是以影像嵌在圖上方的，考場上公式可能出現在圖裡，不要只看題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第八張回想卡。Mononobe-Okabe 動態土壓力的靜態部分跟動態增量，作用點各在哪裡？還有那個 theta prime 是什麼？提示：一百零五年給了係數全式，卻沒給作用點，而題目問的正是大小、方向與位置。按暫停。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Mononobe-Okabe 的物理意義只有一句話：把重力場旋轉一個角度之後的庫倫。水平地震係數讓合成重力往牆的方向偏 theta prime，於是等效的填土坡角跟牆背傾角都改變了，再套庫倫。認得這句話，就算全式印給你也代得進去。至於作用點必須背：靜態部分仍在 H 除以三，因為是三角形分布；動態增量在零點六 H，因為它是倒三角形分布，上重下輕。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最後一張回想卡。基礎土壤是 phi 等於零的黏土時，抗滑動力怎麼算？它跟牆重有沒有關係？提示：一百一十四年給了主動土壓力係數，卻沒告訴你這件事，而那是整題唯一的陷阱。按暫停。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答案是與牆重完全無關。phi 等於零表示摩擦角是零，摩擦項整個消失，只剩下附著力乘以基礎底寬。所以把牆做重一點來抗滑動，在黏土基礎上完全沒有效果——這是一百一十四年整題唯一的陷阱。砂質基礎才是有效自重乘 tan delta，這時加重才有用。而且有地下水的時候要先算牆底揚水壓，從牆重裡扣掉。考場動作：看到基礎土壤給的是不排水強度而不是摩擦角，立刻改用附著力乘底寬。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六個扣分點快速過一遍。一，反射性寫 H 除以三。二，層界只算一次。三，水位以下沒另加水壓，或加了兩次。四，phi 等於零的黏土基礎還用牆重乘 tan delta。五，把地震動態增量放在 H 除以三。六，只看題幹不看圖——一百零七年的公式是嵌在圖上方的影像。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實例，都是同一個模式。一百零五年給了地震土壓力係數全式，卻沒給動態增量的作用點，而題目問的正是位置。一百零七年給了傾斜填土的主動係數，卻沒給虛擬牆背的建立規則。一百一十四年給了主動土壓力係數，卻沒告訴你黏土基礎的抗滑力跟牆重無關。印出來的永遠是大家都會的那一條，真正的分水嶺從不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速查表第一頁是分布圖與合力。最後一格的庫倫全式放在這裡不是要你背，是讓你認得三個角度符號長什麼樣子。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第二頁是係數、判定與介面。最上面那三格是最該記熟的一組數字，最下面兩格是一百一十四年的陷阱所在。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句話帶走。第一，越基本越不給，主考點四題、供給率零，四次供給全部落在題目變複雜的副考點年份。第二，只背五條：三個係數的數值、帶凝聚力的主動土壓與張力裂縫、水位以下每公尺淨增、切方塊對牆底取矩、庫倫三步流程。第三，可以省下庫倫跟地震土壓力的完整三角函數式，但作用點規則一定要背。第四，主副比四比十三，把這裡讀熟，報酬會在開挖跟擋土結構那二十多題上兌現。五個單元的記憶片到這裡告一段落，祝你考試順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image" Target="../media/image-31-8.png"/><Relationship Id="rId9" Type="http://schemas.openxmlformats.org/officeDocument/2006/relationships/image" Target="../media/image-3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image" Target="../media/image-32-8.png"/><Relationship Id="rId9" Type="http://schemas.openxmlformats.org/officeDocument/2006/relationships/image" Target="../media/image-32-9.png"/><Relationship Id="rId10" Type="http://schemas.openxmlformats.org/officeDocument/2006/relationships/image" Target="../media/image-3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SM-U3-1　側向土壓力理論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越基本，越不給。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主考點 4 題，供給率 0%。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四次供給全部落在副考點年份，而且都是因為題目本身變複雜才附帶給的。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× 9　觀念圖 × 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exam-wiki-SM｜證據：raw/exams/ 全 24 份考卷原文（2002–2025）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HOW TO USE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三色分級：14 紅、4 橘、1 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分級標準：拿不準一律往上歸。條數取自 formula-given-SM-U3-1 的逐條盤點。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3514344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0428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14 條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必背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必背。K₀、位移門檻、張力裂縫深度、水位以下的處理、合力作用點、虛擬牆背、M-O 作用點規則。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37304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37304" y="1920240"/>
            <a:ext cx="3514344" cy="10972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1624" y="2304288"/>
            <a:ext cx="384048" cy="38404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114544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 條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11624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會給但別賭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1624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會給但別賭。Rankine Ka（111、114 給過）、c–φ 土的 σa′（114 給過）、庫倫 Ka（105 給過）、傾斜填土 Ka（107 給過）。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5968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5968" y="1920240"/>
            <a:ext cx="3514344" cy="10972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0288" y="2304288"/>
            <a:ext cx="384048" cy="384048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0" name="Text 18"/>
          <p:cNvSpPr/>
          <p:nvPr/>
        </p:nvSpPr>
        <p:spPr>
          <a:xfrm>
            <a:off x="8903208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8449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 條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00288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通常會給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00288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通常會給。Mononobe–Okabe 的 Kae 全式——長到不可能默寫，105 年唯一考到時整組印在參考資料裡。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11064240" cy="1874520"/>
          </a:xfrm>
          <a:prstGeom prst="roundRect">
            <a:avLst>
              <a:gd name="adj" fmla="val 4390"/>
            </a:avLst>
          </a:prstGeom>
          <a:solidFill>
            <a:srgbClr val="1B2A41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這支影片怎麼看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51206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看到深色卡片就按暫停，先在紙上把式子默寫出來，再看下一頁的答案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本子項 76%（13／17）的出題量在副考點——它是 U2-3 開挖與 U3-2 擋土結構的入口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五張觀念圖負責回答「為什麼公式長這樣」，第 6 頁那張位移曲線是全片最值得看的一張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倒數第三頁列出三個「給了入場券、不給出口」的實例——那是本單元的命題模式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THE ONE THING · 先講結論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29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印出來的是「大家都會的那一條」，</a:t>
            </a:r>
            <a:endParaRPr lang="en-US" sz="29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34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真正的分水嶺從不印。</a:t>
            </a:r>
            <a:endParaRPr lang="en-US" sz="29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0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105 給 Kae 卻不給作用點；107 給傾斜 Ka 卻不給虛擬牆背；114 給 KA 卻不給黏土基礎抗滑力。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68680" y="5532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而主副比 4:13——本子項四分之三的題目是別的單元的入口。把這裡讀熟，報酬會在 SM-U2-3 開挖與 SM-U3-2 擋土結構那 20 多題上兌現。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MAP · 六個公式家族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19 條公式怎麼歸類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三個係數與位移　3 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Ka、Kp、K₀ 各是什麼，以及達成它們各需要多少位移。這一組決定「這面牆該用哪個係數」。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26864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c–φ 土與張力裂縫　3 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6864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帶凝聚力的 σa′、張力裂縫深度 zc、裂縫積水的附加水壓。負值歸零、作用點上移。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30768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水與分層　3 條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30768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水位以下土壓乘 γ′、水壓全額另加；轉折點清單；切方塊對牆底取矩求合力與作用點。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庫倫法與傾斜、虛擬牆背　4 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庫倫全式（不必背）、試驗楔法三步流程（要會）、Rankine 傾斜填土 Ka、懸臂式的虛擬牆背。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52544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4608576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26864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地震土壓力　2 條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26864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M-O 的 Kae 全式（會給）與動態增量的作用點規則（不會給，但要背）。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56448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30768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接到擋土牆穩定的介面　4 條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30768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被動土壓與 δ 方向、φ=0 基礎的抗滑動、牆底揚水壓與有效自重、開題三十秒的三個判斷。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BACKBONE · 骨幹一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開題三十秒：先問這面牆往哪動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27632"/>
            <a:ext cx="9875520" cy="512064"/>
          </a:xfrm>
          <a:prstGeom prst="roundRect">
            <a:avLst>
              <a:gd name="adj" fmla="val 14286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27632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這面牆往哪動？被樓版夾住 ⇒ K₀；離開填土 ⇒ Ka；推向填土 ⇒ Kp（並折減）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60720" y="2139696"/>
            <a:ext cx="0" cy="146304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114800" y="2286000"/>
            <a:ext cx="3291840" cy="777240"/>
          </a:xfrm>
          <a:prstGeom prst="diamond">
            <a:avLst/>
          </a:prstGeom>
          <a:solidFill>
            <a:srgbClr val="1B2A41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2340864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Rankine 三條件成立嗎？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3063240"/>
            <a:ext cx="-2532888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991356" y="3081528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991356" y="3081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成立（垂直、光滑、填土水平）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355848"/>
            <a:ext cx="4809744" cy="1078992"/>
          </a:xfrm>
          <a:prstGeom prst="roundRect">
            <a:avLst>
              <a:gd name="adj" fmla="val 5932"/>
            </a:avLst>
          </a:prstGeom>
          <a:solidFill>
            <a:srgbClr val="DCE6F0"/>
          </a:solidFill>
          <a:ln/>
        </p:spPr>
      </p:sp>
      <p:sp>
        <p:nvSpPr>
          <p:cNvPr id="13" name="Text 11"/>
          <p:cNvSpPr/>
          <p:nvPr/>
        </p:nvSpPr>
        <p:spPr>
          <a:xfrm>
            <a:off x="950976" y="3355848"/>
            <a:ext cx="45537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 Rankine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直接寫 Ka、Kp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0" y="3063240"/>
            <a:ext cx="2532888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24244" y="3081528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524244" y="3081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不成立（傾斜／有牆面摩擦）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88736" y="3355848"/>
            <a:ext cx="4809744" cy="1078992"/>
          </a:xfrm>
          <a:prstGeom prst="roundRect">
            <a:avLst>
              <a:gd name="adj" fmla="val 5932"/>
            </a:avLst>
          </a:prstGeom>
          <a:solidFill>
            <a:srgbClr val="DCE6F0"/>
          </a:solidFill>
          <a:ln/>
        </p:spPr>
      </p:sp>
      <p:sp>
        <p:nvSpPr>
          <p:cNvPr id="18" name="Text 16"/>
          <p:cNvSpPr/>
          <p:nvPr/>
        </p:nvSpPr>
        <p:spPr>
          <a:xfrm>
            <a:off x="6016752" y="3355848"/>
            <a:ext cx="45537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改庫倫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或先建虛擬牆背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27832" y="4434840"/>
            <a:ext cx="2532888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93608" y="4434840"/>
            <a:ext cx="-2532888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2960" y="4690872"/>
            <a:ext cx="9875520" cy="512064"/>
          </a:xfrm>
          <a:prstGeom prst="roundRect">
            <a:avLst>
              <a:gd name="adj" fmla="val 14286"/>
            </a:avLst>
          </a:prstGeom>
          <a:solidFill>
            <a:srgbClr val="F4F6F9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690872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數轉折點：地表 → 超載 → 水位 → 層界（算兩次）→ zc → 牆底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760720" y="5202936"/>
            <a:ext cx="0" cy="146304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22960" y="5349240"/>
            <a:ext cx="9875520" cy="512064"/>
          </a:xfrm>
          <a:prstGeom prst="roundRect">
            <a:avLst>
              <a:gd name="adj" fmla="val 14286"/>
            </a:avLst>
          </a:prstGeom>
          <a:solidFill>
            <a:srgbClr val="E8734A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5349240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切方塊、對牆底取矩求合力與作用點——不要反射性寫 H/3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22960" y="609904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同一根版樁的背側與貫入段可以處於不同狀態（背側 Ka、貫入段 Kp）。漏一個轉折點，合力與作用點就全錯。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01 · 骨幹二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K₀ → Ka 只要一點點位移，K₀ → Kp 要 10 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k_dis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19840"/>
            <a:ext cx="6501384" cy="373272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牆完全不動時是 K₀ = 1 − sinφ′（φ = 30° 時等於 0.50）。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牆只要離開填土 0.1–0.4%H，土壓力就掉到 Ka（0.33）——所以「主動」幾乎一定會發生。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但要充分發揮 Kp（3.0），牆要推向填土 2–5%H，是主動側的 10 倍以上。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實務意義：被動側的位移量通常不被允許（會拉裂鄰房），所以 Kp 常再除以 FS 或直接取一半。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 = 30° 這一組數字要背：Ka = 1/3、Kp = 3、K₀ = 0.5——差九倍，代錯馬上看得出來。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這張圖同時回答了「為什麼被動土壓力要折減」與「為什麼設計時幾乎都用 Ka」。97 年（2008-2）名詞解釋考過 K₀ 的定義與適用時機。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E8734A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01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三個係數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會給但別賭｜有沒給的先例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Ka、Kp、K₀ 各是什麼？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φ = 30° 時三個各是多少？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提示：這三個數是全單元最該記熟的一組。九個年份要用 Ka，只給過兩次，而且沒給的那九年包含全部四題主考點。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01 · 🟠 Ka 給過 2 次　│　🔴 K₀ 零供給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三個係數：φ = 30° 這一組數字直接背起來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Rankine 主動／被動</a:t>
            </a:r>
            <a:endParaRPr lang="en-US" sz="1300" dirty="0"/>
          </a:p>
        </p:txBody>
      </p:sp>
      <p:pic>
        <p:nvPicPr>
          <p:cNvPr id="7" name="Image 0" descr="formula_imgs/ka_k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879283"/>
            <a:ext cx="7772400" cy="8561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靜止（Jaky）</a:t>
            </a:r>
            <a:endParaRPr lang="en-US" sz="1300" dirty="0"/>
          </a:p>
        </p:txBody>
      </p:sp>
      <p:pic>
        <p:nvPicPr>
          <p:cNvPr id="11" name="Image 1" descr="formula_imgs/k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412532"/>
            <a:ext cx="7772400" cy="764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 = 30° 的一組數</a:t>
            </a:r>
            <a:endParaRPr lang="en-US" sz="1300" dirty="0"/>
          </a:p>
        </p:txBody>
      </p:sp>
      <p:pic>
        <p:nvPicPr>
          <p:cNvPr id="15" name="Image 2" descr="formula_imgs/ka_nu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889766"/>
            <a:ext cx="7772400" cy="78483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怎麼記：φ = 30° ⇒ Ka = 1/3、Kp = 3，兩者差&lt;b&gt;九倍&lt;/b&gt;；K₀ = 1 − sin30° = 0.5，剛好夾在中間偏主動側。過壓密土的 K₀ 會變大：K₀(OC) = K₀(NC)·√OCR——因為卸載之後水平應力「記得」曾經被壓過。使用時機：地下室外牆、被樓版夾住的擋土壁不能自由變位 ⇒ 用 K₀，用 Ka 會低估。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02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c–φ 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c–φ 土的主動土壓力怎麼寫？負值那一段怎麼處理？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張力裂縫深度 zc 是多少？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提示：104、108 兩年直接考，零供給。附帶兩條規則：負值歸零、作用點上移。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02 · 🟠 σa′ 給過 1 次　│　🔴 zc 零供給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負值歸零，作用點跟著上移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c–φ 土的主動／被動</a:t>
            </a:r>
            <a:endParaRPr lang="en-US" sz="1300" dirty="0"/>
          </a:p>
        </p:txBody>
      </p:sp>
      <p:pic>
        <p:nvPicPr>
          <p:cNvPr id="7" name="Image 0" descr="formula_imgs/sig_a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951410"/>
            <a:ext cx="7772400" cy="7118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張力裂縫深度</a:t>
            </a:r>
            <a:endParaRPr lang="en-US" sz="1300" dirty="0"/>
          </a:p>
        </p:txBody>
      </p:sp>
      <p:pic>
        <p:nvPicPr>
          <p:cNvPr id="11" name="Image 1" descr="formula_imgs/z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856" y="3334512"/>
            <a:ext cx="5533009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合力作用點</a:t>
            </a:r>
            <a:endParaRPr lang="en-US" sz="1300" dirty="0"/>
          </a:p>
        </p:txBody>
      </p:sp>
      <p:pic>
        <p:nvPicPr>
          <p:cNvPr id="15" name="Image 2" descr="formula_imgs/ar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992" y="4821936"/>
            <a:ext cx="5126736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怎麼記：凝聚力讓土「自己站得住」，所以主動壓力被減掉 2c√Ka；被動則被加上 2c√Kp（同一個 c，效果相反）。算出來負的那一段代表土在「拉」牆——土不能受拉，所以&lt;b&gt;負值一律歸零&lt;/b&gt;，那一段的土壓力當作 0。歸零之後土壓力分布只剩下面 (H − zc) 那個三角形，所以&lt;b&gt;合力作用點上移到 (H − zc)/3&lt;/b&gt;，不是 H/3。104 年（2015-2）明白要求「合力及作用位置」——反射性寫 H/3 就錯了。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張力裂縫：上面那一段不但沒有土壓，還可能積水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tension_cr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52921"/>
            <a:ext cx="6501384" cy="366655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灰虛線是理論值（含負值），深色線才是採用值——負的那一段歸零。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歸零的深度就是張力裂縫深度 zc = 2c/(γ√Ka)；φ = 0 時退化成 2cu/γ。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土壓力的合力只剩下面 (H − zc) 的三角形，作用點在 (H − zc)/3。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但真正危險的是藍線：裂縫如果積滿水，會多出一個 ½γw·zc² 的三角形水壓。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而且這個水壓通常比土壓還大——本例 zc = 3.85 m 時水壓合力約 73 kN/m，遠大於土壓的 21 kN/m。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所以擋土牆設計會要求填土面排水、牆背設濾層與洩水孔——不是為了美觀，是為了不讓裂縫積水。108 年（2019-4）明講「縫內無水」，就是在提醒你有水的情況存在。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03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水與分層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水位以下，土壓力與水壓力要怎麼處理？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水位每下降 1 m，牆背總壓力多增加多少？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提示：四個年份要用，零供給。93 年整題 25 分就是這條結論的反算。答案是一個只含 γw 與 Ka 的式子。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03 · 🔴 必背　│　零供給，4 個年份要用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土壓乘 γ′、水壓全額另加——淨增 γw(1−Ka) 每公尺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水位以下的疊加</a:t>
            </a:r>
            <a:endParaRPr lang="en-US" sz="1300" dirty="0"/>
          </a:p>
        </p:txBody>
      </p:sp>
      <p:pic>
        <p:nvPicPr>
          <p:cNvPr id="7" name="Image 0" descr="formula_imgs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912605"/>
            <a:ext cx="7772400" cy="78946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每公尺淨增量</a:t>
            </a:r>
            <a:endParaRPr lang="en-US" sz="1300" dirty="0"/>
          </a:p>
        </p:txBody>
      </p:sp>
      <p:pic>
        <p:nvPicPr>
          <p:cNvPr id="11" name="Image 1" descr="formula_imgs/net_i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164" y="3334512"/>
            <a:ext cx="6642393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超載是矩形</a:t>
            </a:r>
            <a:endParaRPr lang="en-US" sz="1300" dirty="0"/>
          </a:p>
        </p:txBody>
      </p:sp>
      <p:pic>
        <p:nvPicPr>
          <p:cNvPr id="15" name="Image 2" descr="formula_imgs/su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8716" y="4821936"/>
            <a:ext cx="7547287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為什麼：土的側壓力係數是 Ka（&lt;1），但水沒有剪力強度，各方向壓力相同，&lt;b&gt;Kw 恆為 1&lt;/b&gt;。所以水位以下每 1 m，土壓少增 (1−Ka)γ′、水壓多增 γw，淨結果是每公尺多 γw(1−Ka) ≈ 6.5 kPa（φ = 30° 時）。這也是 93 年（2004-3）那題的核心：問地下水位升到多高，牆才會滑動——就是解這條線性關係。超載 q 的影響是&lt;b&gt;矩形&lt;/b&gt;（qKa 從地表到牆底都一樣），不是三角形。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為什麼水位上升這麼致命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water_lay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24288"/>
            <a:ext cx="6501384" cy="39238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橘線是土壓：水位以上用 γ、以下用 γ′，都要乘 Ka，所以水位以下的斜率反而變小。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藍線是水壓：從水位開始，以 γw 的斜率全額增加，完全不打折。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深色線是兩者相加，也就是實際畫在牆背上的分布——水位以下斜率明顯變陡。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最常見的錯誤：水位以下仍用 γsat 乘 Ka 而不另加水壓，會嚴重低估總推力。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第二常見：水位以下用 γsat（而不是 γ′）乘 Ka，再另加全額水壓——那是重複計算浮力。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檢查動作：畫完分布圖，看水位那一點有沒有「折點」。沒有折點就是漏了水壓或用錯單位重。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04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水與分層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畫土壓力分布圖時，要在哪些深度設轉折點？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請列出完整清單。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提示：漏一個，合力與作用點就全錯。其中有一個深度要算「兩次」。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04 · 🔴 必背　│　零供給，99、104 兩年要用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六個轉折點，一個都不能漏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超載的貢獻是矩形</a:t>
            </a:r>
            <a:endParaRPr lang="en-US" sz="1300" dirty="0"/>
          </a:p>
        </p:txBody>
      </p:sp>
      <p:pic>
        <p:nvPicPr>
          <p:cNvPr id="7" name="Image 0" descr="formula_imgs/su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8716" y="1847088"/>
            <a:ext cx="7547287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水位以下</a:t>
            </a:r>
            <a:endParaRPr lang="en-US" sz="1300" dirty="0"/>
          </a:p>
        </p:txBody>
      </p:sp>
      <p:pic>
        <p:nvPicPr>
          <p:cNvPr id="11" name="Image 1" descr="formula_imgs/wa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400029"/>
            <a:ext cx="7772400" cy="78946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張力裂縫深度</a:t>
            </a:r>
            <a:endParaRPr lang="en-US" sz="1300" dirty="0"/>
          </a:p>
        </p:txBody>
      </p:sp>
      <p:pic>
        <p:nvPicPr>
          <p:cNvPr id="15" name="Image 2" descr="formula_imgs/z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856" y="4821936"/>
            <a:ext cx="5533009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完整清單：&lt;b&gt;① 地表　② 超載起訖　③ 地下水位　④ 每個層界（算兩次！）　⑤ 張力裂縫深度 zc　⑥ 牆底&lt;/b&gt;。為什麼層界要算兩次：層界上下的 φ 不同 ⇒ Ka 不同，但垂直有效應力 σv′ 連續——所以同一個深度會有兩個水平壓力值，分布圖在那裡是&lt;b&gt;跳躍&lt;/b&gt;的，不是連續的。這是最常漏的一個。檢查：畫完之後數一數折點個數，跟清單對照。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05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合力與作用點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分布圖畫好之後，合力與作用位置怎麼求？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為什麼不能反射性寫 H/3？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提示：99、104 兩年明白要求「合力及作用位置」。方法只有一個動作，但基準點不能換。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05 · 🔴 必背　│　零供給，99、104 兩年要用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切方塊、對牆底取矩——基準點一路不換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合力與作用點</a:t>
            </a:r>
            <a:endParaRPr lang="en-US" sz="1300" dirty="0"/>
          </a:p>
        </p:txBody>
      </p:sp>
      <p:pic>
        <p:nvPicPr>
          <p:cNvPr id="7" name="Image 0" descr="formula_imgs/result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0206" y="1847088"/>
            <a:ext cx="4324308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有裂縫時的作用點</a:t>
            </a:r>
            <a:endParaRPr lang="en-US" sz="1300" dirty="0"/>
          </a:p>
        </p:txBody>
      </p:sp>
      <p:pic>
        <p:nvPicPr>
          <p:cNvPr id="11" name="Image 1" descr="formula_imgs/a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992" y="3334512"/>
            <a:ext cx="5126736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牆底揚水壓與有效自重</a:t>
            </a:r>
            <a:endParaRPr lang="en-US" sz="1300" dirty="0"/>
          </a:p>
        </p:txBody>
      </p:sp>
      <p:pic>
        <p:nvPicPr>
          <p:cNvPr id="15" name="Image 2" descr="formula_imgs/uplif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574" y="4821936"/>
            <a:ext cx="7225572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動作：把分布圖切成矩形與三角形，每一塊算出面積 Pi 與自己的形心高度 yi，然後 ȳ = ΣPiyi / ΣPi。&lt;b&gt;一律對牆底取矩，中途不要換基準點&lt;/b&gt;——換了就容易少算一段。H/3 只在「單一均質土、無水、無超載、無裂縫」的純三角形分布時才成立。有任何一個轉折點，作用點就不在 H/3。104 年就是這種情況：有 zc、有水位，答案是 (H−zc)/3 那一族。順帶記：牆底揚水壓 U 要從 W 裡扣掉才是有效自重 W′，抗滑力用 W′ 不是 W（103 年考過）。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06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庫倫法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庫倫試驗楔法的三個步驟是什麼？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主動時對 β 取極大還是極小？為什麼？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提示：108 年（2019-4）整題 25 分就是考這個流程，而且不要求任何數字。式子可以不背，流程一定要能講。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06 · 🔴 流程必背　│　🟠 全式 105 年給過（不必背）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假設破壞面 → 力多邊形閉合 → 對 β 取極值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三步流程</a:t>
            </a:r>
            <a:endParaRPr lang="en-US" sz="1300" dirty="0"/>
          </a:p>
        </p:txBody>
      </p:sp>
      <p:pic>
        <p:nvPicPr>
          <p:cNvPr id="7" name="Image 0" descr="formula_imgs/we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257965"/>
            <a:ext cx="7772400" cy="84245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庫倫 Ka 全式（長到不可能默寫）</a:t>
            </a:r>
            <a:endParaRPr lang="en-US" sz="1300" dirty="0"/>
          </a:p>
        </p:txBody>
      </p:sp>
      <p:pic>
        <p:nvPicPr>
          <p:cNvPr id="11" name="Image 1" descr="formula_imgs/coulom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167115"/>
            <a:ext cx="7772400" cy="14864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三步：① 假設一個破壞面傾角 β，切出楔體；② 三個力——楔體自重 W、破壞面反力 R（與法線夾 φ）、牆背反力 Pa（與法線夾 δ）——構成封閉力多邊形，解出 Pa(β)；③ 對 β 微分取極值。&lt;b&gt;主動取極大、被動取極小&lt;/b&gt;——因為主動是「土推牆」，土會沿著最省力的面破壞，而牆必須擋得住所有可能破壞面裡最大的那一個推力；被動剛好相反。全式不必背。要背的是&lt;b&gt;角度定義&lt;/b&gt;：β 牆背傾角、α 填土坡角、δ_B 牆土摩擦角——認得符號才代得進去。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庫倫試驗楔法的三步驟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coulomb_we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610627"/>
            <a:ext cx="6501384" cy="255114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假設一個 β，切出三角形楔體，算出它的自重 W。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三力閉合：W 已知（大小方向都知道）、R 與 Pa 只知道方向——兩個方向兩個未知量，力多邊形就解得出來。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換不同的 β 重算，畫出 Pa(β) 曲線，取極大值。那個 β 就是臨界破壞面。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Rankine 是庫倫的特例：當 β = 90°、δ = 0、α = 0 時，庫倫的結果會退化成 Ka = (1−sinφ)/(1+sinφ)。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庫倫唯一能做而 Rankine 做不到的：牆背傾斜（β ≠ 90°）與牆土摩擦（δ ≠ 0）。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108 年（2019-4）題目連數字都不給，只要求「畫出力多邊形、描述各力的計算及其與水平或鉛直線的夾角」——這是流程分，不是計算分。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07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虛擬牆背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懸臂式擋土牆的 Rankine 三條件明明不成立，為什麼還能用 Rankine？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虛擬牆背怎麼建？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提示：107 年（2018-4）給了傾斜填土的 Ka，卻沒給這個規則——那才是那題真正的關卡。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07 · 🔴 必背　│　零供給，107 年的真正關卡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從牆踵垂直向上作一條虛擬牆背，Rankine 就重新可用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傾斜填土的 Rankine Ka</a:t>
            </a:r>
            <a:endParaRPr lang="en-US" sz="1300" dirty="0"/>
          </a:p>
        </p:txBody>
      </p:sp>
      <p:pic>
        <p:nvPicPr>
          <p:cNvPr id="7" name="Image 0" descr="formula_imgs/ka_slo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865215"/>
            <a:ext cx="7772400" cy="162795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合力與作用點</a:t>
            </a:r>
            <a:endParaRPr lang="en-US" sz="1300" dirty="0"/>
          </a:p>
        </p:txBody>
      </p:sp>
      <p:pic>
        <p:nvPicPr>
          <p:cNvPr id="11" name="Image 1" descr="formula_imgs/resulta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083090"/>
            <a:ext cx="7772400" cy="16544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作法：從&lt;b&gt;牆踵&lt;/b&gt;垂直向上作一條線，這條線就是虛擬牆背。在這條線上，土對土的界面自然滿足「垂直、光滑（土對土沒有額外摩擦折減）、填土水平或按 α 傾斜」——Rankine 三條件重新成立。兩個最常漏的細節：&lt;b&gt;① H′ 要量到基礎版的「底」&lt;/b&gt;（不是牆身底）；&lt;b&gt;② 牆踵正上方那塊土的重量要計入 W&lt;/b&gt;，因為它跟牆體一起移動。漏了 ② 抗滑動與抗傾覆都會偏保守到失真。填土傾斜時 Pa 的方向&lt;b&gt;平行於填土面&lt;/b&gt;，不是水平——這也是 107 年的扣分點。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虛擬牆背：一條線讓 Rankine 重新可用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virtual_b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173" y="1892808"/>
            <a:ext cx="6462653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橘色虛線就是虛擬牆背——從牆踵垂直向上，一路到填土面。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H′ 量到基礎版「底」，不是牆身底。少量了版厚，土壓力合力會偏小。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牆踵正上方那塊土（綠色標示）要計入 W——它跟牆體一起動，是抗滑動與抗傾覆的免費本錢。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在虛擬牆背上算出的 Pa 方向平行填土面（傾角 α），要分解成水平與垂直分量再做穩定檢核。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垂直分量會加到 W 上，讓抗滑動變好——所以忘記分解等於白白丟掉抵抗力。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107 年（2018-4）給了傾斜填土的 Ka 全式（而且是以影像嵌在圖上方，文字抽取看不到），卻沒給虛擬牆背的規則。提醒：考場上公式可能出現在圖裡，不要只看題幹。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08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地震土壓力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M-O 動態土壓力的靜態部分與動態增量，作用點各在哪裡？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θ′ 是什麼？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提示：105 年（2016-4）給了 Kae 全式，卻沒給作用點——而題目問的正是「大小、方向與位置」。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08 · 🔴 作用點零供給　│　🟢 Kae 全式 105 年整組給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靜態在 H/3、動態增量在 0.6H——這一條才是分水嶺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作用點規則（要背）</a:t>
            </a:r>
            <a:endParaRPr lang="en-US" sz="1300" dirty="0"/>
          </a:p>
        </p:txBody>
      </p:sp>
      <p:pic>
        <p:nvPicPr>
          <p:cNvPr id="7" name="Image 0" descr="formula_imgs/mo_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340475"/>
            <a:ext cx="7772400" cy="67743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地震慣性角</a:t>
            </a:r>
            <a:endParaRPr lang="en-US" sz="1300" dirty="0"/>
          </a:p>
        </p:txBody>
      </p:sp>
      <p:pic>
        <p:nvPicPr>
          <p:cNvPr id="11" name="Image 1" descr="formula_imgs/the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0195" y="4078224"/>
            <a:ext cx="6024329" cy="1664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M-O 的物理意義一句話：&lt;b&gt;把重力場旋轉 θ′ 之後的庫倫&lt;/b&gt;。水平地震係數 Kh 讓合成重力往牆的方向偏 θ′ = tan⁻¹[Kh/(1−Kv)]，於是等效的填土坡角與牆背傾角都改變，再套庫倫。認得這句話，就算全式印給你也代得進去；認不得就算印給你也不知道 θ′ 從哪來。&lt;b&gt;作用點必須背&lt;/b&gt;：靜態部分 Pa 仍在 H/3（三角形分布），動態增量 ΔPae 在 0.6H（倒三角形分布，上重下輕）。為什麼上重下輕：地震慣性力正比於質量，而楔體上部的水平加速度響應較大。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09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接到擋土牆穩定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基礎土壤是 φ=0 的黏土時，抗滑動力怎麼算？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它跟牆重有沒有關係？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提示：114 年（2025-3）給了 KA，卻沒告訴你這件事——而那是整題唯一的陷阱。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09 · 🔴 必背　│　零供給，114 年整題的陷阱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黏土基礎：抗滑力 = c_a·B，與牆重無關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黏土基礎（φ=0）</a:t>
            </a:r>
            <a:endParaRPr lang="en-US" sz="1300" dirty="0"/>
          </a:p>
        </p:txBody>
      </p:sp>
      <p:pic>
        <p:nvPicPr>
          <p:cNvPr id="7" name="Image 0" descr="formula_imgs/slide_c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892527"/>
            <a:ext cx="7772400" cy="82961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砂質基礎</a:t>
            </a:r>
            <a:endParaRPr lang="en-US" sz="1300" dirty="0"/>
          </a:p>
        </p:txBody>
      </p:sp>
      <p:pic>
        <p:nvPicPr>
          <p:cNvPr id="11" name="Image 1" descr="formula_imgs/slide_s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357059"/>
            <a:ext cx="7772400" cy="87540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有水時先扣揚水壓</a:t>
            </a:r>
            <a:endParaRPr lang="en-US" sz="1300" dirty="0"/>
          </a:p>
        </p:txBody>
      </p:sp>
      <p:pic>
        <p:nvPicPr>
          <p:cNvPr id="15" name="Image 2" descr="formula_imgs/uplif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574" y="4821936"/>
            <a:ext cx="7225572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答案：&lt;b&gt;與牆重完全無關&lt;/b&gt;。φ = 0 表示摩擦角是零，摩擦項 W′tanδ 整個消失，只剩下附著力 c_a 乘以基礎底寬 B。所以「把牆做重一點來抗滑動」在黏土基礎上&lt;b&gt;完全沒有效果&lt;/b&gt;。砂質基礎才是 F_R = W′tanδ，這時加重才有用。有地下水時要先算牆底揚水壓 U，W′ = W − U，再乘 tanδ——用全重 W 會高估抗滑力（103 年考過）。考場動作：看到基礎土壤給的是 Su 或 cu（而不是 φ），立刻改用 c_a·B。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TRAPS · 高頻扣分點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六個每年都在扣分的地方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反射性寫 H/3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只有「單一均質土、無水、無超載、無裂縫」的純三角形分布才是 H/3。有 zc 就是 (H−zc)/3；有水位或層界就要切方塊對牆底取矩。99、104 兩年都明白要求作用位置。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層界只算一次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層界上下 φ 不同 ⇒ Ka 不同，但 σv′ 連續 ⇒ 同一深度有兩個水平壓力值。分布圖在那裡是跳躍的。漏了這個折點，合力與作用點就全錯。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水位以下沒另加水壓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土壓乘 γ′ 與 Ka，水壓乘 1（全額另加）。用 γsat 乘 Ka 而不加水壓會嚴重低估；用 γsat 又加全額水壓則是重複計算浮力。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φ=0 黏土基礎還用 W tanδ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 = 0 時摩擦項消失，抗滑力只剩 c_a·B，與牆重無關。114 年整題唯一的陷阱就在這裡。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M-O 動態增量放在 H/3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靜態部分在 H/3，動態增量在 0.6H。105 年給了 Kae 全式卻沒給作用點，而題目問的正是位置。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只看題幹不看圖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107 年（2018-4）的傾斜填土 Ka 全式是以影像嵌在圖的上方，文字抽取完全看不到。考場上公式可能出現在圖裡。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BONUS · 本單元的命題模式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三個「給了入場券、不給出口」的實例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4344" cy="4800600"/>
          </a:xfrm>
          <a:prstGeom prst="roundRect">
            <a:avLst>
              <a:gd name="adj" fmla="val 20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2880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105 年（2016-4）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258568"/>
            <a:ext cx="311200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給了：M-O 的 Kae 全式，整組印在參考資料裡。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沒給：動態增量的作用點（0.6H）。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而題目問的正是「大小、方向與位置」。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全式是入場券，作用點才是分水嶺。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37304" y="1691640"/>
            <a:ext cx="3514344" cy="4800600"/>
          </a:xfrm>
          <a:prstGeom prst="roundRect">
            <a:avLst>
              <a:gd name="adj" fmla="val 20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38472" y="182880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107 年（2018-4）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38472" y="2258568"/>
            <a:ext cx="311200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給了：傾斜填土的 Rankine Ka（嵌在圖上方的影像）。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沒給：虛擬牆背的建立規則。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H′ 量到基礎版底、牆踵上方土重計入 W。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那才是這題真正的關卡。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5968" y="1691640"/>
            <a:ext cx="3514344" cy="4800600"/>
          </a:xfrm>
          <a:prstGeom prst="roundRect">
            <a:avLst>
              <a:gd name="adj" fmla="val 20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7136" y="182880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114 年（2025-3）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27136" y="2258568"/>
            <a:ext cx="311200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給了：KA = tan²(45° − φ/2)。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沒給：黏土基礎的抗滑力 = c_a·B、與牆重無關。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那是整題唯一的陷阱。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三次都是同一個模式。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1 /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進考場前最後一眼（一）——分布圖與合力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張力裂縫深度</a:t>
            </a:r>
            <a:endParaRPr lang="en-US" sz="1050" dirty="0"/>
          </a:p>
        </p:txBody>
      </p:sp>
      <p:pic>
        <p:nvPicPr>
          <p:cNvPr id="7" name="Image 0" descr="formula_imgs/z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195330"/>
            <a:ext cx="3416808" cy="56843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裂縫積水的水壓</a:t>
            </a:r>
            <a:endParaRPr lang="en-US" sz="1050" dirty="0"/>
          </a:p>
        </p:txBody>
      </p:sp>
      <p:pic>
        <p:nvPicPr>
          <p:cNvPr id="11" name="Image 1" descr="formula_imgs/p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127" y="1938528"/>
            <a:ext cx="3414699" cy="1082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有裂縫時的作用點</a:t>
            </a:r>
            <a:endParaRPr lang="en-US" sz="1050" dirty="0"/>
          </a:p>
        </p:txBody>
      </p:sp>
      <p:pic>
        <p:nvPicPr>
          <p:cNvPr id="15" name="Image 2" descr="formula_imgs/ar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5216" y="2172807"/>
            <a:ext cx="3416808" cy="61348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水位以下每公尺淨增</a:t>
            </a:r>
            <a:endParaRPr lang="en-US" sz="1050" dirty="0"/>
          </a:p>
        </p:txBody>
      </p:sp>
      <p:pic>
        <p:nvPicPr>
          <p:cNvPr id="19" name="Image 3" descr="formula_imgs/net_in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964919"/>
            <a:ext cx="3416808" cy="47349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合力與作用點</a:t>
            </a:r>
            <a:endParaRPr lang="en-US" sz="1050" dirty="0"/>
          </a:p>
        </p:txBody>
      </p:sp>
      <p:pic>
        <p:nvPicPr>
          <p:cNvPr id="23" name="Image 4" descr="formula_imgs/resulta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072" y="3838008"/>
            <a:ext cx="3416808" cy="727321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牆底揚水壓</a:t>
            </a:r>
            <a:endParaRPr lang="en-US" sz="1050" dirty="0"/>
          </a:p>
        </p:txBody>
      </p:sp>
      <p:pic>
        <p:nvPicPr>
          <p:cNvPr id="27" name="Image 5" descr="formula_imgs/uplift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5216" y="3984027"/>
            <a:ext cx="3416808" cy="43528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地震慣性角</a:t>
            </a:r>
            <a:endParaRPr lang="en-US" sz="1050" dirty="0"/>
          </a:p>
        </p:txBody>
      </p:sp>
      <p:pic>
        <p:nvPicPr>
          <p:cNvPr id="31" name="Image 6" descr="formula_imgs/thet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5451845"/>
            <a:ext cx="3416808" cy="943886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傾斜填土 Rankine Ka</a:t>
            </a:r>
            <a:endParaRPr lang="en-US" sz="1050" dirty="0"/>
          </a:p>
        </p:txBody>
      </p:sp>
      <p:pic>
        <p:nvPicPr>
          <p:cNvPr id="35" name="Image 7" descr="formula_imgs/ka_slop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6072" y="5565957"/>
            <a:ext cx="3416808" cy="715661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庫倫 Ka（不必背，認符號）</a:t>
            </a:r>
            <a:endParaRPr lang="en-US" sz="1050" dirty="0"/>
          </a:p>
        </p:txBody>
      </p:sp>
      <p:pic>
        <p:nvPicPr>
          <p:cNvPr id="39" name="Image 8" descr="formula_imgs/coulomb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5216" y="5597066"/>
            <a:ext cx="3416808" cy="65344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2 /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進考場前最後一眼（二）——係數、判定與介面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Rankine 係數</a:t>
            </a:r>
            <a:endParaRPr lang="en-US" sz="1050" dirty="0"/>
          </a:p>
        </p:txBody>
      </p:sp>
      <p:pic>
        <p:nvPicPr>
          <p:cNvPr id="7" name="Image 0" descr="formula_imgs/ka_k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5265" y="1938528"/>
            <a:ext cx="3569707" cy="3931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85916" y="1554480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6185916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6295644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靜止（Jaky）</a:t>
            </a:r>
            <a:endParaRPr lang="en-US" sz="1050" dirty="0"/>
          </a:p>
        </p:txBody>
      </p:sp>
      <p:pic>
        <p:nvPicPr>
          <p:cNvPr id="11" name="Image 1" descr="formula_imgs/k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998" y="1938528"/>
            <a:ext cx="3997671" cy="3931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2587752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457200" y="2587752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566928" y="2679192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 = 30° 的一組數</a:t>
            </a:r>
            <a:endParaRPr lang="en-US" sz="1050" dirty="0"/>
          </a:p>
        </p:txBody>
      </p:sp>
      <p:pic>
        <p:nvPicPr>
          <p:cNvPr id="15" name="Image 2" descr="formula_imgs/ka_nu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183" y="2971800"/>
            <a:ext cx="3893869" cy="39319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85916" y="2587752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6185916" y="2587752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6295644" y="2679192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位移門檻</a:t>
            </a:r>
            <a:endParaRPr lang="en-US" sz="1050" dirty="0"/>
          </a:p>
        </p:txBody>
      </p:sp>
      <p:pic>
        <p:nvPicPr>
          <p:cNvPr id="19" name="Image 3" descr="formula_imgs/dis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523" y="2971800"/>
            <a:ext cx="5140621" cy="39319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3621024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3621024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3712464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c–φ 土的主動／被動</a:t>
            </a:r>
            <a:endParaRPr lang="en-US" sz="1050" dirty="0"/>
          </a:p>
        </p:txBody>
      </p:sp>
      <p:pic>
        <p:nvPicPr>
          <p:cNvPr id="23" name="Image 4" descr="formula_imgs/sig_a_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571" y="4005072"/>
            <a:ext cx="4293093" cy="39319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185916" y="3621024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6185916" y="3621024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6295644" y="3712464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水位以下的疊加</a:t>
            </a:r>
            <a:endParaRPr lang="en-US" sz="1050" dirty="0"/>
          </a:p>
        </p:txBody>
      </p:sp>
      <p:pic>
        <p:nvPicPr>
          <p:cNvPr id="27" name="Image 5" descr="formula_imgs/wat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3309" y="4005072"/>
            <a:ext cx="3871049" cy="39319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4654296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4654296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4745736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M-O 作用點規則</a:t>
            </a:r>
            <a:endParaRPr lang="en-US" sz="1050" dirty="0"/>
          </a:p>
        </p:txBody>
      </p:sp>
      <p:pic>
        <p:nvPicPr>
          <p:cNvPr id="31" name="Image 6" descr="formula_imgs/mo_p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511" y="5038344"/>
            <a:ext cx="4511214" cy="393192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185916" y="4654296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6185916" y="4654296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6295644" y="4745736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庫倫三步流程</a:t>
            </a:r>
            <a:endParaRPr lang="en-US" sz="1050" dirty="0"/>
          </a:p>
        </p:txBody>
      </p:sp>
      <p:pic>
        <p:nvPicPr>
          <p:cNvPr id="35" name="Image 7" descr="formula_imgs/wedg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5058" y="5038344"/>
            <a:ext cx="3627551" cy="393192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457200" y="5687568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457200" y="5687568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566928" y="5779008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黏土基礎抗滑</a:t>
            </a:r>
            <a:endParaRPr lang="en-US" sz="1050" dirty="0"/>
          </a:p>
        </p:txBody>
      </p:sp>
      <p:pic>
        <p:nvPicPr>
          <p:cNvPr id="39" name="Image 8" descr="formula_imgs/slide_cla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8280" y="6071616"/>
            <a:ext cx="3683676" cy="393192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6185916" y="5687568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6185916" y="5687568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6295644" y="5779008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砂質基礎抗滑</a:t>
            </a:r>
            <a:endParaRPr lang="en-US" sz="1050" dirty="0"/>
          </a:p>
        </p:txBody>
      </p:sp>
      <p:pic>
        <p:nvPicPr>
          <p:cNvPr id="43" name="Image 9" descr="formula_imgs/slide_san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13325" y="6071616"/>
            <a:ext cx="3491019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SM-U3-1 側向土壓力理論｜四句話帶走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587752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越基本越不給：主考點 4 題、供給率 0%，四次供給全部落在題目變複雜的副考點年份。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364992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66674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364992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只背五條：Ka/Kp/K₀ 三個數、σa′ 與 zc（負值歸零、作用點上移）、水位以下淨增 γw(1−Ka)、切方塊對牆底取矩、庫倫三步流程。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74573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745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43984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可以省下：庫倫與 M-O 的完整三角函數式。但 M-O 的作用點規則（H/3 與 0.6H）一定要背。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522976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824728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824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5522976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主副比 4:13——把這裡讀熟，報酬會在 SM-U2-3 開挖與 SM-U3-2 擋土結構那 20 多題上兌現。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exam-wiki-SM｜結構技師 土壤力學與基礎設計</dc:creator>
  <cp:lastModifiedBy>exam-wiki-SM｜結構技師 土壤力學與基礎設計</cp:lastModifiedBy>
  <cp:revision>1</cp:revision>
  <dcterms:created xsi:type="dcterms:W3CDTF">2026-08-16T13:12:07Z</dcterms:created>
  <dcterms:modified xsi:type="dcterms:W3CDTF">2026-08-16T13:12:07Z</dcterms:modified>
</cp:coreProperties>
</file>