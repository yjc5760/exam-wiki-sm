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　土壤力學｜考前總複習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基本性質與三相關係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物理定義 → 令 Vs = 1 立錨點 → 填滿三相圖六格 → 讀出所有公式。整個單元是一條演繹鏈，不是一疊要背的換算式。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結構／大地技師「土壤力學」考前總複習｜原理與公式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三個階段，一條演繹鏈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第一階段　物理定義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Vv/Vs、S = Vw/Vv、w = Ww/Ws。三個定義都只是三相圖上「某一段 ÷ 另一段」，還沒有令任何變數。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第二階段　立固體錨點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土粒體積恆定，故令 Vs = 1。三相圖六個未知格立刻只剩 e、S、Gs、γw 四個符號。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第三階段　讀出公式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把填好的格子代回定義式，Se = wGs、n = e/(1+e)、單位重母式全部自己浮出來。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應用一　單位重家族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母式 γ =(Gs+Se)γw/(1+e) 在 S = 0、0&lt;S&lt;1、S = 1 與水位以下的四個特例。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應用二　解題三拍子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找不變量當錨點 → 兩狀態搬運 → 守恆律驗算。借土填方、夯實、壓密都走同一條路。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陷阱　相對密度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定義在 e 上，不能直接對 γd 線性內插——本單元最高頻的失分點。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ROADMAP · 推導鏈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先看整條鏈：中間沒有任何一步需要記憶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11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892540"/>
            <a:ext cx="6501384" cy="2444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物理定義：三個比值，全部來自實驗室或三相圖本身。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立錨點：土粒守恆是唯一的物理事實，令 Vs = 1 只是把它寫成座標。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填六格：每一格都只用到一個定義，沒有引入新公式。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讀公式：所有換算式都是前三步的必然結果，忘記就重走一次。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1 · 物理定義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三個參數的差別，只在分子分母取哪一格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1_d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84923"/>
            <a:ext cx="6501384" cy="40597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Vv/Vs：分母是恆定的土粒體積，所以 e 最適合追蹤壓縮與夯實。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= Vw/Vv：分母換成孔隙，描述孔隙被水佔了幾成，恆在 0 與 1 之間。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Ww/Ws：唯一定義在重量側的參數，也是實驗室唯一能直接量的。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Vv/V 的分母是會變的總體積，這就是大地工程偏好 e 的原因。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第一階段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四個定義式（此時還沒有任何座標假設）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</a:t>
            </a:r>
            <a:endParaRPr lang="en-US" sz="1300" dirty="0"/>
          </a:p>
        </p:txBody>
      </p:sp>
      <p:pic>
        <p:nvPicPr>
          <p:cNvPr id="7" name="Image 0" descr="formula_imgs/f_def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401" y="1847088"/>
            <a:ext cx="75991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飽和度</a:t>
            </a:r>
            <a:endParaRPr lang="en-US" sz="1300" dirty="0"/>
          </a:p>
        </p:txBody>
      </p:sp>
      <p:pic>
        <p:nvPicPr>
          <p:cNvPr id="11" name="Image 1" descr="formula_imgs/f_def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768" y="2962656"/>
            <a:ext cx="83318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含水量</a:t>
            </a:r>
            <a:endParaRPr lang="en-US" sz="1300" dirty="0"/>
          </a:p>
        </p:txBody>
      </p:sp>
      <p:pic>
        <p:nvPicPr>
          <p:cNvPr id="15" name="Image 2" descr="formula_imgs/f_de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653" y="4078224"/>
            <a:ext cx="93541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孔隙率／土壤比重</a:t>
            </a:r>
            <a:endParaRPr lang="en-US" sz="1300" dirty="0"/>
          </a:p>
        </p:txBody>
      </p:sp>
      <p:pic>
        <p:nvPicPr>
          <p:cNvPr id="19" name="Image 3" descr="formula_imgs/f_def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436" y="5193792"/>
            <a:ext cx="84184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 = Ws/(Vsγw) 是土粒單位重與水單位重的比值；它待會是重量軸與體積軸之間唯一的換算橋。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2 · 立錨點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令 Vs = 1 之後，六個未知格怎麼一步步被填滿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2_exp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36040"/>
            <a:ext cx="6501384" cy="33003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土粒體積恆定，故把座標原點釘在 Vs =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用 e 的定義展開孔隙：Vv = e·Vs = 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用 S 的定義把孔隙切開：Vw = Se、Va = e − Se。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各格乘上 γw 跨到重量側：Ws = Gsγw、Ww = Seγw、Wa ≈ 0。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四步都只用到第一階段的定義，沒有引入任何新公式——這正是後面所有換算式的唯一來源。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第二階段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Vs = 1 座標系的六格與總量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體積軸六格</a:t>
            </a:r>
            <a:endParaRPr lang="en-US" sz="1300" dirty="0"/>
          </a:p>
        </p:txBody>
      </p:sp>
      <p:pic>
        <p:nvPicPr>
          <p:cNvPr id="7" name="Image 0" descr="formula_imgs/f_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75320"/>
            <a:ext cx="7772400" cy="6640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重量軸六格</a:t>
            </a:r>
            <a:endParaRPr lang="en-US" sz="1300" dirty="0"/>
          </a:p>
        </p:txBody>
      </p:sp>
      <p:pic>
        <p:nvPicPr>
          <p:cNvPr id="11" name="Image 1" descr="formula_imgs/f_unit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7282"/>
            <a:ext cx="7772400" cy="6749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總體積與總重量</a:t>
            </a:r>
            <a:endParaRPr lang="en-US" sz="1300" dirty="0"/>
          </a:p>
        </p:txBody>
      </p:sp>
      <p:pic>
        <p:nvPicPr>
          <p:cNvPr id="15" name="Image 2" descr="formula_imgs/f_tot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027705"/>
            <a:ext cx="7772400" cy="5089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整張圖只剩 e、S、Gs、γw 四個符號；題目給的任何兩個參數，都足以把其餘格子算出來。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2 · 完成的座標系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填完的三相圖：左體積、右重量，兩套刻度各自獨立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3_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174" y="1892808"/>
            <a:ext cx="6242651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左半邊是體積、右半邊是重量，兩套刻度各自獨立——公式背錯多半是把兩軸混用。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 Vs = 1 後，六格全部可用 e 與 S 表示：Vv=e、Vw=Se、Va=e−Se。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重量側只有兩格有值：Ws=Gsγw、Ww=Seγw，空氣重量忽略不計。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任何單位重都是「右欄某幾格相加 ÷ 左欄某幾格相加」，直接從圖上讀。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圖上每個數字都由 Gs = 2.70、e = 0.65、w = 15% 算出；改一組輸入，方塊高度與標註值會一起變。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3 · 讀出公式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Se = wGs 不必背：把重量代回定義式，γw 必然相消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4_de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58294"/>
            <a:ext cx="6501384" cy="37130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含水量定義 w = Ww/Ws，把三相圖上的 Seγw 與 Gsγw 代進去。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γw 在分子分母各出現一次，必然相消，所以恆等式裡看不到 γw。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 w = Se/Gs，兩邊同乘 Gs 即 Se = wGs。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考場上忘記時 20 秒可以重推一次，比硬背可靠。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第三階段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萬用恆等式的推導與三種用法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一行推導</a:t>
            </a:r>
            <a:endParaRPr lang="en-US" sz="1300" dirty="0"/>
          </a:p>
        </p:txBody>
      </p:sp>
      <p:pic>
        <p:nvPicPr>
          <p:cNvPr id="7" name="Image 0" descr="formula_imgs/f_der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41" y="1847088"/>
            <a:ext cx="649263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結果（務必默寫）</a:t>
            </a:r>
            <a:endParaRPr lang="en-US" sz="1300" dirty="0"/>
          </a:p>
        </p:txBody>
      </p:sp>
      <p:pic>
        <p:nvPicPr>
          <p:cNvPr id="11" name="Image 1" descr="formula_imgs/f_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864" y="3334512"/>
            <a:ext cx="316699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三種移項用法</a:t>
            </a:r>
            <a:endParaRPr lang="en-US" sz="1300" dirty="0"/>
          </a:p>
        </p:txBody>
      </p:sp>
      <p:pic>
        <p:nvPicPr>
          <p:cNvPr id="15" name="Image 2" descr="formula_imgs/f_brid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229" y="4821936"/>
            <a:ext cx="519826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四個參數 w、Gs、e、S 給三個，第四個必定案；題目故意不給 Gs，就是要你用兩個狀態列聯立。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 Se = wGs 是本單元出題率最高的一步？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5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1042"/>
            <a:ext cx="6501384" cy="3987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屬於重量世界：烘乾前後各秤一次就有，實驗室拿得到。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e、S 屬於體積世界：土體內部無法直接量測，只能推算。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 是唯一的換匯率，所以這條式子是兩個世界之間唯一的通道。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四個參數 w、Gs、e、S 給三個，第四個必定案；題目故意不給 Gs，就是要你聯立。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3 · 讀出公式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 與 e 是同一件事的兩種分母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6_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8790"/>
            <a:ext cx="6501384" cy="41520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Vv = e、V = 1+e 代進 n = Vv/V，立刻得 n = e/(1+e)。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反解：n(1+e) = e → n = e(1−n) → e = n/(1−n)。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的分母是會變的總體積，壓縮時分子分母一起縮，不適合當追蹤量。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恆小於 1，e 卻可以大於 1（高孔隙土、有機土）。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第三階段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孔隙率與孔隙比的互換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孔隙率定義</a:t>
            </a:r>
            <a:endParaRPr lang="en-US" sz="1300" dirty="0"/>
          </a:p>
        </p:txBody>
      </p:sp>
      <p:pic>
        <p:nvPicPr>
          <p:cNvPr id="7" name="Image 0" descr="formula_imgs/f_def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6143" y="1847088"/>
            <a:ext cx="141243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由座標系直接讀出</a:t>
            </a:r>
            <a:endParaRPr lang="en-US" sz="1300" dirty="0"/>
          </a:p>
        </p:txBody>
      </p:sp>
      <p:pic>
        <p:nvPicPr>
          <p:cNvPr id="11" name="Image 1" descr="formula_imgs/f_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313" y="3334512"/>
            <a:ext cx="588409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四式一次看</a:t>
            </a:r>
            <a:endParaRPr lang="en-US" sz="1300" dirty="0"/>
          </a:p>
        </p:txBody>
      </p:sp>
      <p:pic>
        <p:nvPicPr>
          <p:cNvPr id="15" name="Image 2" descr="formula_imgs/f_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505" y="4821936"/>
            <a:ext cx="688370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只有在題目直接給 n 時才需要換算；其餘一律在 e 的世界裡計算，避免分母搞錯。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四個單位重不是四條公式，是同一張圖的四種水位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7_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83250"/>
            <a:ext cx="6501384" cy="32630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四張圖的 e 完全相同（孔隙一樣大），差別只在水佔了孔隙的幾成。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= 0 → γd；0 &lt; S &lt; 1 → γt；S = 1 → γsat：全部由母式代入 S 得到。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γ′ 不是新公式：飽和土體在水位以下要扣掉浮力，γ′ = γsat − γw。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夯實題常考 γd：因為只有 γd 與含水量無關，是壓密程度的唯一指標。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單位重家族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一條母式，四個特例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母式的來源：總重 ÷ 總體積</a:t>
            </a:r>
            <a:endParaRPr lang="en-US" sz="1300" dirty="0"/>
          </a:p>
        </p:txBody>
      </p:sp>
      <p:pic>
        <p:nvPicPr>
          <p:cNvPr id="7" name="Image 0" descr="formula_imgs/f_gder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887" y="1847088"/>
            <a:ext cx="314294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乾單位重 S = 0</a:t>
            </a:r>
            <a:endParaRPr lang="en-US" sz="1300" dirty="0"/>
          </a:p>
        </p:txBody>
      </p:sp>
      <p:pic>
        <p:nvPicPr>
          <p:cNvPr id="11" name="Image 1" descr="formula_imgs/f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109" y="2962656"/>
            <a:ext cx="315250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飽和單位重 S = 1</a:t>
            </a:r>
            <a:endParaRPr lang="en-US" sz="1300" dirty="0"/>
          </a:p>
        </p:txBody>
      </p:sp>
      <p:pic>
        <p:nvPicPr>
          <p:cNvPr id="15" name="Image 2" descr="formula_imgs/f_gs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33" y="4078224"/>
            <a:ext cx="288205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有效（浮）單位重</a:t>
            </a:r>
            <a:endParaRPr lang="en-US" sz="1300" dirty="0"/>
          </a:p>
        </p:txBody>
      </p:sp>
      <p:pic>
        <p:nvPicPr>
          <p:cNvPr id="19" name="Image 3" descr="formula_imgs/f_ge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387" y="5193792"/>
            <a:ext cx="295994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γt = γd(1+w) 是考場上最省時的一步：已知乾單位重與含水量時，不必再回頭算 S。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第三拍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交卷前十秒能做的檢核：大小順序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8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77133"/>
            <a:ext cx="6501384" cy="38753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任何土的單位重都不可能超過實心土粒 Gsγw——那是孔隙為零的理論上限。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同一組土必定滿足 γ′ &lt; γd &lt; γt &lt; γsat &lt; Gsγw，跳出順序就是算錯。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γ′ 約為 γsat 的一半：水下自重減半，這也是浮力題的量級直覺。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算完飽和度也要檢核 0 ≤ S ≤ 1，S 超過 100% 一定錯。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第一拍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錨點怎麼選？這是全單元唯一真正的分歧點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讀完題目先問一句：這題有幾個狀態？誰是那個不會變的量？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兩個狀態之間有沒有加水或排水？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有（加水夯實、飽和化）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錨點＝乾土重 Ws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Ws = γd·V 不變，Ww 可變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含水量 w 前後不同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沒有（純壓縮、壓密）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錨點＝土粒體積 Vs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不變，孔隙比 e 減小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若未排水則 Ww 亦不變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錨點先算出來，其餘未知量全部由它推出去（單一狀態題目：直接令 Vs = 1）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補充：真正無解的題目幾乎不存在——若 Gs 沒給，那就是暗示要用兩個狀態列聯立方程式把 Gs 解出來。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解題三拍子：借土場與填方土量換算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填方 1 m³ 要求 γd2 = 17.0 kN/m³、w2 = 16%；借土場 e1 = 0.80、w1 = 8%、Gs = 2.70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填方 1 m³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 γd2=17.0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e2 = Gsγw/γd2 −1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0.558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錨點：Ws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γd2·V2 = 17.0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借土場 e1 = 0.80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（Ws 相同）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V1/V2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(1+e1)/(1+e2)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V1 = 1.155 m³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（需借土量）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ΔWw = Ws(w2−w1)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1.36 kN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 S = wGs/e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借土 27%、填方 77%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借土 1.155 m³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＋加水 1.36 kN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體積絕不守恆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1.155 m³ 的借土加上 0.139 m³ 的水，夯實後只剩 1.000 m³。守恆的是重量：18.36 + 1.36 = 19.72 kN。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第三拍：三項物理邊界檢核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重量守恆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借土濕重＋加水量＝填方濕重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飽和度限制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 ≤ S ≤ 1，超過 100% 必錯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大小順序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&lt; γt &lt; γsat &lt; Gsγw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第二拍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兩狀態搬運：把土粒方塊畫成同高，題目就解一半了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9_two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404" y="1892808"/>
            <a:ext cx="6500191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兩張三相圖的土粒方塊刻意等高——那就是 Ws（與 Vs）守恆的圖像意義。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只有孔隙那一段在變：e 從 0.80 掉到 0.558，故體積縮小、單位重變大。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水的格子同時變：加水使 w 由 8% 升到 16%，S 由 27% 升到 77%。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錨點先求（Ws = γd2·V2），再用 (1+e) 的比值把體積搬到另一個狀態。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壓密沉陷題是同一張圖的另一種包裝：純壓縮不加水時，錨點改取 Vs，Ws 與 Ww 皆不變。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兩狀態搬運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借土、填方、夯實、壓密共用的四條式子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錨點：乾土重不變</a:t>
            </a:r>
            <a:endParaRPr lang="en-US" sz="1300" dirty="0"/>
          </a:p>
        </p:txBody>
      </p:sp>
      <p:pic>
        <p:nvPicPr>
          <p:cNvPr id="7" name="Image 0" descr="formula_imgs/f_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3691" y="1847088"/>
            <a:ext cx="327733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體積換算（由 e 或 γd）</a:t>
            </a:r>
            <a:endParaRPr lang="en-US" sz="1300" dirty="0"/>
          </a:p>
        </p:txBody>
      </p:sp>
      <p:pic>
        <p:nvPicPr>
          <p:cNvPr id="11" name="Image 1" descr="formula_imgs/f_v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48" y="2962656"/>
            <a:ext cx="178822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需加（排）水量</a:t>
            </a:r>
            <a:endParaRPr lang="en-US" sz="1300" dirty="0"/>
          </a:p>
        </p:txBody>
      </p:sp>
      <p:pic>
        <p:nvPicPr>
          <p:cNvPr id="15" name="Image 2" descr="formula_imgs/f_wa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623" y="4078224"/>
            <a:ext cx="663947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重量守恆、體積不守恆</a:t>
            </a:r>
            <a:endParaRPr lang="en-US" sz="1300" dirty="0"/>
          </a:p>
        </p:txBody>
      </p:sp>
      <p:pic>
        <p:nvPicPr>
          <p:cNvPr id="19" name="Image 3" descr="formula_imgs/f_m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909" y="5193792"/>
            <a:ext cx="616290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加水體積 ΔVw = ΔWw/γw 只用來估算灑水車趟次；千萬不要把它加進土方體積去。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高頻陷阱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相對密度：為什麼不能直接對 γd 線性內插？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_u1_fig10_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0989"/>
            <a:ext cx="6501384" cy="41276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的定義建立在孔隙比 e 上，而 e 與 γd 成倒數關係，故 Dr–γd 是曲線不是直線。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本例直接內插得 55.6%，正解 62.5%，差 6.9 個百分點——足以跨越鬆／中等密實的分界。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最安全的做法：先用 e = Gsγw/γd − 1 把三個 γd 全換成 e，再代定義式。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誤算永遠偏低（曲線在直線上方），所以答案偏保守也一樣算錯。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相對密度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Dr 的正確算法與那條不能用的式子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定義式（建立在 e 上）</a:t>
            </a:r>
            <a:endParaRPr lang="en-US" sz="1300" dirty="0"/>
          </a:p>
        </p:txBody>
      </p:sp>
      <p:pic>
        <p:nvPicPr>
          <p:cNvPr id="7" name="Image 0" descr="formula_imgs/f_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487" y="1847088"/>
            <a:ext cx="2111746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→ e 的換算</a:t>
            </a:r>
            <a:endParaRPr lang="en-US" sz="1300" dirty="0"/>
          </a:p>
        </p:txBody>
      </p:sp>
      <p:pic>
        <p:nvPicPr>
          <p:cNvPr id="11" name="Image 1" descr="formula_imgs/f_e_from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76" y="2962656"/>
            <a:ext cx="1572168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直接用 γd 的正確形式</a:t>
            </a:r>
            <a:endParaRPr lang="en-US" sz="1300" dirty="0"/>
          </a:p>
        </p:txBody>
      </p:sp>
      <p:pic>
        <p:nvPicPr>
          <p:cNvPr id="15" name="Image 2" descr="formula_imgs/f_dr_gam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676" y="4078224"/>
            <a:ext cx="127736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考場上最常見的錯式</a:t>
            </a:r>
            <a:endParaRPr lang="en-US" sz="1300" dirty="0"/>
          </a:p>
        </p:txBody>
      </p:sp>
      <p:pic>
        <p:nvPicPr>
          <p:cNvPr id="19" name="Image 3" descr="formula_imgs/f_dr_wro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729" y="5193792"/>
            <a:ext cx="218526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若真要用 γd 形式，注意每一項都是「倒數」，也就是上方第三式；記不住就一律先換成 e。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基本性質與三相關係｜全公式一頁速查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孔隙比／孔隙率</a:t>
            </a:r>
            <a:endParaRPr lang="en-US" sz="1050" dirty="0"/>
          </a:p>
        </p:txBody>
      </p:sp>
      <p:pic>
        <p:nvPicPr>
          <p:cNvPr id="7" name="Image 0" descr="formula_imgs/f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0512"/>
            <a:ext cx="2462022" cy="3292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飽和度</a:t>
            </a:r>
            <a:endParaRPr lang="en-US" sz="1050" dirty="0"/>
          </a:p>
        </p:txBody>
      </p:sp>
      <p:pic>
        <p:nvPicPr>
          <p:cNvPr id="11" name="Image 1" descr="formula_imgs/f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74" y="1938528"/>
            <a:ext cx="1727847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含水量／比重</a:t>
            </a:r>
            <a:endParaRPr lang="en-US" sz="1050" dirty="0"/>
          </a:p>
        </p:txBody>
      </p:sp>
      <p:pic>
        <p:nvPicPr>
          <p:cNvPr id="15" name="Image 2" descr="formula_imgs/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032" y="1938528"/>
            <a:ext cx="1611246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萬用恆等式</a:t>
            </a:r>
            <a:endParaRPr lang="en-US" sz="1050" dirty="0"/>
          </a:p>
        </p:txBody>
      </p:sp>
      <p:pic>
        <p:nvPicPr>
          <p:cNvPr id="19" name="Image 3" descr="formula_imgs/f_bri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619" y="1938528"/>
            <a:ext cx="1352788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孔隙比定義</a:t>
            </a:r>
            <a:endParaRPr lang="en-US" sz="1050" dirty="0"/>
          </a:p>
        </p:txBody>
      </p:sp>
      <p:pic>
        <p:nvPicPr>
          <p:cNvPr id="23" name="Image 4" descr="formula_imgs/f_def_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635" y="2971800"/>
            <a:ext cx="544608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與 e 互換</a:t>
            </a:r>
            <a:endParaRPr lang="en-US" sz="1050" dirty="0"/>
          </a:p>
        </p:txBody>
      </p:sp>
      <p:pic>
        <p:nvPicPr>
          <p:cNvPr id="27" name="Image 5" descr="formula_imgs/f_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2975819"/>
            <a:ext cx="2462022" cy="38515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三種移項</a:t>
            </a:r>
            <a:endParaRPr lang="en-US" sz="1050" dirty="0"/>
          </a:p>
        </p:txBody>
      </p:sp>
      <p:pic>
        <p:nvPicPr>
          <p:cNvPr id="31" name="Image 6" descr="formula_imgs/f_bridge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430" y="2971800"/>
            <a:ext cx="2220449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單位重母式</a:t>
            </a:r>
            <a:endParaRPr lang="en-US" sz="1050" dirty="0"/>
          </a:p>
        </p:txBody>
      </p:sp>
      <p:pic>
        <p:nvPicPr>
          <p:cNvPr id="35" name="Image 7" descr="formula_imgs/f_gmas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3652" y="2971800"/>
            <a:ext cx="1174722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乾單位重</a:t>
            </a:r>
            <a:endParaRPr lang="en-US" sz="1050" dirty="0"/>
          </a:p>
        </p:txBody>
      </p:sp>
      <p:pic>
        <p:nvPicPr>
          <p:cNvPr id="39" name="Image 8" descr="formula_imgs/f_g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92" y="4005072"/>
            <a:ext cx="2259294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濕單位重</a:t>
            </a:r>
            <a:endParaRPr lang="en-US" sz="1050" dirty="0"/>
          </a:p>
        </p:txBody>
      </p:sp>
      <p:pic>
        <p:nvPicPr>
          <p:cNvPr id="43" name="Image 9" descr="formula_imgs/f_g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5195" y="4005072"/>
            <a:ext cx="2274203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飽和單位重</a:t>
            </a:r>
            <a:endParaRPr lang="en-US" sz="1050" dirty="0"/>
          </a:p>
        </p:txBody>
      </p:sp>
      <p:pic>
        <p:nvPicPr>
          <p:cNvPr id="47" name="Image 10" descr="formula_imgs/f_gs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3919" y="4005072"/>
            <a:ext cx="2065472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有效單位重</a:t>
            </a:r>
            <a:endParaRPr lang="en-US" sz="1050" dirty="0"/>
          </a:p>
        </p:txBody>
      </p:sp>
      <p:pic>
        <p:nvPicPr>
          <p:cNvPr id="51" name="Image 11" descr="formula_imgs/f_ge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0365" y="4005072"/>
            <a:ext cx="2121295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大小順序檢核</a:t>
            </a:r>
            <a:endParaRPr lang="en-US" sz="1050" dirty="0"/>
          </a:p>
        </p:txBody>
      </p:sp>
      <p:pic>
        <p:nvPicPr>
          <p:cNvPr id="55" name="Image 12" descr="formula_imgs/f_ord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081639"/>
            <a:ext cx="2462022" cy="306601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兩狀態體積換算</a:t>
            </a:r>
            <a:endParaRPr lang="en-US" sz="1050" dirty="0"/>
          </a:p>
        </p:txBody>
      </p:sp>
      <p:pic>
        <p:nvPicPr>
          <p:cNvPr id="59" name="Image 13" descr="formula_imgs/f_vo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1517" y="5038344"/>
            <a:ext cx="1281560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需加水量</a:t>
            </a:r>
            <a:endParaRPr lang="en-US" sz="1050" dirty="0"/>
          </a:p>
        </p:txBody>
      </p:sp>
      <p:pic>
        <p:nvPicPr>
          <p:cNvPr id="63" name="Image 14" descr="formula_imgs/f_wat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133218"/>
            <a:ext cx="2462022" cy="20344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相對密度定義</a:t>
            </a:r>
            <a:endParaRPr lang="en-US" sz="1050" dirty="0"/>
          </a:p>
        </p:txBody>
      </p:sp>
      <p:pic>
        <p:nvPicPr>
          <p:cNvPr id="67" name="Image 15" descr="formula_imgs/f_d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4304" y="5038344"/>
            <a:ext cx="1513418" cy="393192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457200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9" name="Shape 51"/>
          <p:cNvSpPr/>
          <p:nvPr/>
        </p:nvSpPr>
        <p:spPr>
          <a:xfrm>
            <a:off x="457200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0" name="Text 52"/>
          <p:cNvSpPr/>
          <p:nvPr/>
        </p:nvSpPr>
        <p:spPr>
          <a:xfrm>
            <a:off x="566928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→ e</a:t>
            </a:r>
            <a:endParaRPr lang="en-US" sz="1050" dirty="0"/>
          </a:p>
        </p:txBody>
      </p:sp>
      <p:pic>
        <p:nvPicPr>
          <p:cNvPr id="71" name="Image 16" descr="formula_imgs/f_e_from_g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4579" y="6071616"/>
            <a:ext cx="1126721" cy="393192"/>
          </a:xfrm>
          <a:prstGeom prst="rect">
            <a:avLst/>
          </a:prstGeom>
        </p:spPr>
      </p:pic>
      <p:sp>
        <p:nvSpPr>
          <p:cNvPr id="72" name="Shape 53"/>
          <p:cNvSpPr/>
          <p:nvPr/>
        </p:nvSpPr>
        <p:spPr>
          <a:xfrm>
            <a:off x="3321558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3" name="Shape 54"/>
          <p:cNvSpPr/>
          <p:nvPr/>
        </p:nvSpPr>
        <p:spPr>
          <a:xfrm>
            <a:off x="3321558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4" name="Text 55"/>
          <p:cNvSpPr/>
          <p:nvPr/>
        </p:nvSpPr>
        <p:spPr>
          <a:xfrm>
            <a:off x="3431286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的 γd 形式</a:t>
            </a:r>
            <a:endParaRPr lang="en-US" sz="1050" dirty="0"/>
          </a:p>
        </p:txBody>
      </p:sp>
      <p:pic>
        <p:nvPicPr>
          <p:cNvPr id="75" name="Image 17" descr="formula_imgs/f_dr_gamma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04573" y="6071616"/>
            <a:ext cx="915447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高頻失分陷阱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Dr 直接對 γd 線性內插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定義在 e 上，e 與 γd 成倒數。先把 γd,min、γd,max、γd 全換成 e 再代定義式，本例否則少算 6.9 個百分點。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體積當成守恆量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搬運過程守恆的是重量（借土濕重＋加水＝填方濕重），體積必定改變。兩者混用是借土填方題最大的失分來源。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Vw 與 Ww 混用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Vs = 1 時 Vw = Se（體積）、Ww = Seγw（重量）。少乘或多乘一個 γw 是三相圖計算最常見的錯。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忘記檢核 0 ≤ S ≤ 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S = wGs/e 算出 S &gt; 100%，代表 e 或 w 用錯了狀態的值，不是題目給的數字有問題。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γ′ 忘記扣浮力或扣兩次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水位以下用 γ′ = γsat − γw；若題目已用有效應力計算，就不要再減一次 γw。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夯實題用 γt 比較密實度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γd 與含水量無關，才能當壓實程度指標。壓實度必須以 γd/γd,max 計算，不可用濕單位重。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基本性質與三相關係｜重點回顧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整個單元是一條鏈：物理定義 → 令 Vs = 1 → 填滿六格 → 讀出公式，中間沒有一步需要記憶。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 = wGs 與 n = e/(1+e) 都是代回定義式的必然結果，忘了就花 20 秒重推。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 = wGs 是重量世界與體積世界唯一的橋樑，四個參數給三個就必定案。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單位重只有一條母式，γd、γt、γsat、γ′ 都是它的特例；交卷前用大小順序檢核。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三拍子：找不變量 → 兩狀態搬運 → 守恆律驗算（重量守恆、S ≤ 1、單位重順序）。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2026-09-12T00:33:54Z</dcterms:created>
  <dcterms:modified xsi:type="dcterms:W3CDTF">2026-09-12T00:33:54Z</dcterms:modified>
</cp:coreProperties>
</file>