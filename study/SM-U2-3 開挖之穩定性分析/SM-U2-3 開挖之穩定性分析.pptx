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image" Target="../media/image-25-10.pn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png"/><Relationship Id="rId13" Type="http://schemas.openxmlformats.org/officeDocument/2006/relationships/image" Target="../media/image-25-13.png"/><Relationship Id="rId14" Type="http://schemas.openxmlformats.org/officeDocument/2006/relationships/image" Target="../media/image-25-14.png"/><Relationship Id="rId15" Type="http://schemas.openxmlformats.org/officeDocument/2006/relationships/image" Target="../media/image-25-15.png"/><Relationship Id="rId16" Type="http://schemas.openxmlformats.org/officeDocument/2006/relationships/image" Target="../media/image-25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image" Target="../media/image-26-11.png"/><Relationship Id="rId12" Type="http://schemas.openxmlformats.org/officeDocument/2006/relationships/image" Target="../media/image-26-12.png"/><Relationship Id="rId13" Type="http://schemas.openxmlformats.org/officeDocument/2006/relationships/image" Target="../media/image-26-13.png"/><Relationship Id="rId14" Type="http://schemas.openxmlformats.org/officeDocument/2006/relationships/image" Target="../media/image-26-14.png"/><Relationship Id="rId15" Type="http://schemas.openxmlformats.org/officeDocument/2006/relationships/image" Target="../media/image-26-15.png"/><Relationship Id="rId16" Type="http://schemas.openxmlformats.org/officeDocument/2006/relationships/image" Target="../media/image-26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SM-U2-3　土壤力學｜觀念講義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開挖之穩定性分析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一個開挖，兩個敵人：擋土結構撐不撐得住，與地層自己會不會動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2157984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理解導向 · 不背公式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土壤力學 SM-U2-3 開挖之穩定性分析｜觀念講義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本單元四塊拼圖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 兩個獨立的敵人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結構問題用「力與力矩平衡」；地層問題用「抵抗÷驅動的比值」。第一步永遠是先分清楚考哪一邊。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4496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28816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 土壓力與穩定數 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28816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砂土走有效應力、水壓全額另加；黏土短期 φ=0，淨抵抗 4cu−γH 是常數。Ns = γH/cu 貫穿全單元。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③ 擋土壁三種解法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數橫桿：0 根懸臂解三次方程、1 根分自由端／固定端、多根用 Peck 視土壓力包絡線。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4496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28816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④ 地層四種破壞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28816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基盤隆起、受壓水上舉、砂湧、管湧。每一種的驅動、抵抗、以及「插深有沒有效」都不一樣。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為什麼同一個開挖，要分成兩套完全不同的計算？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exc/diagram_imgs/d1_two_enem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結構側是「平衡」問題：把牆當成一根梁，土壓力是載重，解 ΣF = 0、ΣM = 0，答案是 D、T、Mmax。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地層側是「比值」問題：把抵抗除以驅動得到 FS，答案是一個無因次數字與安不安全的結論。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兩條線互相獨立：牆算得再安全，受壓水層照樣把坑底頂起來；反之亦然。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作答時先在卷上寫下「本題檢核：結構／地層」，公式就不會拿錯。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OVERVIEW · 30 秒讀題決策流程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看到剖面圖，先做這三個動作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0" y="1627632"/>
            <a:ext cx="3291840" cy="777240"/>
          </a:xfrm>
          <a:prstGeom prst="diamond">
            <a:avLst/>
          </a:prstGeom>
          <a:solidFill>
            <a:srgbClr val="1B2A41"/>
          </a:solidFill>
          <a:ln/>
        </p:spPr>
      </p:sp>
      <p:sp>
        <p:nvSpPr>
          <p:cNvPr id="5" name="Text 3"/>
          <p:cNvSpPr/>
          <p:nvPr/>
        </p:nvSpPr>
        <p:spPr>
          <a:xfrm>
            <a:off x="4251960" y="1682496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橫桿（支撐／地錨）有幾根？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60720" y="2404872"/>
            <a:ext cx="-3377184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569208" y="2423160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569208" y="24231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 根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697480"/>
            <a:ext cx="3121152" cy="1389888"/>
          </a:xfrm>
          <a:prstGeom prst="roundRect">
            <a:avLst>
              <a:gd name="adj" fmla="val 4605"/>
            </a:avLst>
          </a:prstGeom>
          <a:solidFill>
            <a:srgbClr val="DCE6F0"/>
          </a:solidFill>
          <a:ln/>
        </p:spPr>
      </p:sp>
      <p:sp>
        <p:nvSpPr>
          <p:cNvPr id="10" name="Text 8"/>
          <p:cNvSpPr/>
          <p:nvPr/>
        </p:nvSpPr>
        <p:spPr>
          <a:xfrm>
            <a:off x="950976" y="2697480"/>
            <a:ext cx="28651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懸臂式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靠樁底旋轉平衡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解三次方程求 DL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60720" y="2404872"/>
            <a:ext cx="0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257800" y="2423160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257800" y="24231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 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0144" y="2697480"/>
            <a:ext cx="3121152" cy="1389888"/>
          </a:xfrm>
          <a:prstGeom prst="roundRect">
            <a:avLst>
              <a:gd name="adj" fmla="val 4605"/>
            </a:avLst>
          </a:prstGeom>
          <a:solidFill>
            <a:srgbClr val="DCE6F0"/>
          </a:solidFill>
          <a:ln/>
        </p:spPr>
      </p:sp>
      <p:sp>
        <p:nvSpPr>
          <p:cNvPr id="15" name="Text 13"/>
          <p:cNvSpPr/>
          <p:nvPr/>
        </p:nvSpPr>
        <p:spPr>
          <a:xfrm>
            <a:off x="4328160" y="2697480"/>
            <a:ext cx="28651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單支撐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樁尖可轉→自由端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樁尖被夾→固定端(Blum)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760720" y="2404872"/>
            <a:ext cx="3377184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946392" y="2423160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946392" y="24231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多根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77328" y="2697480"/>
            <a:ext cx="3121152" cy="1389888"/>
          </a:xfrm>
          <a:prstGeom prst="roundRect">
            <a:avLst>
              <a:gd name="adj" fmla="val 4605"/>
            </a:avLst>
          </a:prstGeom>
          <a:solidFill>
            <a:srgbClr val="DCE6F0"/>
          </a:solidFill>
          <a:ln/>
        </p:spPr>
      </p:sp>
      <p:sp>
        <p:nvSpPr>
          <p:cNvPr id="20" name="Text 18"/>
          <p:cNvSpPr/>
          <p:nvPr/>
        </p:nvSpPr>
        <p:spPr>
          <a:xfrm>
            <a:off x="7705344" y="2697480"/>
            <a:ext cx="28651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多階支撐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拱效應→Peck 包絡線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鉸接法拆各階軸力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383536" y="4087368"/>
            <a:ext cx="3377184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760720" y="4087368"/>
            <a:ext cx="0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37904" y="4087368"/>
            <a:ext cx="-3377184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822960" y="434340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開挖面以下是什麼土？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760720" y="4636008"/>
            <a:ext cx="-2532888" cy="20116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22960" y="4837176"/>
            <a:ext cx="4809744" cy="768096"/>
          </a:xfrm>
          <a:prstGeom prst="roundRect">
            <a:avLst>
              <a:gd name="adj" fmla="val 8333"/>
            </a:avLst>
          </a:prstGeom>
          <a:solidFill>
            <a:srgbClr val="DCE6F0"/>
          </a:solidFill>
          <a:ln/>
        </p:spPr>
      </p:sp>
      <p:sp>
        <p:nvSpPr>
          <p:cNvPr id="27" name="Text 25"/>
          <p:cNvSpPr/>
          <p:nvPr/>
        </p:nvSpPr>
        <p:spPr>
          <a:xfrm>
            <a:off x="950976" y="4837176"/>
            <a:ext cx="45537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砂土：有效應力 γ′、被動抵抗隨深度線性成長；水壓 K=1 全額另加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760720" y="4636008"/>
            <a:ext cx="2532888" cy="20116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888736" y="4837176"/>
            <a:ext cx="4809744" cy="768096"/>
          </a:xfrm>
          <a:prstGeom prst="roundRect">
            <a:avLst>
              <a:gd name="adj" fmla="val 8333"/>
            </a:avLst>
          </a:prstGeom>
          <a:solidFill>
            <a:srgbClr val="DCE6F0"/>
          </a:solidFill>
          <a:ln/>
        </p:spPr>
      </p:sp>
      <p:sp>
        <p:nvSpPr>
          <p:cNvPr id="30" name="Text 28"/>
          <p:cNvSpPr/>
          <p:nvPr/>
        </p:nvSpPr>
        <p:spPr>
          <a:xfrm>
            <a:off x="6016752" y="4837176"/>
            <a:ext cx="45537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黏土：φ=0 總應力法，先算 Ns=γH/cu，決定抵抗有無與包絡線型式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227832" y="5605272"/>
            <a:ext cx="2532888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293608" y="5605272"/>
            <a:ext cx="-2532888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22960" y="5861304"/>
            <a:ext cx="9875520" cy="512064"/>
          </a:xfrm>
          <a:prstGeom prst="roundRect">
            <a:avLst>
              <a:gd name="adj" fmla="val 14286"/>
            </a:avLst>
          </a:prstGeom>
          <a:solidFill>
            <a:srgbClr val="E8734A"/>
          </a:solidFill>
          <a:ln/>
        </p:spPr>
      </p:sp>
      <p:sp>
        <p:nvSpPr>
          <p:cNvPr id="34" name="Text 32"/>
          <p:cNvSpPr/>
          <p:nvPr/>
        </p:nvSpPr>
        <p:spPr>
          <a:xfrm>
            <a:off x="1097280" y="5861304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有水位差或下方有受壓層 → 必須另外檢核砂湧、管湧與受壓水上舉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「鋼板樁插深一點」到底有沒有用？看開挖面以下是什麼土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exc/diagram_imgs/d2_sand_vs_c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306" y="1892808"/>
            <a:ext cx="5662389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砂土：淨被動壓力 (Kp−Ka)γ′z 隨深度線性成長，抵抗力矩大約與 D² ~ D³ 成正比 —— 插深很有效。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黏土 φ=0：淨壓力 4cu − γH 與深度無關，是一個矩形常數。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所以當 4cu ≤ γH（Ns ≥ 4），淨抵抗歸零甚至為負，再深都補不回來，必須改用地改或分階開挖。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這一頁是整個單元最關鍵的判斷：先看土質，再決定「加深」是不是有效對策。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土壓力基礎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開挖題會用到的土壓力四條式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Rankine 土壓力係數</a:t>
            </a:r>
            <a:endParaRPr lang="en-US" sz="1300" dirty="0"/>
          </a:p>
        </p:txBody>
      </p:sp>
      <p:pic>
        <p:nvPicPr>
          <p:cNvPr id="7" name="Image 0" descr="formula_imgs/e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8701" y="1847088"/>
            <a:ext cx="5607317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黏土短期（φ = 0）</a:t>
            </a:r>
            <a:endParaRPr lang="en-US" sz="1300" dirty="0"/>
          </a:p>
        </p:txBody>
      </p:sp>
      <p:pic>
        <p:nvPicPr>
          <p:cNvPr id="11" name="Image 1" descr="formula_imgs/e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155" y="2962656"/>
            <a:ext cx="6296409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開挖面以下淨被動壓力</a:t>
            </a:r>
            <a:endParaRPr lang="en-US" sz="1300" dirty="0"/>
          </a:p>
        </p:txBody>
      </p:sp>
      <p:pic>
        <p:nvPicPr>
          <p:cNvPr id="15" name="Image 2" descr="formula_imgs/e0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342" y="4078224"/>
            <a:ext cx="5816036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有效應力與水壓</a:t>
            </a:r>
            <a:endParaRPr lang="en-US" sz="1300" dirty="0"/>
          </a:p>
        </p:txBody>
      </p:sp>
      <p:pic>
        <p:nvPicPr>
          <p:cNvPr id="19" name="Image 3" descr="formula_imgs/e0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8747" y="5193792"/>
            <a:ext cx="6607227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黏土主動壓力上方會出現負值（張力裂縫深度 z0 = 2cu/γ）；考試若未特別說明，張力區土壓力多以 0 計並視需要考慮裂縫積水。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一個 Ns 決定三件事：抵抗、包絡線型式、隆起風險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exc/diagram_imgs/d3_stability_nu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Ns = γH/cu 是「開挖造成的應力」除以「黏土的強度」，本質上就是一個需求／供給比。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把淨壓力式除以 cu 就得到 pnet/cu = 4 − Ns，Ns = 4 正是抵抗歸零的臨界點。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Peck 包絡線也用同一個 Ns 分型：Ns &gt; 4 走軟～中等黏土梯形，Ns ≤ 4 走硬黏土梯形。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Ns 越大代表「這個深度對這種黏土來說太深了」，隆起與變形風險同步升高。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土壓力乘 K，水壓力不乘 K —— 一個 K 值差了一半的側向力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exc/diagram_imgs/d4_soil_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土顆粒有摩擦角，側向傳遞會打折，所以乘 Ka 或 Kp；水沒有剪力強度，各向同性，K 恆等於 1。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正確作法是「有效土壓三角形」與「水壓三角形」分開畫，再疊加成階梯狀的合成圖。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γsat 直接乘 Ka 會嚴重低估側向力（本例低估 51 %），是考場最常見的致命錯誤。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坑內外有水位差時，牆上作用的是「淨水壓」，記得把兩側水壓相減後再疊加。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懸臂式：沒有支撐，只剩「土壓力自己對自己取矩」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exc/diagram_imgs/d5_cantile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牆繞樁底附近的 O 點旋轉，所以 O 點以下主動與被動左右互換，淨壓力圖會翻邊。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嚴謹解需解四次方程；簡化法把樁底反力 R 併入並僅對樁底取矩，直接得到 Kp D³ = Ka (H+D)³。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開三次方後 D/(H+D) = (Ka/Kp)^(1/3)，這是一個只跟 φ 有關的固定比例。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算出的 DL 對應 FS = 1，必須再乘 1.2~1.3（或把 Kp 除以 FS 重算）才是設計值。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懸臂式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懸臂式貫入深度：一條三次方程解決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對樁底取矩（簡化法）</a:t>
            </a:r>
            <a:endParaRPr lang="en-US" sz="1300" dirty="0"/>
          </a:p>
        </p:txBody>
      </p:sp>
      <p:pic>
        <p:nvPicPr>
          <p:cNvPr id="7" name="Image 0" descr="formula_imgs/e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5807" y="1847088"/>
            <a:ext cx="3313105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開三次方得臨界深度</a:t>
            </a:r>
            <a:endParaRPr lang="en-US" sz="1300" dirty="0"/>
          </a:p>
        </p:txBody>
      </p:sp>
      <p:pic>
        <p:nvPicPr>
          <p:cNvPr id="11" name="Image 1" descr="formula_imgs/e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219" y="2962656"/>
            <a:ext cx="2578281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設計貫入深度</a:t>
            </a:r>
            <a:endParaRPr lang="en-US" sz="1300" dirty="0"/>
          </a:p>
        </p:txBody>
      </p:sp>
      <p:pic>
        <p:nvPicPr>
          <p:cNvPr id="15" name="Image 2" descr="formula_imgs/e1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5204" y="4078224"/>
            <a:ext cx="5314311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黏土 φ = 0 的簡化</a:t>
            </a:r>
            <a:endParaRPr lang="en-US" sz="1300" dirty="0"/>
          </a:p>
        </p:txBody>
      </p:sp>
      <p:pic>
        <p:nvPicPr>
          <p:cNvPr id="19" name="Image 3" descr="formula_imgs/e1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1241" y="5193792"/>
            <a:ext cx="4022238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黏土的分母 4cu − γH 必須為正；若 Ns ≥ 4 則此式無解，代表懸臂式在該地層根本不可行。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①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微型例題：懸臂鋼板樁的貫入深度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 = 3 m、乾砂 γ = 18 kN/m³、φ = 30°，求設計貫入深度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SM-U2-3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懸臂式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 = 3 m 乾砂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2706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3490722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Ka = 1/3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Kp = 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22492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3" name="Text 11"/>
          <p:cNvSpPr/>
          <p:nvPr/>
        </p:nvSpPr>
        <p:spPr>
          <a:xfrm>
            <a:off x="6350508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對樁底取矩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KpD³ = Ka(H+D)³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82278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9210294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D/(H+D)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(1/9)^(1/3)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82278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9210294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0.4807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22492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6350508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 = 0.4807×3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÷ (1−0.4807)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62706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3490722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DL = 2.78 m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(FS = 1)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再乘 1.2~1.3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06674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66460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8262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384155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822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222492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362706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80479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02920" y="4032504"/>
            <a:ext cx="2603754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" y="4032504"/>
            <a:ext cx="234772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D ≈ 3.3~3.6 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取 3.6 m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3380994" y="4032504"/>
            <a:ext cx="8305038" cy="749808"/>
          </a:xfrm>
          <a:prstGeom prst="roundRect">
            <a:avLst>
              <a:gd name="adj" fmla="val 9756"/>
            </a:avLst>
          </a:prstGeom>
          <a:solidFill>
            <a:srgbClr val="DCE6F0"/>
          </a:solidFill>
          <a:ln w="15875">
            <a:solidFill>
              <a:srgbClr val="4C6B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63874" y="4032504"/>
            <a:ext cx="79392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為什麼是三次方？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主動力臂 ∝ (H+D)、被動力臂 ∝ D，力本身各為 (H+D)² 與 D²，相乘後兩邊都是三次式，開立方即得固定比例。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三個必做的檢查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9" name="Text 37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乾砂才沒水壓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有地下水要改 γ′ 並外加水壓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1" name="Text 39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DL 不是答案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務必再乘 1.2~1.3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3" name="Text 41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黏土要先驗 Ns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Ns≥4 此法失效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單支撐：樁尖「能不能轉」，決定用自由端還是固定端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exc/diagram_imgs/d6_single_str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自由端假設樁尖可自由轉動（插得淺或插在軟弱層），全段只有正彎矩，Mmax 大、斷面要大。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固定端假設樁尖被夾住（插得深、插入緊密層），出現負彎矩與反曲點，Mmax 小但 D 要加深約 20~30 %。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固定端用 Blum 等值梁法：在反曲點（M = 0）切開，上半段當簡支梁解 T，下半段回求 D。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自由端的標準解法：對支撐點取矩 ΣM = 0 求 D，再由 ΣF = 0 求 T —— 順序不能顛倒。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單支撐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自由端支撐法：兩條平衡方程搞定 D 與 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對支撐點取矩求 D</a:t>
            </a:r>
            <a:endParaRPr lang="en-US" sz="1300" dirty="0"/>
          </a:p>
        </p:txBody>
      </p:sp>
      <p:pic>
        <p:nvPicPr>
          <p:cNvPr id="7" name="Image 0" descr="formula_imgs/e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3045" y="1847088"/>
            <a:ext cx="4778631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水平力平衡求 T</a:t>
            </a:r>
            <a:endParaRPr lang="en-US" sz="1300" dirty="0"/>
          </a:p>
        </p:txBody>
      </p:sp>
      <p:pic>
        <p:nvPicPr>
          <p:cNvPr id="11" name="Image 1" descr="formula_imgs/e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556" y="2962656"/>
            <a:ext cx="5111609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換算單根支撐軸力</a:t>
            </a:r>
            <a:endParaRPr lang="en-US" sz="1300" dirty="0"/>
          </a:p>
        </p:txBody>
      </p:sp>
      <p:pic>
        <p:nvPicPr>
          <p:cNvPr id="15" name="Image 2" descr="formula_imgs/e1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348" y="4078224"/>
            <a:ext cx="6690024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牆體斷面設計</a:t>
            </a:r>
            <a:endParaRPr lang="en-US" sz="1300" dirty="0"/>
          </a:p>
        </p:txBody>
      </p:sp>
      <p:pic>
        <p:nvPicPr>
          <p:cNvPr id="19" name="Image 3" descr="formula_imgs/e1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3931" y="5193792"/>
            <a:ext cx="3296858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Mmax 發生在剪力為零的深度；固定端法則改用 Blum 等值梁，在反曲點切開後分段求解。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②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微型例題：單支撐自由端求 D 與 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 = 6 m、地錨位於 GL−1.5 m、乾砂 γ = 18 kN/m³、φ = 30°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SM-U2-3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單支撐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自由端法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2706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3490722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 = ½γKa(H+D)²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Pp = ½γKpD²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22492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3" name="Text 11"/>
          <p:cNvSpPr/>
          <p:nvPr/>
        </p:nvSpPr>
        <p:spPr>
          <a:xfrm>
            <a:off x="6350508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對地錨取矩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ΣM = 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82278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9210294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主動力臂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⅔(H+D) − 1.5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82278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9210294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被動力臂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 + ⅔D − 1.5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22492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6350508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解方程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D = 2.24 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62706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3490722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 = 203.8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Pp = 135.8 kN/m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 = Pa − Pp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06674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66460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8262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384155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822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222492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362706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80479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02920" y="4032504"/>
            <a:ext cx="2603754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" y="4032504"/>
            <a:ext cx="234772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T = 68.0 kN/m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D設計 ≈ 2.9 m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3380994" y="4032504"/>
            <a:ext cx="8305038" cy="749808"/>
          </a:xfrm>
          <a:prstGeom prst="roundRect">
            <a:avLst>
              <a:gd name="adj" fmla="val 9756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63874" y="4032504"/>
            <a:ext cx="79392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順序不要顛倒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先取矩解出 D（一個未知數一條方程），再用水平力平衡求 T；若先求 T 會出現兩個未知數而無解。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三個必做的檢查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9" name="Text 37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力臂量到支撐點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不是量到地表或坑底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1" name="Text 39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 同樣要乘 FS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×1.2~1.3 或 Kp/FS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3" name="Text 41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 要再乘間距 s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kN/m → 單根 kN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多階支撐為什麼不用三角形？因為拱效應把壓力往上推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exc/diagram_imgs/d7_p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施工是「挖一層、撐一層」，頂部先被撐住幾乎不動，中下部才變形，壓力因此被「拱」回上方。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Peck 包絡線是把許多實測支撐力畫在一起後取的外包線，屬於經驗設計圖，不是真實應力分佈。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砂土用矩形 0.65γHKa；黏土依 Ns 分型，Ns &gt; 4 用軟～中等黏土梯形，Ns ≤ 4 用硬黏土梯形。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因為是外包線，它只保證支撐力偏安全，拿去算牆體彎矩會過度保守、算貫入深度更是無意義。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Peck 視土壓力包絡線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三種地層、三條包絡線，加上一條軸力換算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砂土（矩形）</a:t>
            </a:r>
            <a:endParaRPr lang="en-US" sz="1300" dirty="0"/>
          </a:p>
        </p:txBody>
      </p:sp>
      <p:pic>
        <p:nvPicPr>
          <p:cNvPr id="7" name="Image 0" descr="formula_imgs/e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1607" y="1847088"/>
            <a:ext cx="4101507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軟～中等黏土（Ns &gt; 4）</a:t>
            </a:r>
            <a:endParaRPr lang="en-US" sz="1300" dirty="0"/>
          </a:p>
        </p:txBody>
      </p:sp>
      <p:pic>
        <p:nvPicPr>
          <p:cNvPr id="11" name="Image 1" descr="formula_imgs/e1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420" y="2962656"/>
            <a:ext cx="7017880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硬黏土（Ns ≤ 4）</a:t>
            </a:r>
            <a:endParaRPr lang="en-US" sz="1300" dirty="0"/>
          </a:p>
        </p:txBody>
      </p:sp>
      <p:pic>
        <p:nvPicPr>
          <p:cNvPr id="15" name="Image 2" descr="formula_imgs/e2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6847" y="4078224"/>
            <a:ext cx="6851026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支撐軸力換算</a:t>
            </a:r>
            <a:endParaRPr lang="en-US" sz="1300" dirty="0"/>
          </a:p>
        </p:txBody>
      </p:sp>
      <p:pic>
        <p:nvPicPr>
          <p:cNvPr id="19" name="Image 3" descr="formula_imgs/e2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2753" y="5193792"/>
            <a:ext cx="4419214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深厚軟弱黏土層可再乘修正係數 m ≈ 0.4；各階分擔高度用鉸接法（假設除頂、底段外，各支撐處為鉸）決定。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③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微型例題：Peck 包絡線求第一階支撐軸力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 = 10 m 砂土、γ = 18 kN/m³、φ = 32°；支撐於 2 / 5 / 8 m，水平間距 s = 4 m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SM-U2-3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多階支撐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砂土 H = 10 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2706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3490722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Ka = tan²(29°)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0.307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22492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3" name="Text 11"/>
          <p:cNvSpPr/>
          <p:nvPr/>
        </p:nvSpPr>
        <p:spPr>
          <a:xfrm>
            <a:off x="6350508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 = 0.65γHKa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35.95 kPa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82278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9210294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矩形包絡線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全深等值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82278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9210294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鉸接法：頂段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0~5 m，支點 2 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22492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6350508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 5 m 處取矩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R₁×3 = 5σ×2.5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62706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3490722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R₁ = 4.167σ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149.8 kN/m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再乘間距 s = 4 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06674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66460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8262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384155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822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222492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362706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80479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02920" y="4032504"/>
            <a:ext cx="2603754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" y="4032504"/>
            <a:ext cx="234772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P₁ = 599 kN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(單根軸力)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3380994" y="4032504"/>
            <a:ext cx="8305038" cy="749808"/>
          </a:xfrm>
          <a:prstGeom prst="roundRect">
            <a:avLst>
              <a:gd name="adj" fmla="val 9756"/>
            </a:avLst>
          </a:prstGeom>
          <a:solidFill>
            <a:srgbClr val="DCE6F0"/>
          </a:solidFill>
          <a:ln w="15875">
            <a:solidFill>
              <a:srgbClr val="4C6B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63874" y="4032504"/>
            <a:ext cx="79392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鉸接法在做什麼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假設除最頂與最底段外，各支撐位置為鉸接，把連續牆拆成一段段簡支梁（頂段帶懸臂），各段反力相加即該階支撐力。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三個必做的檢查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9" name="Text 37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務必乘 s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忘了就少了一個量綱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1" name="Text 39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不可算彎矩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包絡線只給支撐力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3" name="Text 41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黏土先算 Ns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決定用哪一型梯形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基盤隆起：把承載力破壞的圖倒過來看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exc/diagram_imgs/d8_he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306" y="1892808"/>
            <a:ext cx="5662389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驅動力是牆背整根土柱的重量 γH + q，等同作用在「虛擬基礎」上的載重。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抵抗則是開挖面以下黏土的不排水剪力強度，寫成承載力形式就是 Nc·cu。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破壞面繞過壁底整體滑動，所以加深貫入只微幅拉長滑動面，對 FS 幾乎沒有幫助。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有效對策是地盤改良（升 cu）與分階開挖／坑外禁止堆載（降 H、q）。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分子的 cu 必須取開挖面以下破壞面所在土層，不是開挖面以上的 cu —— 這是最常見的失分點。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受壓水上舉：這一種，插得再深也完全沒用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exc/diagram_imgs/d9_blow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驅動是受壓砂層的靜水壓 γw·hw，作用在整片黏土層底面；抵抗只有殘留黏土層的自重 γt·t。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貫入深度不改變受壓水頭，也切不斷水壓，所以加深連續壁與加設支撐都是零分答案。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唯一有效對策是深井抽水降低 hw；退一步則是少挖一點、留厚一點 t。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hw 是從受壓砂層頂面量到測壓管水位，不是從地表量 —— 量錯位置整題就錯。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④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④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微型例題：受壓水上舉檢核與需要的降水量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開挖至 GL−8 m，坑底下方尚有 t = 3 m 黏土（γt = 18）；其下受壓砂層水頭達 GL−2 m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SM-U2-3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受壓水上舉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2706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3490722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砂層頂面在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GL−11 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22492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3" name="Text 11"/>
          <p:cNvSpPr/>
          <p:nvPr/>
        </p:nvSpPr>
        <p:spPr>
          <a:xfrm>
            <a:off x="6350508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hw = 11 − 2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9 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82278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9210294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 = γw hw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88.3 kPa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82278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9210294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抵抗 = γt t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18×3 = 54 kPa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22492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6350508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FS = 54 / 88.3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0.61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62706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3490722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0.61 &lt; 1.2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不安全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降水：hw,req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54/(1.2×9.81)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06674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66460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8262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384155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822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222492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362706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80479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02920" y="4032504"/>
            <a:ext cx="2603754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" y="4032504"/>
            <a:ext cx="234772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hw ≤ 4.59 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需降 4.4 m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3380994" y="4032504"/>
            <a:ext cx="8305038" cy="749808"/>
          </a:xfrm>
          <a:prstGeom prst="roundRect">
            <a:avLst>
              <a:gd name="adj" fmla="val 9756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63874" y="4032504"/>
            <a:ext cx="79392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不要去畫流網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這是靜水壓平衡，不是滲流問題；出現 icr、i 或流網的計算就代表判錯題型了。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三個必做的檢查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9" name="Text 37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hw 量測基準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從砂層頂面起算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1" name="Text 39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FS 要求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常取 1.1~1.2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3" name="Text 41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對策只有降水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插深、支撐皆無效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砂湧：向上滲流把有效應力沖成零（這一種插深有效）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exc/diagram_imgs/d10_boi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向上滲流產生的滲透力抵銷了土的浮重量，當 i 達到 icr = γ′/γw 時有效應力歸零，砂粒失去強度。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插深之所以有效，是因為它拉長了滲流路徑 L，讓出口坡降 i = Δh/L 下降。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考試若未給流網，用最短路徑 L ≈ 2D 近似；較嚴謹則用 Terzaghi 寬 D/2 棱柱法。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管湧是沿弱面逐粒沖刷的漸進破壞，用 Lane 潛變比檢核，防治靠濾層與止水帷幕。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地層穩定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地層側的三條安全係數：全部都是「抵抗 ÷ 驅動」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基盤隆起</a:t>
            </a:r>
            <a:endParaRPr lang="en-US" sz="1300" dirty="0"/>
          </a:p>
        </p:txBody>
      </p:sp>
      <p:pic>
        <p:nvPicPr>
          <p:cNvPr id="7" name="Image 0" descr="formula_imgs/e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9167" y="1847088"/>
            <a:ext cx="1866386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受壓水上舉</a:t>
            </a:r>
            <a:endParaRPr lang="en-US" sz="1300" dirty="0"/>
          </a:p>
        </p:txBody>
      </p:sp>
      <p:pic>
        <p:nvPicPr>
          <p:cNvPr id="11" name="Image 1" descr="formula_imgs/e2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272" y="2962656"/>
            <a:ext cx="1634175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臨界水力坡降</a:t>
            </a:r>
            <a:endParaRPr lang="en-US" sz="1300" dirty="0"/>
          </a:p>
        </p:txBody>
      </p:sp>
      <p:pic>
        <p:nvPicPr>
          <p:cNvPr id="15" name="Image 2" descr="formula_imgs/e2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165" y="4078224"/>
            <a:ext cx="3232390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砂湧</a:t>
            </a:r>
            <a:endParaRPr lang="en-US" sz="1300" dirty="0"/>
          </a:p>
        </p:txBody>
      </p:sp>
      <p:pic>
        <p:nvPicPr>
          <p:cNvPr id="19" name="Image 3" descr="formula_imgs/e2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7492" y="5193792"/>
            <a:ext cx="2829736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三條式的分母（驅動）分別是土重、水壓、滲流坡降；分子（抵抗）分別是剪力強度、覆土重、臨界坡降。把「誰在驅動」想清楚，公式就不會拿錯。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KNOWLEDGE CARD · 一頁對照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四種地層破壞模式：驅動、抵抗、公式、插深有沒有效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651760"/>
                <a:gridCol w="2651760"/>
                <a:gridCol w="256032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破壞模式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驅動力（分母）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抵抗力（分子）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安全係數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插深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基盤隆起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牆背土柱重 γH + q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坑底黏土強度 Nc·cu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FS = Nc·cu /(γH + q)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幾乎無效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受壓水上舉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受壓層水壓 γw·hw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殘留不透水層重 γt·t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FS = γt·t /(γw·hw)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完全無效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砂湧 Boiling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出口坡降 i = Δh / L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臨界坡降 icr = γ′/γw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FS = icr / iexit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有效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管湧 Piping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滲流沿弱面沖刷顆粒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滲流路徑長度（潛變比）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Cw =(ΣLv+ΣLh/3)/Δh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有效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對策題怎麼寫才拿得到分數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/home/claude/exc/diagram_imgs/d11_countermeasu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同一句「加深連續壁」，在砂湧是滿分、在基盤隆起只拿一點點、在受壓水上舉是零分。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答題順序照成本走：先降驅動（降水、卸載、分階），再升抵抗（加深、加撐、地改）。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降水同時降低 hw 與 Δh，一次改善上舉與砂湧兩項，通常是 CP 值最高的第一招。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結尾補一句監測與緊急應變（水位觀測井、傾斜管、支撐應變計、回填），是申論題的加分句。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 (1/2)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土壓力基礎與擋土壁結構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Rankine 係數</a:t>
            </a:r>
            <a:endParaRPr lang="en-US" sz="1050" dirty="0"/>
          </a:p>
        </p:txBody>
      </p:sp>
      <p:pic>
        <p:nvPicPr>
          <p:cNvPr id="7" name="Image 0" descr="formula_imgs/e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143836"/>
            <a:ext cx="2462022" cy="24089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21558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3321558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3431286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土壓力通式</a:t>
            </a:r>
            <a:endParaRPr lang="en-US" sz="1050" dirty="0"/>
          </a:p>
        </p:txBody>
      </p:sp>
      <p:pic>
        <p:nvPicPr>
          <p:cNvPr id="11" name="Image 1" descr="formula_imgs/e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286" y="2156139"/>
            <a:ext cx="2462022" cy="2162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85916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6185916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6295644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有效應力與水壓</a:t>
            </a:r>
            <a:endParaRPr lang="en-US" sz="1050" dirty="0"/>
          </a:p>
        </p:txBody>
      </p:sp>
      <p:pic>
        <p:nvPicPr>
          <p:cNvPr id="15" name="Image 2" descr="formula_imgs/e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644" y="2162064"/>
            <a:ext cx="2462022" cy="204437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50274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9050274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9160002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黏土 φ = 0</a:t>
            </a:r>
            <a:endParaRPr lang="en-US" sz="1050" dirty="0"/>
          </a:p>
        </p:txBody>
      </p:sp>
      <p:pic>
        <p:nvPicPr>
          <p:cNvPr id="19" name="Image 3" descr="formula_imgs/e0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0002" y="2157018"/>
            <a:ext cx="2462022" cy="214529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淨被動壓力</a:t>
            </a:r>
            <a:endParaRPr lang="en-US" sz="1050" dirty="0"/>
          </a:p>
        </p:txBody>
      </p:sp>
      <p:pic>
        <p:nvPicPr>
          <p:cNvPr id="23" name="Image 4" descr="formula_imgs/e0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439749"/>
            <a:ext cx="2462022" cy="232248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321558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3321558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3431286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穩定數 Ns</a:t>
            </a:r>
            <a:endParaRPr lang="en-US" sz="1050" dirty="0"/>
          </a:p>
        </p:txBody>
      </p:sp>
      <p:pic>
        <p:nvPicPr>
          <p:cNvPr id="27" name="Image 5" descr="formula_imgs/e0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1286" y="3372269"/>
            <a:ext cx="2462022" cy="367208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185916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6185916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6295644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張力裂縫深度</a:t>
            </a:r>
            <a:endParaRPr lang="en-US" sz="1050" dirty="0"/>
          </a:p>
        </p:txBody>
      </p:sp>
      <p:pic>
        <p:nvPicPr>
          <p:cNvPr id="31" name="Image 6" descr="formula_imgs/e0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5644" y="3358403"/>
            <a:ext cx="2462022" cy="394941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9050274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9050274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9160002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兩套核心邏輯</a:t>
            </a:r>
            <a:endParaRPr lang="en-US" sz="1050" dirty="0"/>
          </a:p>
        </p:txBody>
      </p:sp>
      <p:pic>
        <p:nvPicPr>
          <p:cNvPr id="35" name="Image 7" descr="formula_imgs/e0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0002" y="3368773"/>
            <a:ext cx="2462022" cy="374199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457200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457200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566928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懸臂取矩</a:t>
            </a:r>
            <a:endParaRPr lang="en-US" sz="1050" dirty="0"/>
          </a:p>
        </p:txBody>
      </p:sp>
      <p:pic>
        <p:nvPicPr>
          <p:cNvPr id="39" name="Image 8" descr="formula_imgs/e09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4643611"/>
            <a:ext cx="2462022" cy="407703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3321558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3321558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3431286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懸臂臨界深度</a:t>
            </a:r>
            <a:endParaRPr lang="en-US" sz="1050" dirty="0"/>
          </a:p>
        </p:txBody>
      </p:sp>
      <p:pic>
        <p:nvPicPr>
          <p:cNvPr id="43" name="Image 9" descr="formula_imgs/e1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31286" y="4585513"/>
            <a:ext cx="2462022" cy="523901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185916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6185916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6295644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設計貫入深度</a:t>
            </a:r>
            <a:endParaRPr lang="en-US" sz="1050" dirty="0"/>
          </a:p>
        </p:txBody>
      </p:sp>
      <p:pic>
        <p:nvPicPr>
          <p:cNvPr id="47" name="Image 10" descr="formula_imgs/e1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5644" y="4720376"/>
            <a:ext cx="2462022" cy="254175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9050274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9050274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9160002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懸臂（黏土）</a:t>
            </a:r>
            <a:endParaRPr lang="en-US" sz="1050" dirty="0"/>
          </a:p>
        </p:txBody>
      </p:sp>
      <p:pic>
        <p:nvPicPr>
          <p:cNvPr id="51" name="Image 11" descr="formula_imgs/e12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60002" y="4679551"/>
            <a:ext cx="2462022" cy="335824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457200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3" name="Shape 39"/>
          <p:cNvSpPr/>
          <p:nvPr/>
        </p:nvSpPr>
        <p:spPr>
          <a:xfrm>
            <a:off x="457200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4" name="Text 40"/>
          <p:cNvSpPr/>
          <p:nvPr/>
        </p:nvSpPr>
        <p:spPr>
          <a:xfrm>
            <a:off x="566928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自由端取矩</a:t>
            </a:r>
            <a:endParaRPr lang="en-US" sz="1050" dirty="0"/>
          </a:p>
        </p:txBody>
      </p:sp>
      <p:pic>
        <p:nvPicPr>
          <p:cNvPr id="55" name="Image 12" descr="formula_imgs/e13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6928" y="5997719"/>
            <a:ext cx="2462022" cy="282668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3321558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7" name="Shape 42"/>
          <p:cNvSpPr/>
          <p:nvPr/>
        </p:nvSpPr>
        <p:spPr>
          <a:xfrm>
            <a:off x="3321558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8" name="Text 43"/>
          <p:cNvSpPr/>
          <p:nvPr/>
        </p:nvSpPr>
        <p:spPr>
          <a:xfrm>
            <a:off x="3431286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支撐力（每延米）</a:t>
            </a:r>
            <a:endParaRPr lang="en-US" sz="1050" dirty="0"/>
          </a:p>
        </p:txBody>
      </p:sp>
      <p:pic>
        <p:nvPicPr>
          <p:cNvPr id="59" name="Image 13" descr="formula_imgs/e14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31286" y="6006926"/>
            <a:ext cx="2462022" cy="264254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6185916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61" name="Shape 45"/>
          <p:cNvSpPr/>
          <p:nvPr/>
        </p:nvSpPr>
        <p:spPr>
          <a:xfrm>
            <a:off x="6185916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2" name="Text 46"/>
          <p:cNvSpPr/>
          <p:nvPr/>
        </p:nvSpPr>
        <p:spPr>
          <a:xfrm>
            <a:off x="6295644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單根支撐軸力</a:t>
            </a:r>
            <a:endParaRPr lang="en-US" sz="1050" dirty="0"/>
          </a:p>
        </p:txBody>
      </p:sp>
      <p:pic>
        <p:nvPicPr>
          <p:cNvPr id="63" name="Image 14" descr="formula_imgs/e15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95644" y="6038099"/>
            <a:ext cx="2462022" cy="201907"/>
          </a:xfrm>
          <a:prstGeom prst="rect">
            <a:avLst/>
          </a:prstGeom>
        </p:spPr>
      </p:pic>
      <p:sp>
        <p:nvSpPr>
          <p:cNvPr id="64" name="Shape 47"/>
          <p:cNvSpPr/>
          <p:nvPr/>
        </p:nvSpPr>
        <p:spPr>
          <a:xfrm>
            <a:off x="9050274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65" name="Shape 48"/>
          <p:cNvSpPr/>
          <p:nvPr/>
        </p:nvSpPr>
        <p:spPr>
          <a:xfrm>
            <a:off x="9050274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6" name="Text 49"/>
          <p:cNvSpPr/>
          <p:nvPr/>
        </p:nvSpPr>
        <p:spPr>
          <a:xfrm>
            <a:off x="9160002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牆體斷面</a:t>
            </a:r>
            <a:endParaRPr lang="en-US" sz="1050" dirty="0"/>
          </a:p>
        </p:txBody>
      </p:sp>
      <p:pic>
        <p:nvPicPr>
          <p:cNvPr id="67" name="Image 15" descr="formula_imgs/e16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60002" y="5934197"/>
            <a:ext cx="2462022" cy="40971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 (2/2)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多階支撐與地層穩定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Blum 等值梁</a:t>
            </a:r>
            <a:endParaRPr lang="en-US" sz="1050" dirty="0"/>
          </a:p>
        </p:txBody>
      </p:sp>
      <p:pic>
        <p:nvPicPr>
          <p:cNvPr id="7" name="Image 0" descr="formula_imgs/e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185833"/>
            <a:ext cx="2462022" cy="156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21558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3321558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3431286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Peck｜砂土</a:t>
            </a:r>
            <a:endParaRPr lang="en-US" sz="1050" dirty="0"/>
          </a:p>
        </p:txBody>
      </p:sp>
      <p:pic>
        <p:nvPicPr>
          <p:cNvPr id="11" name="Image 1" descr="formula_imgs/e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286" y="2099616"/>
            <a:ext cx="2462022" cy="32933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85916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6185916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6295644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Peck｜軟中黏土</a:t>
            </a:r>
            <a:endParaRPr lang="en-US" sz="1050" dirty="0"/>
          </a:p>
        </p:txBody>
      </p:sp>
      <p:pic>
        <p:nvPicPr>
          <p:cNvPr id="15" name="Image 2" descr="formula_imgs/e1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644" y="2168046"/>
            <a:ext cx="2462022" cy="19247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50274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9050274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9160002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Peck｜硬黏土</a:t>
            </a:r>
            <a:endParaRPr lang="en-US" sz="1050" dirty="0"/>
          </a:p>
        </p:txBody>
      </p:sp>
      <p:pic>
        <p:nvPicPr>
          <p:cNvPr id="19" name="Image 3" descr="formula_imgs/e2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0002" y="2165702"/>
            <a:ext cx="2462022" cy="19716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支撐軸力換算</a:t>
            </a:r>
            <a:endParaRPr lang="en-US" sz="1050" dirty="0"/>
          </a:p>
        </p:txBody>
      </p:sp>
      <p:pic>
        <p:nvPicPr>
          <p:cNvPr id="23" name="Image 4" descr="formula_imgs/e2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403044"/>
            <a:ext cx="2462022" cy="305657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321558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3321558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3431286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基盤隆起 FS</a:t>
            </a:r>
            <a:endParaRPr lang="en-US" sz="1050" dirty="0"/>
          </a:p>
        </p:txBody>
      </p:sp>
      <p:pic>
        <p:nvPicPr>
          <p:cNvPr id="27" name="Image 5" descr="formula_imgs/e2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4130" y="3230118"/>
            <a:ext cx="2216333" cy="65151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185916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6185916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6295644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隆起（Terzaghi）</a:t>
            </a:r>
            <a:endParaRPr lang="en-US" sz="1050" dirty="0"/>
          </a:p>
        </p:txBody>
      </p:sp>
      <p:pic>
        <p:nvPicPr>
          <p:cNvPr id="31" name="Image 6" descr="formula_imgs/e2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5644" y="3321278"/>
            <a:ext cx="2462022" cy="469189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9050274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9050274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9160002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承載力因數 Nc</a:t>
            </a:r>
            <a:endParaRPr lang="en-US" sz="1050" dirty="0"/>
          </a:p>
        </p:txBody>
      </p:sp>
      <p:pic>
        <p:nvPicPr>
          <p:cNvPr id="35" name="Image 7" descr="formula_imgs/e24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0002" y="3419419"/>
            <a:ext cx="2462022" cy="272908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457200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457200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566928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受壓水上舉 FS</a:t>
            </a:r>
            <a:endParaRPr lang="en-US" sz="1050" dirty="0"/>
          </a:p>
        </p:txBody>
      </p:sp>
      <p:pic>
        <p:nvPicPr>
          <p:cNvPr id="39" name="Image 8" descr="formula_imgs/e25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647" y="4521708"/>
            <a:ext cx="1940583" cy="651510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3321558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3321558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3431286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需要的降水頭</a:t>
            </a:r>
            <a:endParaRPr lang="en-US" sz="1050" dirty="0"/>
          </a:p>
        </p:txBody>
      </p:sp>
      <p:pic>
        <p:nvPicPr>
          <p:cNvPr id="43" name="Image 9" descr="formula_imgs/e26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31286" y="4695612"/>
            <a:ext cx="2462022" cy="303702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185916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6185916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6295644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含側面摩阻</a:t>
            </a:r>
            <a:endParaRPr lang="en-US" sz="1050" dirty="0"/>
          </a:p>
        </p:txBody>
      </p:sp>
      <p:pic>
        <p:nvPicPr>
          <p:cNvPr id="47" name="Image 10" descr="formula_imgs/e27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5644" y="4740181"/>
            <a:ext cx="2462022" cy="214563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9050274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9050274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9160002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臨界水力坡降</a:t>
            </a:r>
            <a:endParaRPr lang="en-US" sz="1050" dirty="0"/>
          </a:p>
        </p:txBody>
      </p:sp>
      <p:pic>
        <p:nvPicPr>
          <p:cNvPr id="51" name="Image 11" descr="formula_imgs/e28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60002" y="4638521"/>
            <a:ext cx="2462022" cy="417884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457200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3" name="Shape 39"/>
          <p:cNvSpPr/>
          <p:nvPr/>
        </p:nvSpPr>
        <p:spPr>
          <a:xfrm>
            <a:off x="457200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4" name="Text 40"/>
          <p:cNvSpPr/>
          <p:nvPr/>
        </p:nvSpPr>
        <p:spPr>
          <a:xfrm>
            <a:off x="566928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砂湧 FS</a:t>
            </a:r>
            <a:endParaRPr lang="en-US" sz="1050" dirty="0"/>
          </a:p>
        </p:txBody>
      </p:sp>
      <p:pic>
        <p:nvPicPr>
          <p:cNvPr id="55" name="Image 12" descr="formula_imgs/e29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6928" y="5900380"/>
            <a:ext cx="2462022" cy="477346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3321558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7" name="Shape 42"/>
          <p:cNvSpPr/>
          <p:nvPr/>
        </p:nvSpPr>
        <p:spPr>
          <a:xfrm>
            <a:off x="3321558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8" name="Text 43"/>
          <p:cNvSpPr/>
          <p:nvPr/>
        </p:nvSpPr>
        <p:spPr>
          <a:xfrm>
            <a:off x="3431286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Terzaghi 棱柱法</a:t>
            </a:r>
            <a:endParaRPr lang="en-US" sz="1050" dirty="0"/>
          </a:p>
        </p:txBody>
      </p:sp>
      <p:pic>
        <p:nvPicPr>
          <p:cNvPr id="59" name="Image 13" descr="formula_imgs/e30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31286" y="6011296"/>
            <a:ext cx="2462022" cy="255514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6185916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61" name="Shape 45"/>
          <p:cNvSpPr/>
          <p:nvPr/>
        </p:nvSpPr>
        <p:spPr>
          <a:xfrm>
            <a:off x="6185916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2" name="Text 46"/>
          <p:cNvSpPr/>
          <p:nvPr/>
        </p:nvSpPr>
        <p:spPr>
          <a:xfrm>
            <a:off x="6295644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Lane 潛變比</a:t>
            </a:r>
            <a:endParaRPr lang="en-US" sz="1050" dirty="0"/>
          </a:p>
        </p:txBody>
      </p:sp>
      <p:pic>
        <p:nvPicPr>
          <p:cNvPr id="63" name="Image 14" descr="formula_imgs/e31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95644" y="5894160"/>
            <a:ext cx="2462022" cy="489785"/>
          </a:xfrm>
          <a:prstGeom prst="rect">
            <a:avLst/>
          </a:prstGeom>
        </p:spPr>
      </p:pic>
      <p:sp>
        <p:nvSpPr>
          <p:cNvPr id="64" name="Shape 47"/>
          <p:cNvSpPr/>
          <p:nvPr/>
        </p:nvSpPr>
        <p:spPr>
          <a:xfrm>
            <a:off x="9050274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65" name="Shape 48"/>
          <p:cNvSpPr/>
          <p:nvPr/>
        </p:nvSpPr>
        <p:spPr>
          <a:xfrm>
            <a:off x="9050274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6" name="Text 49"/>
          <p:cNvSpPr/>
          <p:nvPr/>
        </p:nvSpPr>
        <p:spPr>
          <a:xfrm>
            <a:off x="9160002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插深與出口坡降</a:t>
            </a:r>
            <a:endParaRPr lang="en-US" sz="1050" dirty="0"/>
          </a:p>
        </p:txBody>
      </p:sp>
      <p:pic>
        <p:nvPicPr>
          <p:cNvPr id="67" name="Image 15" descr="formula_imgs/e32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60002" y="5994138"/>
            <a:ext cx="2462022" cy="28982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高頻陷阱六則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Peck 包絡線拿去算彎矩或貫入深度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它是實測支撐力的外包經驗線，只能算支撐軸力。且算出的每延米荷重務必再乘水平間距 s，否則單位錯、量級也錯。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隆起 FS 的 cu 拿錯土層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分子取「開挖面以下破壞面所在土層」的 cu；分母的 γH 才是開挖面以上的土重。拿上層 cu 代分子是最常見失分。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把 DL 直接當設計答案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懸臂式解出的臨界深度對應 FS = 1，必須再乘 1.2~1.3，或把 Kp 除以 FS 重算，才是可以交卷的設計貫入深度。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把 γw 乘上土壓力係數 K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水沒有剪力強度，K 恆為 1。土壓力用 γ′ 乘 K 畫一個三角形，水壓再全額畫一個三角形疊上去，兩者永遠分開。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受壓水上舉去畫流網、算 i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那是靜水壓平衡，與滲流無關。hw 從受壓砂層頂面量到測壓管水位；插深與加撐都無效，只有降水頭或留厚 t 有用。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Ns ≥ 4 還在加深鋼板樁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黏土淨抵抗 4cu − γH 已 ≤ 0，插深完全無效。此時應改以地盤改良提高 cu、分階開挖降低 H，或改變擋土工法。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開挖之穩定性分析｜重點回顧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479853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7985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先分敵人：結構問題用 ΣF = 0、ΣM = 0；地層問題用 FS = 抵抗 ÷ 驅動。兩條線互相獨立。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149194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34304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4304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149194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數橫桿決定結構解法：0 根懸臂（三次方程）、1 根自由端／固定端、多根 Peck 包絡線＋鉸接法。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012387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206240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012387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看土質決定抵抗形狀：砂土淨抵抗隨深度成長，黏土是常數 4cu − γH；Ns = γH/cu 是所有判斷的樞紐。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875581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06943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06943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4875581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地層四種破壞的「插深有效性」完全不同：砂湧有效、隆起幾乎無效、受壓水上舉完全無效。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5738774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" y="5932627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93262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5738774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對策題照成本排序：先降驅動（降水、卸載、分階），再升抵抗（加深、加撐、地改），最後補監測。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考前總複習</dc:creator>
  <cp:lastModifiedBy>考前總複習</cp:lastModifiedBy>
  <cp:revision>1</cp:revision>
  <dcterms:created xsi:type="dcterms:W3CDTF">2026-09-15T03:34:06Z</dcterms:created>
  <dcterms:modified xsi:type="dcterms:W3CDTF">2026-09-15T03:34:06Z</dcterms:modified>
</cp:coreProperties>
</file>