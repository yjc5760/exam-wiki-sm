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EB8C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SM-U1-3 土壤夯實與壓密 · 觀念專題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9202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萬用鑰匙：固體顆粒體積永遠不變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971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2C3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所有厚度與體積的變化，100% 來自孔隙的變化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4206240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2B3545"/>
          </a:solidFill>
          <a:ln w="25400">
            <a:solidFill>
              <a:srgbClr val="E27A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2062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27A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 </a:t>
            </a:r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γd ⇄ 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566160" y="4206240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2B3545"/>
          </a:solidFill>
          <a:ln w="25400">
            <a:solidFill>
              <a:srgbClr val="8FB0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66160" y="42062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B0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 </a:t>
            </a:r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 = wGs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00800" y="4206240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2B3545"/>
          </a:solidFill>
          <a:ln w="25400">
            <a:solidFill>
              <a:srgbClr val="7CC4B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42062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C4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 </a:t>
            </a:r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 ⇄ Δe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8C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示範數字全篇貫穿：案例 A 壓密黏土、案例 B 砂土、案例 C 夯實土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一把鑰匙，長出三個關係式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夯實與壓密共用同一套三相關係：先把土切成「固體 1 份 + 孔隙 e 份」</a:t>
            </a:r>
            <a:endParaRPr lang="en-US" sz="1600" dirty="0"/>
          </a:p>
        </p:txBody>
      </p:sp>
      <p:pic>
        <p:nvPicPr>
          <p:cNvPr id="5" name="Image 0" descr="figs/SM-key-fig-01-key-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25016"/>
            <a:ext cx="7589520" cy="47223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412480" y="1737360"/>
            <a:ext cx="3200400" cy="4297680"/>
          </a:xfrm>
          <a:prstGeom prst="roundRect">
            <a:avLst>
              <a:gd name="adj" fmla="val 3429"/>
            </a:avLst>
          </a:prstGeom>
          <a:solidFill>
            <a:srgbClr val="F5F7FA"/>
          </a:solidFill>
          <a:ln w="15875">
            <a:solidFill>
              <a:srgbClr val="E1E6E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41080" y="1965960"/>
            <a:ext cx="2788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本講義的讀法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先建立模型：Vs = 1 不變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再逐一推出 ①②③</a:t>
            </a:r>
            <a:endParaRPr lang="en-US" sz="19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6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最後用同一組示範數字對帳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三條式子都不必背，考場上 30 秒可以重推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為什麼可以假設 Vs 永遠不變？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物理直覺：加壓只會把顆粒擠得更緊，不會把顆粒壓小</a:t>
            </a:r>
            <a:endParaRPr lang="en-US" sz="1600" dirty="0"/>
          </a:p>
        </p:txBody>
      </p:sp>
      <p:pic>
        <p:nvPicPr>
          <p:cNvPr id="5" name="Image 0" descr="figs/SM-key-fig-03-partic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801368"/>
            <a:ext cx="7132320" cy="38039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384048" cy="384048"/>
          </a:xfrm>
          <a:prstGeom prst="ellipse">
            <a:avLst/>
          </a:prstGeom>
          <a:solidFill>
            <a:srgbClr val="1F2733"/>
          </a:solidFill>
          <a:ln w="12700">
            <a:solidFill>
              <a:srgbClr val="1F273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664208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顆粒幾乎不可壓縮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5B6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土粒礦物的勁度遠大於土骨架，一般應力範圍內體積變化可忽略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3154680"/>
            <a:ext cx="384048" cy="38404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3127248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水也視為不可壓縮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5B6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飽和黏土的體積減少 = 被排出的水量，這正是壓密要「等」的原因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548640" y="4617720"/>
            <a:ext cx="384048" cy="384048"/>
          </a:xfrm>
          <a:prstGeom prst="ellipse">
            <a:avLst/>
          </a:prstGeom>
          <a:solidFill>
            <a:srgbClr val="2E7D6F"/>
          </a:solidFill>
          <a:ln w="12700">
            <a:solidFill>
              <a:srgbClr val="2E7D6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4590288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所以變的只有孔隙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5B6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ΔV = ΔVv；把 Vs 定為 1，孔隙就直接等於 e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三相圖：把土切成「固體 1 份 + 孔隙 e 份」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所有定義都是比值，所以可以任選一個基準量 —— 選 Vs = 1 最省事</a:t>
            </a:r>
            <a:endParaRPr lang="en-US" sz="1600" dirty="0"/>
          </a:p>
        </p:txBody>
      </p:sp>
      <p:pic>
        <p:nvPicPr>
          <p:cNvPr id="5" name="Image 0" descr="figs/SM-key-fig-02-ph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757432"/>
            <a:ext cx="5943600" cy="434897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4937760" cy="822960"/>
          </a:xfrm>
          <a:prstGeom prst="roundRect">
            <a:avLst>
              <a:gd name="adj" fmla="val 13333"/>
            </a:avLst>
          </a:prstGeom>
          <a:solidFill>
            <a:srgbClr val="F5F7FA"/>
          </a:solidFill>
          <a:ln w="15875">
            <a:solidFill>
              <a:srgbClr val="E1E6E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6002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孔隙比　</a:t>
            </a:r>
            <a:pPr indent="0" marL="0">
              <a:buNone/>
            </a:pPr>
            <a:r>
              <a:rPr lang="en-US" sz="18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 = Vv / Vs = Vv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624328"/>
            <a:ext cx="49377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E1E6E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62432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含水量　</a:t>
            </a:r>
            <a:pPr indent="0" marL="0">
              <a:buNone/>
            </a:pPr>
            <a:r>
              <a:rPr lang="en-US" sz="18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 = Ww / Ws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3648456"/>
            <a:ext cx="4937760" cy="822960"/>
          </a:xfrm>
          <a:prstGeom prst="roundRect">
            <a:avLst>
              <a:gd name="adj" fmla="val 13333"/>
            </a:avLst>
          </a:prstGeom>
          <a:solidFill>
            <a:srgbClr val="F5F7FA"/>
          </a:solidFill>
          <a:ln w="15875">
            <a:solidFill>
              <a:srgbClr val="E1E6E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3648456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飽和度　</a:t>
            </a:r>
            <a:pPr indent="0" marL="0">
              <a:buNone/>
            </a:pPr>
            <a:r>
              <a:rPr lang="en-US" sz="18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 = Vw / Vv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4672584"/>
            <a:ext cx="49377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E1E6E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4672584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比重　</a:t>
            </a:r>
            <a:pPr indent="0" marL="0">
              <a:buNone/>
            </a:pPr>
            <a:r>
              <a:rPr lang="en-US" sz="18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Gs = γs / γw → Ws = Gsγw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8521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案例 C 的數字（右圖）會在 ZAVC 那一頁再出現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壓縮前後：模型裡 ΔH 就是 Δe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案例 A：正常壓密黏土 H0 = 4.00 m、e0 = 1.10，加壓後 e = 0.949</a:t>
            </a:r>
            <a:endParaRPr lang="en-US" sz="1600" dirty="0"/>
          </a:p>
        </p:txBody>
      </p:sp>
      <p:pic>
        <p:nvPicPr>
          <p:cNvPr id="5" name="Image 0" descr="figs/SM-key-fig-04-colum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7892"/>
            <a:ext cx="7680960" cy="465085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412480" y="1554480"/>
            <a:ext cx="3291840" cy="4480560"/>
          </a:xfrm>
          <a:prstGeom prst="roundRect">
            <a:avLst>
              <a:gd name="adj" fmla="val 3333"/>
            </a:avLst>
          </a:prstGeom>
          <a:solidFill>
            <a:srgbClr val="FFF4E5"/>
          </a:solidFill>
          <a:ln w="15875">
            <a:solidFill>
              <a:srgbClr val="F2C38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41080" y="1783080"/>
            <a:ext cx="2880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精確講法</a:t>
            </a:r>
            <a:endParaRPr lang="en-US" sz="19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「ΔH = Δe」只在模型裡成立：高度的單位是「份」。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現場換算要乘同一個比例：</a:t>
            </a:r>
            <a:endParaRPr lang="en-US" sz="19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H0 / (1 + e0) = 4.00 / 2.10 = 1.905 m/份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 = 0.1505 × 1.905 = 0.287 m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推導：體積應變的分母為何是 1 + e0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應變 = 變化量 ÷ 原始量；原始量只有一個，就是受壓前的體積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84048" cy="384048"/>
          </a:xfrm>
          <a:prstGeom prst="ellipse">
            <a:avLst/>
          </a:prstGeom>
          <a:solidFill>
            <a:srgbClr val="1F2733"/>
          </a:solidFill>
          <a:ln w="12700">
            <a:solidFill>
              <a:srgbClr val="1F27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66420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原始體積與體積變化</a:t>
            </a:r>
            <a:endParaRPr lang="en-US" sz="1900" dirty="0"/>
          </a:p>
        </p:txBody>
      </p:sp>
      <p:pic>
        <p:nvPicPr>
          <p:cNvPr id="8" name="Image 0" descr="eq/v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240280"/>
            <a:ext cx="3665281" cy="24341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3063240"/>
            <a:ext cx="384048" cy="384048"/>
          </a:xfrm>
          <a:prstGeom prst="ellipse">
            <a:avLst/>
          </a:prstGeom>
          <a:solidFill>
            <a:srgbClr val="2E7D6F"/>
          </a:solidFill>
          <a:ln w="12700">
            <a:solidFill>
              <a:srgbClr val="2E7D6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30815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應變定義（側向束制：體積應變 = 垂直應變）</a:t>
            </a:r>
            <a:endParaRPr lang="en-US" sz="1900" dirty="0"/>
          </a:p>
        </p:txBody>
      </p:sp>
      <p:pic>
        <p:nvPicPr>
          <p:cNvPr id="12" name="Image 1" descr="eq/ep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749040"/>
            <a:ext cx="3332805" cy="69951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863840" y="4389120"/>
            <a:ext cx="3749040" cy="1737360"/>
          </a:xfrm>
          <a:prstGeom prst="roundRect">
            <a:avLst>
              <a:gd name="adj" fmla="val 6316"/>
            </a:avLst>
          </a:prstGeom>
          <a:solidFill>
            <a:srgbClr val="EAF3F1"/>
          </a:solidFill>
          <a:ln w="15875">
            <a:solidFill>
              <a:srgbClr val="2E7D6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092440" y="457200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2E7D6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案例 A 代入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εv = 0.1505 / 2.10 = 7.17%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ΔH = 7.17% × 4.00 m = 0.287 m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1097280" y="548640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分母永遠是「初始狀態」的 1 + e0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關係式 ①　孔隙比 ⇄ 乾單位重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Ws 永遠是 Gsγw（1 份固體），總體積 1 + e，一除就出來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84048" cy="38404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pic>
        <p:nvPicPr>
          <p:cNvPr id="7" name="Image 0" descr="eq/g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554480"/>
            <a:ext cx="2201875" cy="59399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97280" y="2606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反過來求 e（題目給 γd 時）</a:t>
            </a:r>
            <a:endParaRPr lang="en-US" sz="1700" dirty="0"/>
          </a:p>
        </p:txBody>
      </p:sp>
      <p:pic>
        <p:nvPicPr>
          <p:cNvPr id="9" name="Image 1" descr="eq/e_from_g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017520"/>
            <a:ext cx="1310152" cy="48499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4160520"/>
            <a:ext cx="5120640" cy="2011680"/>
          </a:xfrm>
          <a:prstGeom prst="roundRect">
            <a:avLst>
              <a:gd name="adj" fmla="val 5455"/>
            </a:avLst>
          </a:prstGeom>
          <a:solidFill>
            <a:srgbClr val="F5F7FA"/>
          </a:solidFill>
          <a:ln w="15875">
            <a:solidFill>
              <a:srgbClr val="E1E6E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77240" y="434340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案例 A（Gs = 2.70）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受壓前 e = 1.100 → γd = 12.61 kN/m³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受壓後 e = 0.949 → γd = 13.59 kN/m³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 變小，γd 變大：同一件事的兩種講法</a:t>
            </a:r>
            <a:endParaRPr lang="en-US" sz="1700" dirty="0"/>
          </a:p>
        </p:txBody>
      </p:sp>
      <p:pic>
        <p:nvPicPr>
          <p:cNvPr id="12" name="Image 2" descr="figs/SM-key-fig-05-gd-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718109"/>
            <a:ext cx="5760720" cy="42447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應用：RC 與 Dr 不能直接對接，只能經由 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案例 B：砂土 Gs = 2.65、emax = 0.90、emin = 0.45，要求 Dr = 70%</a:t>
            </a:r>
            <a:endParaRPr lang="en-US" sz="1600" dirty="0"/>
          </a:p>
        </p:txBody>
      </p:sp>
      <p:pic>
        <p:nvPicPr>
          <p:cNvPr id="5" name="Image 0" descr="figs/SM-key-fig-06-rc-d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2583"/>
            <a:ext cx="7589520" cy="356707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21040" y="146304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5F7FA"/>
          </a:solidFill>
          <a:ln w="15875">
            <a:solidFill>
              <a:srgbClr val="E1E6ED"/>
            </a:solidFill>
            <a:prstDash val="solid"/>
          </a:ln>
        </p:spPr>
      </p:sp>
      <p:pic>
        <p:nvPicPr>
          <p:cNvPr id="7" name="Image 1" descr="eq/d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645920"/>
            <a:ext cx="1406347" cy="338328"/>
          </a:xfrm>
          <a:prstGeom prst="rect">
            <a:avLst/>
          </a:prstGeom>
        </p:spPr>
      </p:pic>
      <p:pic>
        <p:nvPicPr>
          <p:cNvPr id="8" name="Image 2" descr="eq/r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468880"/>
            <a:ext cx="1038758" cy="36941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503920" y="33832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兩者的「0%」不在同一個位置</a:t>
            </a: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731520" y="5440680"/>
            <a:ext cx="2240280" cy="685800"/>
          </a:xfrm>
          <a:prstGeom prst="roundRect">
            <a:avLst>
              <a:gd name="adj" fmla="val 13333"/>
            </a:avLst>
          </a:prstGeom>
          <a:solidFill>
            <a:srgbClr val="F5F7FA"/>
          </a:solidFill>
          <a:ln w="15875">
            <a:solidFill>
              <a:srgbClr val="E1E6ED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731520" y="54406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Dr = 70%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3044952" y="5641848"/>
            <a:ext cx="384048" cy="292608"/>
          </a:xfrm>
          <a:prstGeom prst="rightArrow">
            <a:avLst/>
          </a:prstGeom>
          <a:solidFill>
            <a:srgbClr val="5B6573"/>
          </a:solidFill>
          <a:ln w="12700">
            <a:solidFill>
              <a:srgbClr val="5B6573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3520440" y="5440680"/>
            <a:ext cx="2240280" cy="685800"/>
          </a:xfrm>
          <a:prstGeom prst="roundRect">
            <a:avLst>
              <a:gd name="adj" fmla="val 13333"/>
            </a:avLst>
          </a:prstGeom>
          <a:solidFill>
            <a:srgbClr val="F5F7FA"/>
          </a:solidFill>
          <a:ln w="15875">
            <a:solidFill>
              <a:srgbClr val="E1E6ED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3520440" y="54406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 = 0.585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5833872" y="5641848"/>
            <a:ext cx="384048" cy="292608"/>
          </a:xfrm>
          <a:prstGeom prst="rightArrow">
            <a:avLst/>
          </a:prstGeom>
          <a:solidFill>
            <a:srgbClr val="5B6573"/>
          </a:solidFill>
          <a:ln w="12700">
            <a:solidFill>
              <a:srgbClr val="5B6573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309360" y="5440680"/>
            <a:ext cx="2240280" cy="685800"/>
          </a:xfrm>
          <a:prstGeom prst="roundRect">
            <a:avLst>
              <a:gd name="adj" fmla="val 13333"/>
            </a:avLst>
          </a:prstGeom>
          <a:solidFill>
            <a:srgbClr val="F5F7FA"/>
          </a:solidFill>
          <a:ln w="15875">
            <a:solidFill>
              <a:srgbClr val="E1E6ED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309360" y="54406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γd = 16.40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8622792" y="5641848"/>
            <a:ext cx="384048" cy="292608"/>
          </a:xfrm>
          <a:prstGeom prst="rightArrow">
            <a:avLst/>
          </a:prstGeom>
          <a:solidFill>
            <a:srgbClr val="5B6573"/>
          </a:solidFill>
          <a:ln w="12700">
            <a:solidFill>
              <a:srgbClr val="5B657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098280" y="5440680"/>
            <a:ext cx="2240280" cy="685800"/>
          </a:xfrm>
          <a:prstGeom prst="roundRect">
            <a:avLst>
              <a:gd name="adj" fmla="val 13333"/>
            </a:avLst>
          </a:prstGeom>
          <a:solidFill>
            <a:srgbClr val="FBE3E0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9098280" y="54406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RC = 91.5%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關係式 ②　含水量 ⇄ 飽和度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水的體積 Vw = S·e，水的重量 ÷ 固體重量 = 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384048" cy="38404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pic>
        <p:nvPicPr>
          <p:cNvPr id="7" name="Image 0" descr="eq/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463040"/>
            <a:ext cx="3260933" cy="494873"/>
          </a:xfrm>
          <a:prstGeom prst="rect">
            <a:avLst/>
          </a:prstGeom>
        </p:spPr>
      </p:pic>
      <p:pic>
        <p:nvPicPr>
          <p:cNvPr id="8" name="Image 1" descr="figs/SM-key-fig-07-satur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00656"/>
            <a:ext cx="6766560" cy="428548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680960" y="2377440"/>
            <a:ext cx="3931920" cy="3566160"/>
          </a:xfrm>
          <a:prstGeom prst="roundRect">
            <a:avLst>
              <a:gd name="adj" fmla="val 3077"/>
            </a:avLst>
          </a:prstGeom>
          <a:solidFill>
            <a:srgbClr val="F5F7FA"/>
          </a:solidFill>
          <a:ln w="15875">
            <a:solidFill>
              <a:srgbClr val="E1E6ED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909560" y="2606040"/>
            <a:ext cx="3520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1D4E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考場用法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飽和土（S = 1）：e = wGs，知道 w 就知道 e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案例 A 受壓前 w = 1.10 / 2.70 = 40.7%，受壓後 35.2%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飽和黏土壓密 = 排水，w 下降量正對應 Δe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 ② 代入 ①：零空氣孔隙線 ZAVC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e = wGs / S 代入 γd = Gsγw / (1 + e)，令 S = 1 即為上限</a:t>
            </a:r>
            <a:endParaRPr lang="en-US" sz="1600" dirty="0"/>
          </a:p>
        </p:txBody>
      </p:sp>
      <p:pic>
        <p:nvPicPr>
          <p:cNvPr id="5" name="Image 0" descr="eq/za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00200"/>
            <a:ext cx="1687178" cy="55785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2743200"/>
            <a:ext cx="4754880" cy="3383280"/>
          </a:xfrm>
          <a:prstGeom prst="roundRect">
            <a:avLst>
              <a:gd name="adj" fmla="val 3243"/>
            </a:avLst>
          </a:prstGeom>
          <a:solidFill>
            <a:srgbClr val="F5F7FA"/>
          </a:solidFill>
          <a:ln w="15875">
            <a:solidFill>
              <a:srgbClr val="E1E6E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2926080"/>
            <a:ext cx="4343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讀圖要點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ZAVC 是物理上限：夯實曲線不可能穿過它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 越低，曲線越往左下移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案例 C：w = 15%、e = 0.60 → γd = 16.55，S = 67.5%，落在 S = 80% 線下方</a:t>
            </a:r>
            <a:endParaRPr lang="en-US" sz="1900" dirty="0"/>
          </a:p>
        </p:txBody>
      </p:sp>
      <p:pic>
        <p:nvPicPr>
          <p:cNvPr id="8" name="Image 1" descr="figs/SM-key-fig-08-zav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619631"/>
            <a:ext cx="6126480" cy="44416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關係式 ③　孔隙比 ⇄ 沉陷量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e-log p' 曲線給的是 Δe（份），乘上 H0 / (1 + e0) 才是公尺</a:t>
            </a:r>
            <a:endParaRPr lang="en-US" sz="1600" dirty="0"/>
          </a:p>
        </p:txBody>
      </p:sp>
      <p:pic>
        <p:nvPicPr>
          <p:cNvPr id="5" name="Image 0" descr="figs/SM-key-fig-09-elog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466" y="1371600"/>
            <a:ext cx="7674429" cy="4297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412480" y="1463040"/>
            <a:ext cx="3291840" cy="4297680"/>
          </a:xfrm>
          <a:prstGeom prst="roundRect">
            <a:avLst>
              <a:gd name="adj" fmla="val 3333"/>
            </a:avLst>
          </a:prstGeom>
          <a:solidFill>
            <a:srgbClr val="F5F7FA"/>
          </a:solidFill>
          <a:ln w="15875">
            <a:solidFill>
              <a:srgbClr val="E1E6E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595360" y="1645920"/>
            <a:ext cx="384048" cy="384048"/>
          </a:xfrm>
          <a:prstGeom prst="ellipse">
            <a:avLst/>
          </a:prstGeom>
          <a:solidFill>
            <a:srgbClr val="2E7D6F"/>
          </a:solidFill>
          <a:ln w="12700">
            <a:solidFill>
              <a:srgbClr val="2E7D6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59536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pic>
        <p:nvPicPr>
          <p:cNvPr id="9" name="Image 1" descr="eq/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2194560"/>
            <a:ext cx="1454810" cy="404201"/>
          </a:xfrm>
          <a:prstGeom prst="rect">
            <a:avLst/>
          </a:prstGeom>
        </p:spPr>
      </p:pic>
      <p:pic>
        <p:nvPicPr>
          <p:cNvPr id="10" name="Image 2" descr="eq/s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3063240"/>
            <a:ext cx="1301557" cy="446593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595360" y="406908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E7D6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案例 A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Cc = 0.50，p' 由 100 → 200 kPa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Δe = 0.50 × log 2 = 0.1505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 = 4.00 × 0.1505 / 2.10 = 0.287 m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58521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 用的是 H0（初始層厚）；e 用的是 e0（初始孔隙比）—— 兩個「初始」要成對出現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示範案例對帳：γd·H 前後守恆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每平方公尺土柱裡的固體重量不會變 —— 這就是 Vs 不變的驗證方式</a:t>
            </a:r>
            <a:endParaRPr lang="en-US" sz="1600" dirty="0"/>
          </a:p>
        </p:txBody>
      </p:sp>
      <p:pic>
        <p:nvPicPr>
          <p:cNvPr id="5" name="Image 0" descr="figs/SM-key-fig-11-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07160"/>
            <a:ext cx="6949440" cy="3860800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554480"/>
          <a:ext cx="40233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051560"/>
                <a:gridCol w="105156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受壓前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受壓後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1.100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0.949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H（m）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4.000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3.713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γd（kN/m³）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12.61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13.59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w（飽和）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40.7%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35.2%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E7D6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γd·H（kN/m²）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7D6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50.45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7D6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50.45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66928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自我檢查：算完 Sc 後，若 γd0·H0 ≠ γd·H，代表 e 或 H 有一個算錯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考場最常見的自殺式錯誤：分母寫成 1 + 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錯誤的分母會讓沉陷量系統性高估，壓縮越大錯越多</a:t>
            </a:r>
            <a:endParaRPr lang="en-US" sz="1600" dirty="0"/>
          </a:p>
        </p:txBody>
      </p:sp>
      <p:pic>
        <p:nvPicPr>
          <p:cNvPr id="5" name="Image 0" descr="eq/s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1419880" cy="487192"/>
          </a:xfrm>
          <a:prstGeom prst="rect">
            <a:avLst/>
          </a:prstGeom>
        </p:spPr>
      </p:pic>
      <p:pic>
        <p:nvPicPr>
          <p:cNvPr id="6" name="Image 1" descr="eq/sc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572768"/>
            <a:ext cx="1303569" cy="46305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31520" y="2423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6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正確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3657600" y="2423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錯誤</a:t>
            </a:r>
            <a:endParaRPr lang="en-US" sz="1600" dirty="0"/>
          </a:p>
        </p:txBody>
      </p:sp>
      <p:pic>
        <p:nvPicPr>
          <p:cNvPr id="9" name="Image 2" descr="figs/SM-key-fig-10-err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834640"/>
            <a:ext cx="6858000" cy="356616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7772400" y="1554480"/>
            <a:ext cx="3931920" cy="4572000"/>
          </a:xfrm>
          <a:prstGeom prst="roundRect">
            <a:avLst>
              <a:gd name="adj" fmla="val 2791"/>
            </a:avLst>
          </a:prstGeom>
          <a:solidFill>
            <a:srgbClr val="FBE3E0"/>
          </a:solidFill>
          <a:ln w="15875">
            <a:solidFill>
              <a:srgbClr val="E7A79E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8001000" y="1783080"/>
            <a:ext cx="35204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為什麼錯</a:t>
            </a:r>
            <a:endParaRPr lang="en-US" sz="19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+ e 是受壓後的體積；應變定義是相對於「原始」體積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錯多少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高估比例 = εv / (1 − εv)</a:t>
            </a:r>
            <a:endParaRPr lang="en-US" sz="19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案例 A：30.9 cm vs 28.7 cm，+7.7%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防呆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寫分母時唸出「初始」兩個字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三式互推：題目給哪個，就從哪個切入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所有路線都經過 e —— 先換成孔隙比，再走到題目要的量</a:t>
            </a:r>
            <a:endParaRPr lang="en-US" sz="1600" dirty="0"/>
          </a:p>
        </p:txBody>
      </p:sp>
      <p:pic>
        <p:nvPicPr>
          <p:cNvPr id="5" name="Image 0" descr="figs/SM-key-fig-12-h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4991" y="1371600"/>
            <a:ext cx="9671538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帶走三件事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10698480" cy="1188720"/>
          </a:xfrm>
          <a:prstGeom prst="roundRect">
            <a:avLst>
              <a:gd name="adj" fmla="val 9231"/>
            </a:avLst>
          </a:prstGeom>
          <a:solidFill>
            <a:srgbClr val="2B3545"/>
          </a:solidFill>
          <a:ln w="25400">
            <a:solidFill>
              <a:srgbClr val="8FB0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1965960"/>
            <a:ext cx="548640" cy="548640"/>
          </a:xfrm>
          <a:prstGeom prst="ellipse">
            <a:avLst/>
          </a:prstGeom>
          <a:solidFill>
            <a:srgbClr val="8FB0F2"/>
          </a:solidFill>
          <a:ln w="12700">
            <a:solidFill>
              <a:srgbClr val="8FB0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1645920"/>
            <a:ext cx="9418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B0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　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Vs = 1 不變；孔隙 = e；總體積 = 1 + 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3108960"/>
            <a:ext cx="10698480" cy="1188720"/>
          </a:xfrm>
          <a:prstGeom prst="roundRect">
            <a:avLst>
              <a:gd name="adj" fmla="val 9231"/>
            </a:avLst>
          </a:prstGeom>
          <a:solidFill>
            <a:srgbClr val="2B3545"/>
          </a:solidFill>
          <a:ln w="25400">
            <a:solidFill>
              <a:srgbClr val="7CC4B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3429000"/>
            <a:ext cx="548640" cy="548640"/>
          </a:xfrm>
          <a:prstGeom prst="ellipse">
            <a:avLst/>
          </a:prstGeom>
          <a:solidFill>
            <a:srgbClr val="7CC4B4"/>
          </a:solidFill>
          <a:ln w="12700">
            <a:solidFill>
              <a:srgbClr val="7CC4B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3108960"/>
            <a:ext cx="9418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C4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三式　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γd = Gsγw/(1+e)　② Se = wGs　③ Sc = H0·Δe/(1+e0)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31520" y="4572000"/>
            <a:ext cx="10698480" cy="1188720"/>
          </a:xfrm>
          <a:prstGeom prst="roundRect">
            <a:avLst>
              <a:gd name="adj" fmla="val 9231"/>
            </a:avLst>
          </a:prstGeom>
          <a:solidFill>
            <a:srgbClr val="2B3545"/>
          </a:solidFill>
          <a:ln w="25400">
            <a:solidFill>
              <a:srgbClr val="F2A09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" y="4892040"/>
            <a:ext cx="548640" cy="548640"/>
          </a:xfrm>
          <a:prstGeom prst="ellipse">
            <a:avLst/>
          </a:prstGeom>
          <a:solidFill>
            <a:srgbClr val="F2A097"/>
          </a:solidFill>
          <a:ln w="12700">
            <a:solidFill>
              <a:srgbClr val="F2A09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4892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828800" y="4572000"/>
            <a:ext cx="9418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0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陷阱　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分母只能用初始的 1 + e0；RC 與 Dr 必須經 e 換算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608076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C3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忘了公式時：畫一個 1 份固體 + e 份孔隙的方塊，30 秒重推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萬用鑰匙：固體顆粒體積永遠不變</dc:title>
  <dc:subject>PptxGenJS Presentation</dc:subject>
  <dc:creator>PptxGenJS</dc:creator>
  <cp:lastModifiedBy>PptxGenJS</cp:lastModifiedBy>
  <cp:revision>1</cp:revision>
  <dcterms:created xsi:type="dcterms:W3CDTF">2026-09-19T14:49:39Z</dcterms:created>
  <dcterms:modified xsi:type="dcterms:W3CDTF">2026-09-19T14:49:39Z</dcterms:modified>
</cp:coreProperties>
</file>